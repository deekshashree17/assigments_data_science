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6" r:id="rId21"/>
    <p:sldId id="277" r:id="rId22"/>
    <p:sldId id="278" r:id="rId23"/>
    <p:sldId id="279" r:id="rId24"/>
    <p:sldId id="282" r:id="rId25"/>
    <p:sldId id="283" r:id="rId26"/>
    <p:sldId id="280" r:id="rId27"/>
    <p:sldId id="270"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300" r:id="rId42"/>
    <p:sldId id="298" r:id="rId43"/>
    <p:sldId id="299" r:id="rId44"/>
    <p:sldId id="301"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B5767B-F191-4B9A-A042-7FA72B04DA99}" v="7" dt="2024-07-28T17:02:28.1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a shree" userId="c6645d015b5e2fc4" providerId="LiveId" clId="{CDB5767B-F191-4B9A-A042-7FA72B04DA99}"/>
    <pc:docChg chg="undo custSel addSld delSld modSld">
      <pc:chgData name="Deeksha shree" userId="c6645d015b5e2fc4" providerId="LiveId" clId="{CDB5767B-F191-4B9A-A042-7FA72B04DA99}" dt="2024-07-28T17:04:47.302" v="208" actId="2696"/>
      <pc:docMkLst>
        <pc:docMk/>
      </pc:docMkLst>
      <pc:sldChg chg="del">
        <pc:chgData name="Deeksha shree" userId="c6645d015b5e2fc4" providerId="LiveId" clId="{CDB5767B-F191-4B9A-A042-7FA72B04DA99}" dt="2024-07-28T17:04:47.302" v="208" actId="2696"/>
        <pc:sldMkLst>
          <pc:docMk/>
          <pc:sldMk cId="1606893268" sldId="281"/>
        </pc:sldMkLst>
      </pc:sldChg>
      <pc:sldChg chg="del">
        <pc:chgData name="Deeksha shree" userId="c6645d015b5e2fc4" providerId="LiveId" clId="{CDB5767B-F191-4B9A-A042-7FA72B04DA99}" dt="2024-07-28T17:04:44.342" v="207" actId="2696"/>
        <pc:sldMkLst>
          <pc:docMk/>
          <pc:sldMk cId="3796377696" sldId="284"/>
        </pc:sldMkLst>
      </pc:sldChg>
      <pc:sldChg chg="addSp delSp add del mod">
        <pc:chgData name="Deeksha shree" userId="c6645d015b5e2fc4" providerId="LiveId" clId="{CDB5767B-F191-4B9A-A042-7FA72B04DA99}" dt="2024-07-28T16:51:31.088" v="3"/>
        <pc:sldMkLst>
          <pc:docMk/>
          <pc:sldMk cId="2921525840" sldId="301"/>
        </pc:sldMkLst>
        <pc:picChg chg="add del">
          <ac:chgData name="Deeksha shree" userId="c6645d015b5e2fc4" providerId="LiveId" clId="{CDB5767B-F191-4B9A-A042-7FA72B04DA99}" dt="2024-07-28T16:50:58.091" v="1" actId="478"/>
          <ac:picMkLst>
            <pc:docMk/>
            <pc:sldMk cId="2921525840" sldId="301"/>
            <ac:picMk id="3" creationId="{020B1E55-E627-89FB-904A-4CB875BEB7E4}"/>
          </ac:picMkLst>
        </pc:picChg>
      </pc:sldChg>
      <pc:sldChg chg="modSp add del mod">
        <pc:chgData name="Deeksha shree" userId="c6645d015b5e2fc4" providerId="LiveId" clId="{CDB5767B-F191-4B9A-A042-7FA72B04DA99}" dt="2024-07-28T16:53:41.181" v="84" actId="2696"/>
        <pc:sldMkLst>
          <pc:docMk/>
          <pc:sldMk cId="3586751431" sldId="302"/>
        </pc:sldMkLst>
        <pc:spChg chg="mod">
          <ac:chgData name="Deeksha shree" userId="c6645d015b5e2fc4" providerId="LiveId" clId="{CDB5767B-F191-4B9A-A042-7FA72B04DA99}" dt="2024-07-28T16:53:01.778" v="7" actId="21"/>
          <ac:spMkLst>
            <pc:docMk/>
            <pc:sldMk cId="3586751431" sldId="302"/>
            <ac:spMk id="4" creationId="{2613958B-BE7E-4E08-9511-AD53E0CCFA3E}"/>
          </ac:spMkLst>
        </pc:spChg>
      </pc:sldChg>
      <pc:sldChg chg="addSp modSp add mod">
        <pc:chgData name="Deeksha shree" userId="c6645d015b5e2fc4" providerId="LiveId" clId="{CDB5767B-F191-4B9A-A042-7FA72B04DA99}" dt="2024-07-28T16:54:45.780" v="93" actId="14100"/>
        <pc:sldMkLst>
          <pc:docMk/>
          <pc:sldMk cId="106213693" sldId="308"/>
        </pc:sldMkLst>
        <pc:spChg chg="add mod">
          <ac:chgData name="Deeksha shree" userId="c6645d015b5e2fc4" providerId="LiveId" clId="{CDB5767B-F191-4B9A-A042-7FA72B04DA99}" dt="2024-07-28T16:54:04.282" v="92" actId="403"/>
          <ac:spMkLst>
            <pc:docMk/>
            <pc:sldMk cId="106213693" sldId="308"/>
            <ac:spMk id="2" creationId="{120150BD-ECB3-BF5D-8DDA-7133D19C6960}"/>
          </ac:spMkLst>
        </pc:spChg>
        <pc:grpChg chg="mod">
          <ac:chgData name="Deeksha shree" userId="c6645d015b5e2fc4" providerId="LiveId" clId="{CDB5767B-F191-4B9A-A042-7FA72B04DA99}" dt="2024-07-28T16:53:17.842" v="81" actId="1037"/>
          <ac:grpSpMkLst>
            <pc:docMk/>
            <pc:sldMk cId="106213693" sldId="308"/>
            <ac:grpSpMk id="13" creationId="{CEC88385-11C0-4F95-BE7D-D7CB030DE6A0}"/>
          </ac:grpSpMkLst>
        </pc:grpChg>
        <pc:grpChg chg="mod">
          <ac:chgData name="Deeksha shree" userId="c6645d015b5e2fc4" providerId="LiveId" clId="{CDB5767B-F191-4B9A-A042-7FA72B04DA99}" dt="2024-07-28T16:54:45.780" v="93" actId="14100"/>
          <ac:grpSpMkLst>
            <pc:docMk/>
            <pc:sldMk cId="106213693" sldId="308"/>
            <ac:grpSpMk id="15" creationId="{7D9D139F-09D7-4B88-AD23-A537C4783D13}"/>
          </ac:grpSpMkLst>
        </pc:grpChg>
      </pc:sldChg>
      <pc:sldChg chg="add">
        <pc:chgData name="Deeksha shree" userId="c6645d015b5e2fc4" providerId="LiveId" clId="{CDB5767B-F191-4B9A-A042-7FA72B04DA99}" dt="2024-07-28T16:52:42.448" v="6"/>
        <pc:sldMkLst>
          <pc:docMk/>
          <pc:sldMk cId="3835233521" sldId="309"/>
        </pc:sldMkLst>
      </pc:sldChg>
      <pc:sldChg chg="addSp delSp modSp add mod">
        <pc:chgData name="Deeksha shree" userId="c6645d015b5e2fc4" providerId="LiveId" clId="{CDB5767B-F191-4B9A-A042-7FA72B04DA99}" dt="2024-07-28T17:03:51.653" v="206" actId="207"/>
        <pc:sldMkLst>
          <pc:docMk/>
          <pc:sldMk cId="837149811" sldId="310"/>
        </pc:sldMkLst>
        <pc:spChg chg="del mod ord topLvl">
          <ac:chgData name="Deeksha shree" userId="c6645d015b5e2fc4" providerId="LiveId" clId="{CDB5767B-F191-4B9A-A042-7FA72B04DA99}" dt="2024-07-28T17:02:26.418" v="195" actId="21"/>
          <ac:spMkLst>
            <pc:docMk/>
            <pc:sldMk cId="837149811" sldId="310"/>
            <ac:spMk id="3" creationId="{DB2FEE1E-0BC1-434C-A86B-49ACFB2CA199}"/>
          </ac:spMkLst>
        </pc:spChg>
        <pc:spChg chg="mod">
          <ac:chgData name="Deeksha shree" userId="c6645d015b5e2fc4" providerId="LiveId" clId="{CDB5767B-F191-4B9A-A042-7FA72B04DA99}" dt="2024-07-28T17:03:51.653" v="206" actId="207"/>
          <ac:spMkLst>
            <pc:docMk/>
            <pc:sldMk cId="837149811" sldId="310"/>
            <ac:spMk id="6" creationId="{0AE6171A-1395-4834-8601-9CE004912954}"/>
          </ac:spMkLst>
        </pc:spChg>
        <pc:spChg chg="topLvl">
          <ac:chgData name="Deeksha shree" userId="c6645d015b5e2fc4" providerId="LiveId" clId="{CDB5767B-F191-4B9A-A042-7FA72B04DA99}" dt="2024-07-28T17:02:26.418" v="195" actId="21"/>
          <ac:spMkLst>
            <pc:docMk/>
            <pc:sldMk cId="837149811" sldId="310"/>
            <ac:spMk id="9" creationId="{3E8E53FD-6466-417D-972D-6194B3745A30}"/>
          </ac:spMkLst>
        </pc:spChg>
        <pc:spChg chg="mod">
          <ac:chgData name="Deeksha shree" userId="c6645d015b5e2fc4" providerId="LiveId" clId="{CDB5767B-F191-4B9A-A042-7FA72B04DA99}" dt="2024-07-28T17:03:42.178" v="204" actId="207"/>
          <ac:spMkLst>
            <pc:docMk/>
            <pc:sldMk cId="837149811" sldId="310"/>
            <ac:spMk id="11" creationId="{D64F4A69-70A5-4A01-AB28-C2100502A409}"/>
          </ac:spMkLst>
        </pc:spChg>
        <pc:spChg chg="add mod">
          <ac:chgData name="Deeksha shree" userId="c6645d015b5e2fc4" providerId="LiveId" clId="{CDB5767B-F191-4B9A-A042-7FA72B04DA99}" dt="2024-07-28T17:02:34.525" v="197" actId="1076"/>
          <ac:spMkLst>
            <pc:docMk/>
            <pc:sldMk cId="837149811" sldId="310"/>
            <ac:spMk id="13" creationId="{DB2FEE1E-0BC1-434C-A86B-49ACFB2CA199}"/>
          </ac:spMkLst>
        </pc:spChg>
        <pc:grpChg chg="del mod ord">
          <ac:chgData name="Deeksha shree" userId="c6645d015b5e2fc4" providerId="LiveId" clId="{CDB5767B-F191-4B9A-A042-7FA72B04DA99}" dt="2024-07-28T17:02:26.418" v="195" actId="21"/>
          <ac:grpSpMkLst>
            <pc:docMk/>
            <pc:sldMk cId="837149811" sldId="310"/>
            <ac:grpSpMk id="10" creationId="{26E36FDB-45F4-4468-993C-C445F91E8CB4}"/>
          </ac:grpSpMkLst>
        </pc:grpChg>
        <pc:grpChg chg="mod">
          <ac:chgData name="Deeksha shree" userId="c6645d015b5e2fc4" providerId="LiveId" clId="{CDB5767B-F191-4B9A-A042-7FA72B04DA99}" dt="2024-07-28T17:00:49.992" v="104" actId="1076"/>
          <ac:grpSpMkLst>
            <pc:docMk/>
            <pc:sldMk cId="837149811" sldId="310"/>
            <ac:grpSpMk id="15" creationId="{D79EB55C-4340-4273-B77A-22237A7AE665}"/>
          </ac:grpSpMkLst>
        </pc:grpChg>
        <pc:picChg chg="del">
          <ac:chgData name="Deeksha shree" userId="c6645d015b5e2fc4" providerId="LiveId" clId="{CDB5767B-F191-4B9A-A042-7FA72B04DA99}" dt="2024-07-28T16:59:38.830" v="94" actId="478"/>
          <ac:picMkLst>
            <pc:docMk/>
            <pc:sldMk cId="837149811" sldId="310"/>
            <ac:picMk id="4" creationId="{8CA8C847-BFE7-4E94-9E39-A720739259F0}"/>
          </ac:picMkLst>
        </pc:picChg>
        <pc:picChg chg="mod">
          <ac:chgData name="Deeksha shree" userId="c6645d015b5e2fc4" providerId="LiveId" clId="{CDB5767B-F191-4B9A-A042-7FA72B04DA99}" dt="2024-07-28T17:00:49.992" v="104" actId="1076"/>
          <ac:picMkLst>
            <pc:docMk/>
            <pc:sldMk cId="837149811" sldId="310"/>
            <ac:picMk id="5" creationId="{DB4CBA7A-C53D-4494-B0D0-DD1FA85895CA}"/>
          </ac:picMkLst>
        </pc:picChg>
        <pc:picChg chg="add del mod">
          <ac:chgData name="Deeksha shree" userId="c6645d015b5e2fc4" providerId="LiveId" clId="{CDB5767B-F191-4B9A-A042-7FA72B04DA99}" dt="2024-07-28T16:59:48.190" v="98" actId="478"/>
          <ac:picMkLst>
            <pc:docMk/>
            <pc:sldMk cId="837149811" sldId="310"/>
            <ac:picMk id="7" creationId="{6FC3E500-30DE-4E0D-2AA4-878DF12F910E}"/>
          </ac:picMkLst>
        </pc:picChg>
        <pc:picChg chg="add mod">
          <ac:chgData name="Deeksha shree" userId="c6645d015b5e2fc4" providerId="LiveId" clId="{CDB5767B-F191-4B9A-A042-7FA72B04DA99}" dt="2024-07-28T17:01:18.951" v="186" actId="29295"/>
          <ac:picMkLst>
            <pc:docMk/>
            <pc:sldMk cId="837149811" sldId="310"/>
            <ac:picMk id="12" creationId="{21E8FE52-3E4B-3A64-A4B0-42B436DD63BC}"/>
          </ac:picMkLst>
        </pc:picChg>
      </pc:sldChg>
      <pc:sldChg chg="add">
        <pc:chgData name="Deeksha shree" userId="c6645d015b5e2fc4" providerId="LiveId" clId="{CDB5767B-F191-4B9A-A042-7FA72B04DA99}" dt="2024-07-28T16:52:42.448" v="6"/>
        <pc:sldMkLst>
          <pc:docMk/>
          <pc:sldMk cId="1836075801" sldId="311"/>
        </pc:sldMkLst>
      </pc:sldChg>
      <pc:sldChg chg="add">
        <pc:chgData name="Deeksha shree" userId="c6645d015b5e2fc4" providerId="LiveId" clId="{CDB5767B-F191-4B9A-A042-7FA72B04DA99}" dt="2024-07-28T16:52:42.448" v="6"/>
        <pc:sldMkLst>
          <pc:docMk/>
          <pc:sldMk cId="4122802088" sldId="312"/>
        </pc:sldMkLst>
      </pc:sldChg>
      <pc:sldChg chg="add">
        <pc:chgData name="Deeksha shree" userId="c6645d015b5e2fc4" providerId="LiveId" clId="{CDB5767B-F191-4B9A-A042-7FA72B04DA99}" dt="2024-07-28T16:52:42.448" v="6"/>
        <pc:sldMkLst>
          <pc:docMk/>
          <pc:sldMk cId="3311854376" sldId="313"/>
        </pc:sldMkLst>
      </pc:sldChg>
      <pc:sldChg chg="add">
        <pc:chgData name="Deeksha shree" userId="c6645d015b5e2fc4" providerId="LiveId" clId="{CDB5767B-F191-4B9A-A042-7FA72B04DA99}" dt="2024-07-28T16:52:42.448" v="6"/>
        <pc:sldMkLst>
          <pc:docMk/>
          <pc:sldMk cId="1584415285" sldId="314"/>
        </pc:sldMkLst>
      </pc:sldChg>
      <pc:sldChg chg="add">
        <pc:chgData name="Deeksha shree" userId="c6645d015b5e2fc4" providerId="LiveId" clId="{CDB5767B-F191-4B9A-A042-7FA72B04DA99}" dt="2024-07-28T16:52:42.448" v="6"/>
        <pc:sldMkLst>
          <pc:docMk/>
          <pc:sldMk cId="1344569171" sldId="315"/>
        </pc:sldMkLst>
      </pc:sldChg>
      <pc:sldChg chg="add">
        <pc:chgData name="Deeksha shree" userId="c6645d015b5e2fc4" providerId="LiveId" clId="{CDB5767B-F191-4B9A-A042-7FA72B04DA99}" dt="2024-07-28T16:52:42.448" v="6"/>
        <pc:sldMkLst>
          <pc:docMk/>
          <pc:sldMk cId="1209519070" sldId="316"/>
        </pc:sldMkLst>
      </pc:sldChg>
      <pc:sldChg chg="add">
        <pc:chgData name="Deeksha shree" userId="c6645d015b5e2fc4" providerId="LiveId" clId="{CDB5767B-F191-4B9A-A042-7FA72B04DA99}" dt="2024-07-28T16:52:42.448" v="6"/>
        <pc:sldMkLst>
          <pc:docMk/>
          <pc:sldMk cId="2153818302" sldId="317"/>
        </pc:sldMkLst>
      </pc:sldChg>
      <pc:sldChg chg="add">
        <pc:chgData name="Deeksha shree" userId="c6645d015b5e2fc4" providerId="LiveId" clId="{CDB5767B-F191-4B9A-A042-7FA72B04DA99}" dt="2024-07-28T16:52:42.448" v="6"/>
        <pc:sldMkLst>
          <pc:docMk/>
          <pc:sldMk cId="13949467" sldId="318"/>
        </pc:sldMkLst>
      </pc:sldChg>
      <pc:sldChg chg="add">
        <pc:chgData name="Deeksha shree" userId="c6645d015b5e2fc4" providerId="LiveId" clId="{CDB5767B-F191-4B9A-A042-7FA72B04DA99}" dt="2024-07-28T16:52:42.448" v="6"/>
        <pc:sldMkLst>
          <pc:docMk/>
          <pc:sldMk cId="4104246202" sldId="319"/>
        </pc:sldMkLst>
      </pc:sldChg>
      <pc:sldChg chg="add">
        <pc:chgData name="Deeksha shree" userId="c6645d015b5e2fc4" providerId="LiveId" clId="{CDB5767B-F191-4B9A-A042-7FA72B04DA99}" dt="2024-07-28T16:52:42.448" v="6"/>
        <pc:sldMkLst>
          <pc:docMk/>
          <pc:sldMk cId="1025554555" sldId="320"/>
        </pc:sldMkLst>
      </pc:sldChg>
      <pc:sldChg chg="add">
        <pc:chgData name="Deeksha shree" userId="c6645d015b5e2fc4" providerId="LiveId" clId="{CDB5767B-F191-4B9A-A042-7FA72B04DA99}" dt="2024-07-28T16:52:42.448" v="6"/>
        <pc:sldMkLst>
          <pc:docMk/>
          <pc:sldMk cId="406058114" sldId="321"/>
        </pc:sldMkLst>
      </pc:sldChg>
      <pc:sldChg chg="add">
        <pc:chgData name="Deeksha shree" userId="c6645d015b5e2fc4" providerId="LiveId" clId="{CDB5767B-F191-4B9A-A042-7FA72B04DA99}" dt="2024-07-28T16:52:42.448" v="6"/>
        <pc:sldMkLst>
          <pc:docMk/>
          <pc:sldMk cId="805328034" sldId="322"/>
        </pc:sldMkLst>
      </pc:sldChg>
      <pc:sldChg chg="add">
        <pc:chgData name="Deeksha shree" userId="c6645d015b5e2fc4" providerId="LiveId" clId="{CDB5767B-F191-4B9A-A042-7FA72B04DA99}" dt="2024-07-28T16:52:42.448" v="6"/>
        <pc:sldMkLst>
          <pc:docMk/>
          <pc:sldMk cId="3796317273" sldId="323"/>
        </pc:sldMkLst>
      </pc:sldChg>
      <pc:sldChg chg="add">
        <pc:chgData name="Deeksha shree" userId="c6645d015b5e2fc4" providerId="LiveId" clId="{CDB5767B-F191-4B9A-A042-7FA72B04DA99}" dt="2024-07-28T16:52:42.448" v="6"/>
        <pc:sldMkLst>
          <pc:docMk/>
          <pc:sldMk cId="418856765" sldId="3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1B7E70-01D6-40E1-801F-8289EC7F4F67}" type="datetimeFigureOut">
              <a:rPr lang="en-IN" smtClean="0"/>
              <a:t>28-07-2024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BE55FD-6D47-44D6-A737-BA94D784E442}" type="slidenum">
              <a:rPr lang="en-IN" smtClean="0"/>
              <a:t>‹#›</a:t>
            </a:fld>
            <a:endParaRPr lang="en-IN"/>
          </a:p>
        </p:txBody>
      </p:sp>
    </p:spTree>
    <p:extLst>
      <p:ext uri="{BB962C8B-B14F-4D97-AF65-F5344CB8AC3E}">
        <p14:creationId xmlns:p14="http://schemas.microsoft.com/office/powerpoint/2010/main" val="1668728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485D4-A761-49B6-898F-63EDFC0A43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DC8CCD-4ACE-4895-A107-915931CD62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02ACB2-A0C8-411E-9395-F9B7AEA6C4C2}"/>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5" name="Footer Placeholder 4">
            <a:extLst>
              <a:ext uri="{FF2B5EF4-FFF2-40B4-BE49-F238E27FC236}">
                <a16:creationId xmlns:a16="http://schemas.microsoft.com/office/drawing/2014/main" id="{27FCB11C-964D-42D0-9C40-01C0E05F8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FBC26A-92F1-4A65-849D-4B14BDD8CFC4}"/>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215665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F378-7DC6-41B1-BA30-51E61D301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76F4B7-0A46-4530-B608-58785067F1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AE658A-BD39-494D-A6C5-A20C2DE77CBC}"/>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5" name="Footer Placeholder 4">
            <a:extLst>
              <a:ext uri="{FF2B5EF4-FFF2-40B4-BE49-F238E27FC236}">
                <a16:creationId xmlns:a16="http://schemas.microsoft.com/office/drawing/2014/main" id="{99D3486A-552C-4D23-A038-A90A829149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1BB11A-6C4B-4EAE-BED6-1C9F0057CC66}"/>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21124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28B-F67B-442E-BA3A-33B60A40A4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CB2A19-6E9C-46F3-B2A2-B77BC685D5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DCA587-7F5C-4F3A-A198-B5E0D9528A9D}"/>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5" name="Footer Placeholder 4">
            <a:extLst>
              <a:ext uri="{FF2B5EF4-FFF2-40B4-BE49-F238E27FC236}">
                <a16:creationId xmlns:a16="http://schemas.microsoft.com/office/drawing/2014/main" id="{5252FCAB-EC35-43F7-A6F6-2BEE545EB0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93DD97-4322-4634-98F2-ECC8A549DF64}"/>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291354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55AC2-FAB4-418B-892A-D33ADCAAA3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18DAB9-5B24-498C-9346-7DA6A34225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74913C-6060-4955-A90C-14778F1C56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36F67F-1CB4-4C26-97F9-21A5D5ACDB6C}"/>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6" name="Footer Placeholder 5">
            <a:extLst>
              <a:ext uri="{FF2B5EF4-FFF2-40B4-BE49-F238E27FC236}">
                <a16:creationId xmlns:a16="http://schemas.microsoft.com/office/drawing/2014/main" id="{76EF1178-7BCC-4881-BDB2-B1060D0D36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825C09-3BA5-4AED-A5A1-24267F07C628}"/>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2092178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54F72-9293-4900-B98B-1B72B6D9E05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FDF341-8849-4076-81C2-3A0A9DC552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75C140-5C0D-4319-ADC3-18A30FF9DD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A46964-88A2-4A0B-8F10-F8589D21E7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23A5D-3B79-4E38-B437-8C3143B173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08E9B5F-E124-4F66-87B6-913B96927F1B}"/>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8" name="Footer Placeholder 7">
            <a:extLst>
              <a:ext uri="{FF2B5EF4-FFF2-40B4-BE49-F238E27FC236}">
                <a16:creationId xmlns:a16="http://schemas.microsoft.com/office/drawing/2014/main" id="{BA3D3603-99CF-4284-A013-7606373C37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0412FF-1642-4ED4-A2F4-D1896E177B48}"/>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3467435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E84EE-8A42-4355-BA47-458FC88C03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F85169-73D4-4397-A42E-F371A0A3455F}"/>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4" name="Footer Placeholder 3">
            <a:extLst>
              <a:ext uri="{FF2B5EF4-FFF2-40B4-BE49-F238E27FC236}">
                <a16:creationId xmlns:a16="http://schemas.microsoft.com/office/drawing/2014/main" id="{BBAACF10-DD1D-4A16-B92A-C38764BD0C9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68A247-F82A-46B5-A05B-313DDD83AF42}"/>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3857953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CDC464-4C54-4197-8B7E-0788F8C0A5B2}"/>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3" name="Footer Placeholder 2">
            <a:extLst>
              <a:ext uri="{FF2B5EF4-FFF2-40B4-BE49-F238E27FC236}">
                <a16:creationId xmlns:a16="http://schemas.microsoft.com/office/drawing/2014/main" id="{78760BD3-97BF-4E2B-860D-D5FF5864B8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C70FEF-98E1-46FF-ACA4-F8E058BB99DD}"/>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271653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A1C50-F84C-41EA-967C-763EF3F4A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C0E4FA-9E10-4393-851F-E1664F9612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1C9FE2-0866-442D-8111-BEBC85D124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30EC9E-C983-4FE5-A03D-31EB45A90EFB}"/>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6" name="Footer Placeholder 5">
            <a:extLst>
              <a:ext uri="{FF2B5EF4-FFF2-40B4-BE49-F238E27FC236}">
                <a16:creationId xmlns:a16="http://schemas.microsoft.com/office/drawing/2014/main" id="{6E6FEE20-5AAC-49EF-A786-AB392276F4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0FFCF7-410B-49BA-9E71-E1ACA86F29B2}"/>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1196048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69940-3B76-4446-A36C-A672DFEE05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B2BF12-EF40-4140-84EB-D83F2B885F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F895CA5-B661-46AB-91C0-9646438C06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E200AE-AE65-4F02-AEBF-CA2BE9767D40}"/>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6" name="Footer Placeholder 5">
            <a:extLst>
              <a:ext uri="{FF2B5EF4-FFF2-40B4-BE49-F238E27FC236}">
                <a16:creationId xmlns:a16="http://schemas.microsoft.com/office/drawing/2014/main" id="{0766BF5A-260F-4E79-BFF6-8416A62965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5EBD86-1073-4068-B43F-72B1260DCD16}"/>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359468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22045-3CB0-42FE-83FB-2568AB6D5F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D2BF7A-C346-4A80-B515-A4A35BB557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2DD8AA-7869-44BC-8A5C-35495933D581}"/>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5" name="Footer Placeholder 4">
            <a:extLst>
              <a:ext uri="{FF2B5EF4-FFF2-40B4-BE49-F238E27FC236}">
                <a16:creationId xmlns:a16="http://schemas.microsoft.com/office/drawing/2014/main" id="{FBC813EA-D28C-4F8E-BE2A-B1C1F4C731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9A348F-B819-4980-A9E7-C9C8632416DE}"/>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1192790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320E0D-EB96-4E68-9886-3EF93B48E5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7F817A-85F1-4FB0-9541-4A832E1410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6DC8C0-C111-4EE6-9657-683BD9804883}"/>
              </a:ext>
            </a:extLst>
          </p:cNvPr>
          <p:cNvSpPr>
            <a:spLocks noGrp="1"/>
          </p:cNvSpPr>
          <p:nvPr>
            <p:ph type="dt" sz="half" idx="10"/>
          </p:nvPr>
        </p:nvSpPr>
        <p:spPr/>
        <p:txBody>
          <a:bodyPr/>
          <a:lstStyle/>
          <a:p>
            <a:fld id="{2BE3D897-BFA7-4F1A-A9E7-A7E511AFB48A}" type="datetimeFigureOut">
              <a:rPr lang="en-IN" smtClean="0"/>
              <a:t>28-07-2024</a:t>
            </a:fld>
            <a:endParaRPr lang="en-IN"/>
          </a:p>
        </p:txBody>
      </p:sp>
      <p:sp>
        <p:nvSpPr>
          <p:cNvPr id="5" name="Footer Placeholder 4">
            <a:extLst>
              <a:ext uri="{FF2B5EF4-FFF2-40B4-BE49-F238E27FC236}">
                <a16:creationId xmlns:a16="http://schemas.microsoft.com/office/drawing/2014/main" id="{7BDC7788-0E92-44E8-9798-DEC1E902C4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DE7DAB-792F-439D-B084-9F661F484CDE}"/>
              </a:ext>
            </a:extLst>
          </p:cNvPr>
          <p:cNvSpPr>
            <a:spLocks noGrp="1"/>
          </p:cNvSpPr>
          <p:nvPr>
            <p:ph type="sldNum" sz="quarter" idx="12"/>
          </p:nvPr>
        </p:nvSpPr>
        <p:spPr/>
        <p:txBody>
          <a:bodyPr/>
          <a:lstStyle/>
          <a:p>
            <a:fld id="{0FF13B20-1AF2-4743-820C-6AF4D1B72B90}" type="slidenum">
              <a:rPr lang="en-IN" smtClean="0"/>
              <a:t>‹#›</a:t>
            </a:fld>
            <a:endParaRPr lang="en-IN"/>
          </a:p>
        </p:txBody>
      </p:sp>
    </p:spTree>
    <p:extLst>
      <p:ext uri="{BB962C8B-B14F-4D97-AF65-F5344CB8AC3E}">
        <p14:creationId xmlns:p14="http://schemas.microsoft.com/office/powerpoint/2010/main" val="1883845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86E8F-5296-4DFB-8640-0E0650F28F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E4796-EE98-47C2-921A-0789DF825D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202C66-9769-4C4D-9301-848838B616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E3D897-BFA7-4F1A-A9E7-A7E511AFB48A}" type="datetimeFigureOut">
              <a:rPr lang="en-IN" smtClean="0"/>
              <a:t>28-07-2024</a:t>
            </a:fld>
            <a:endParaRPr lang="en-IN"/>
          </a:p>
        </p:txBody>
      </p:sp>
      <p:sp>
        <p:nvSpPr>
          <p:cNvPr id="5" name="Footer Placeholder 4">
            <a:extLst>
              <a:ext uri="{FF2B5EF4-FFF2-40B4-BE49-F238E27FC236}">
                <a16:creationId xmlns:a16="http://schemas.microsoft.com/office/drawing/2014/main" id="{C1AD68A4-0223-4BCC-ABB6-51CEB0A2C0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1400AD9-2444-48AF-AF2A-F2213DFBE5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F13B20-1AF2-4743-820C-6AF4D1B72B90}" type="slidenum">
              <a:rPr lang="en-IN" smtClean="0"/>
              <a:t>‹#›</a:t>
            </a:fld>
            <a:endParaRPr lang="en-IN"/>
          </a:p>
        </p:txBody>
      </p:sp>
    </p:spTree>
    <p:extLst>
      <p:ext uri="{BB962C8B-B14F-4D97-AF65-F5344CB8AC3E}">
        <p14:creationId xmlns:p14="http://schemas.microsoft.com/office/powerpoint/2010/main" val="70453121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9.png"/></Relationships>
</file>

<file path=ppt/slides/_rels/slide4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D28D7-37CE-4B63-870B-C33F8D08AEF4}"/>
              </a:ext>
            </a:extLst>
          </p:cNvPr>
          <p:cNvSpPr>
            <a:spLocks noGrp="1"/>
          </p:cNvSpPr>
          <p:nvPr>
            <p:ph type="ctrTitle"/>
          </p:nvPr>
        </p:nvSpPr>
        <p:spPr>
          <a:xfrm>
            <a:off x="1507067" y="1368214"/>
            <a:ext cx="7766936" cy="1646302"/>
          </a:xfrm>
        </p:spPr>
        <p:txBody>
          <a:bodyPr/>
          <a:lstStyle/>
          <a:p>
            <a:r>
              <a:rPr lang="en-IN" dirty="0">
                <a:solidFill>
                  <a:schemeClr val="accent1">
                    <a:lumMod val="50000"/>
                  </a:schemeClr>
                </a:solidFill>
              </a:rPr>
              <a:t>Credit EDA Assignment</a:t>
            </a:r>
          </a:p>
        </p:txBody>
      </p:sp>
      <p:sp>
        <p:nvSpPr>
          <p:cNvPr id="3" name="Subtitle 2">
            <a:extLst>
              <a:ext uri="{FF2B5EF4-FFF2-40B4-BE49-F238E27FC236}">
                <a16:creationId xmlns:a16="http://schemas.microsoft.com/office/drawing/2014/main" id="{FC29F56C-8818-4C14-A18A-0F398713A6A6}"/>
              </a:ext>
            </a:extLst>
          </p:cNvPr>
          <p:cNvSpPr>
            <a:spLocks noGrp="1"/>
          </p:cNvSpPr>
          <p:nvPr>
            <p:ph type="subTitle" idx="1"/>
          </p:nvPr>
        </p:nvSpPr>
        <p:spPr>
          <a:xfrm>
            <a:off x="1750907" y="3248193"/>
            <a:ext cx="7200053" cy="1096899"/>
          </a:xfrm>
        </p:spPr>
        <p:txBody>
          <a:bodyPr/>
          <a:lstStyle/>
          <a:p>
            <a:r>
              <a:rPr lang="en-US" dirty="0">
                <a:solidFill>
                  <a:srgbClr val="002060"/>
                </a:solidFill>
              </a:rPr>
              <a:t>Should you get the loan? Will you pay the loan on time?</a:t>
            </a:r>
            <a:endParaRPr lang="en-IN" dirty="0">
              <a:solidFill>
                <a:srgbClr val="002060"/>
              </a:solidFill>
            </a:endParaRPr>
          </a:p>
        </p:txBody>
      </p:sp>
      <p:sp>
        <p:nvSpPr>
          <p:cNvPr id="4" name="TextBox 3">
            <a:extLst>
              <a:ext uri="{FF2B5EF4-FFF2-40B4-BE49-F238E27FC236}">
                <a16:creationId xmlns:a16="http://schemas.microsoft.com/office/drawing/2014/main" id="{3D5231C4-49B3-41CE-8E31-B036B58F6CD4}"/>
              </a:ext>
            </a:extLst>
          </p:cNvPr>
          <p:cNvSpPr txBox="1"/>
          <p:nvPr/>
        </p:nvSpPr>
        <p:spPr>
          <a:xfrm>
            <a:off x="6329680" y="5669280"/>
            <a:ext cx="4338320" cy="660400"/>
          </a:xfrm>
          <a:prstGeom prst="rect">
            <a:avLst/>
          </a:prstGeom>
          <a:noFill/>
        </p:spPr>
        <p:txBody>
          <a:bodyPr wrap="square" rtlCol="0">
            <a:spAutoFit/>
          </a:bodyPr>
          <a:lstStyle/>
          <a:p>
            <a:pPr lvl="3"/>
            <a:r>
              <a:rPr lang="en-IN" dirty="0">
                <a:solidFill>
                  <a:srgbClr val="002060"/>
                </a:solidFill>
              </a:rPr>
              <a:t>Deekshashree KM</a:t>
            </a:r>
          </a:p>
          <a:p>
            <a:endParaRPr lang="en-IN" dirty="0"/>
          </a:p>
        </p:txBody>
      </p:sp>
    </p:spTree>
    <p:extLst>
      <p:ext uri="{BB962C8B-B14F-4D97-AF65-F5344CB8AC3E}">
        <p14:creationId xmlns:p14="http://schemas.microsoft.com/office/powerpoint/2010/main" val="202046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79CD9-17AC-496B-8A30-4BBD1B7DDE6F}"/>
              </a:ext>
            </a:extLst>
          </p:cNvPr>
          <p:cNvSpPr>
            <a:spLocks noGrp="1"/>
          </p:cNvSpPr>
          <p:nvPr>
            <p:ph type="title"/>
          </p:nvPr>
        </p:nvSpPr>
        <p:spPr>
          <a:xfrm>
            <a:off x="646854" y="60960"/>
            <a:ext cx="5682826" cy="731520"/>
          </a:xfrm>
        </p:spPr>
        <p:txBody>
          <a:bodyPr>
            <a:normAutofit/>
          </a:bodyPr>
          <a:lstStyle/>
          <a:p>
            <a:r>
              <a:rPr lang="en-IN" sz="3600" b="1" i="0" dirty="0">
                <a:solidFill>
                  <a:srgbClr val="000000"/>
                </a:solidFill>
                <a:effectLst/>
                <a:latin typeface="inherit"/>
              </a:rPr>
              <a:t>Problem Statement:</a:t>
            </a:r>
            <a:endParaRPr lang="en-IN" sz="3600" dirty="0">
              <a:latin typeface="inherit"/>
            </a:endParaRPr>
          </a:p>
        </p:txBody>
      </p:sp>
      <p:sp>
        <p:nvSpPr>
          <p:cNvPr id="3" name="Content Placeholder 2">
            <a:extLst>
              <a:ext uri="{FF2B5EF4-FFF2-40B4-BE49-F238E27FC236}">
                <a16:creationId xmlns:a16="http://schemas.microsoft.com/office/drawing/2014/main" id="{9713AFD1-5710-4737-822A-0A89A6C240C5}"/>
              </a:ext>
            </a:extLst>
          </p:cNvPr>
          <p:cNvSpPr>
            <a:spLocks noGrp="1"/>
          </p:cNvSpPr>
          <p:nvPr>
            <p:ph idx="1"/>
          </p:nvPr>
        </p:nvSpPr>
        <p:spPr>
          <a:xfrm>
            <a:off x="677334" y="731520"/>
            <a:ext cx="11433386" cy="6126480"/>
          </a:xfrm>
        </p:spPr>
        <p:txBody>
          <a:bodyPr>
            <a:noAutofit/>
          </a:bodyPr>
          <a:lstStyle/>
          <a:p>
            <a:pPr marL="0" indent="0" algn="just">
              <a:buNone/>
            </a:pPr>
            <a:r>
              <a:rPr lang="en-US" sz="1800" b="0" i="0" dirty="0">
                <a:solidFill>
                  <a:srgbClr val="000000"/>
                </a:solidFill>
                <a:effectLst/>
              </a:rPr>
              <a:t>When the company receives a loan application, the company has to decide for loan approval based on the applicant’s profile. Risks associated with the bank’s decision: </a:t>
            </a:r>
          </a:p>
          <a:p>
            <a:pPr algn="just">
              <a:buFont typeface="Arial" panose="020B0604020202020204" pitchFamily="34" charset="0"/>
              <a:buChar char="•"/>
            </a:pPr>
            <a:r>
              <a:rPr lang="en-US" sz="1800" b="0" i="0" dirty="0">
                <a:solidFill>
                  <a:srgbClr val="000000"/>
                </a:solidFill>
                <a:effectLst/>
              </a:rPr>
              <a:t>Not approving loan to applicant who can repay the amount. </a:t>
            </a:r>
          </a:p>
          <a:p>
            <a:pPr algn="just">
              <a:buFont typeface="Arial" panose="020B0604020202020204" pitchFamily="34" charset="0"/>
              <a:buChar char="•"/>
            </a:pPr>
            <a:r>
              <a:rPr lang="en-US" sz="1800" b="0" i="0" dirty="0">
                <a:solidFill>
                  <a:srgbClr val="000000"/>
                </a:solidFill>
                <a:effectLst/>
              </a:rPr>
              <a:t>Approving loan to applicant who can't repay or likely to default.</a:t>
            </a:r>
          </a:p>
          <a:p>
            <a:pPr marL="0" indent="0" algn="just">
              <a:buNone/>
            </a:pPr>
            <a:r>
              <a:rPr lang="en-US" sz="1800" b="0" i="0" dirty="0">
                <a:solidFill>
                  <a:srgbClr val="000000"/>
                </a:solidFill>
                <a:effectLst/>
              </a:rPr>
              <a:t>Both result in loss of business to the company. So, The loan providing companies find it hard to give loans to the people due to their insufficient or non-existent credit history. Because of that, some consumers use it as their advantage by becoming a defaulter.</a:t>
            </a:r>
          </a:p>
          <a:p>
            <a:pPr marL="0" indent="0" algn="just">
              <a:buNone/>
            </a:pPr>
            <a:r>
              <a:rPr lang="en-US" sz="1800" b="0" i="0" dirty="0">
                <a:solidFill>
                  <a:srgbClr val="000000"/>
                </a:solidFill>
                <a:effectLst/>
              </a:rPr>
              <a:t>Data given in ‘</a:t>
            </a:r>
            <a:r>
              <a:rPr lang="en-US" sz="1800" b="1" i="0" dirty="0">
                <a:solidFill>
                  <a:srgbClr val="000000"/>
                </a:solidFill>
                <a:effectLst/>
              </a:rPr>
              <a:t>applicant_data</a:t>
            </a:r>
            <a:r>
              <a:rPr lang="en-US" sz="1800" b="0" i="0" dirty="0">
                <a:solidFill>
                  <a:srgbClr val="000000"/>
                </a:solidFill>
                <a:effectLst/>
              </a:rPr>
              <a:t>' file contains the information about the loan application at the time of applying for the loan. It contains two types of scenarios:</a:t>
            </a:r>
          </a:p>
          <a:p>
            <a:pPr algn="just">
              <a:buFont typeface="Arial" panose="020B0604020202020204" pitchFamily="34" charset="0"/>
              <a:buChar char="•"/>
            </a:pPr>
            <a:r>
              <a:rPr lang="en-US" sz="1800" b="0" i="0" dirty="0">
                <a:solidFill>
                  <a:srgbClr val="000000"/>
                </a:solidFill>
                <a:effectLst/>
              </a:rPr>
              <a:t>The client with payment difficulties: he/she had late payment more than X days on at least one of the first Y instalments of the loan in our sample (</a:t>
            </a:r>
            <a:r>
              <a:rPr lang="en-US" sz="1800" b="1" i="0" dirty="0">
                <a:solidFill>
                  <a:srgbClr val="000000"/>
                </a:solidFill>
                <a:effectLst/>
              </a:rPr>
              <a:t>Defaulters</a:t>
            </a:r>
            <a:r>
              <a:rPr lang="en-US" sz="1800" b="0" i="0" dirty="0">
                <a:solidFill>
                  <a:srgbClr val="000000"/>
                </a:solidFill>
                <a:effectLst/>
              </a:rPr>
              <a:t>)</a:t>
            </a:r>
          </a:p>
          <a:p>
            <a:pPr algn="just">
              <a:buFont typeface="Arial" panose="020B0604020202020204" pitchFamily="34" charset="0"/>
              <a:buChar char="•"/>
            </a:pPr>
            <a:r>
              <a:rPr lang="en-US" sz="1800" b="0" i="0" dirty="0">
                <a:solidFill>
                  <a:srgbClr val="000000"/>
                </a:solidFill>
                <a:effectLst/>
              </a:rPr>
              <a:t>All other cases: All other cases when the payment is paid on time.(</a:t>
            </a:r>
            <a:r>
              <a:rPr lang="en-US" sz="1800" b="1" i="0" dirty="0">
                <a:solidFill>
                  <a:srgbClr val="000000"/>
                </a:solidFill>
                <a:effectLst/>
              </a:rPr>
              <a:t>Non-Defaulters</a:t>
            </a:r>
            <a:r>
              <a:rPr lang="en-US" sz="1800" b="0" i="0" dirty="0">
                <a:solidFill>
                  <a:srgbClr val="000000"/>
                </a:solidFill>
                <a:effectLst/>
              </a:rPr>
              <a:t>)</a:t>
            </a:r>
          </a:p>
          <a:p>
            <a:pPr marL="0" indent="0" algn="just">
              <a:buNone/>
            </a:pPr>
            <a:r>
              <a:rPr lang="en-US" sz="1800" b="0" i="0" dirty="0">
                <a:solidFill>
                  <a:srgbClr val="000000"/>
                </a:solidFill>
                <a:effectLst/>
              </a:rPr>
              <a:t>Data given in </a:t>
            </a:r>
            <a:r>
              <a:rPr lang="en-US" sz="1800" b="1" i="0" dirty="0">
                <a:solidFill>
                  <a:srgbClr val="000000"/>
                </a:solidFill>
                <a:effectLst/>
              </a:rPr>
              <a:t>'previous_application</a:t>
            </a:r>
            <a:r>
              <a:rPr lang="en-US" sz="1800" b="0" i="0" dirty="0">
                <a:solidFill>
                  <a:srgbClr val="000000"/>
                </a:solidFill>
                <a:effectLst/>
              </a:rPr>
              <a:t>' contains information about the client’s previous loan data. When a client applies for a loan, there are four types of decisions that could be taken by the client/company):</a:t>
            </a:r>
          </a:p>
          <a:p>
            <a:pPr algn="just">
              <a:buFont typeface="Arial" panose="020B0604020202020204" pitchFamily="34" charset="0"/>
              <a:buChar char="•"/>
            </a:pPr>
            <a:r>
              <a:rPr lang="en-US" sz="1800" b="1" i="0" dirty="0">
                <a:solidFill>
                  <a:srgbClr val="000000"/>
                </a:solidFill>
                <a:effectLst/>
              </a:rPr>
              <a:t>Approved</a:t>
            </a:r>
            <a:r>
              <a:rPr lang="en-US" sz="1800" b="0" i="0" dirty="0">
                <a:solidFill>
                  <a:srgbClr val="000000"/>
                </a:solidFill>
                <a:effectLst/>
              </a:rPr>
              <a:t>: The Company has approved loan Application</a:t>
            </a:r>
          </a:p>
          <a:p>
            <a:pPr algn="just">
              <a:buFont typeface="Arial" panose="020B0604020202020204" pitchFamily="34" charset="0"/>
              <a:buChar char="•"/>
            </a:pPr>
            <a:r>
              <a:rPr lang="en-US" sz="1800" b="1" i="0" dirty="0">
                <a:solidFill>
                  <a:srgbClr val="000000"/>
                </a:solidFill>
                <a:effectLst/>
              </a:rPr>
              <a:t>Cancelled</a:t>
            </a:r>
            <a:r>
              <a:rPr lang="en-US" sz="1800" b="0" i="0" dirty="0">
                <a:solidFill>
                  <a:srgbClr val="000000"/>
                </a:solidFill>
                <a:effectLst/>
              </a:rPr>
              <a:t>: The client cancelled the application sometime during approval. Either the client changed her/his mind about the loan or in some cases due to a higher risk of the client he received worse pricing which he did not want.</a:t>
            </a:r>
          </a:p>
          <a:p>
            <a:pPr algn="just">
              <a:buFont typeface="Arial" panose="020B0604020202020204" pitchFamily="34" charset="0"/>
              <a:buChar char="•"/>
            </a:pPr>
            <a:r>
              <a:rPr lang="en-US" sz="1800" b="1" i="0" dirty="0">
                <a:solidFill>
                  <a:srgbClr val="000000"/>
                </a:solidFill>
                <a:effectLst/>
              </a:rPr>
              <a:t>Refused</a:t>
            </a:r>
            <a:r>
              <a:rPr lang="en-US" sz="1800" b="0" i="0" dirty="0">
                <a:solidFill>
                  <a:srgbClr val="000000"/>
                </a:solidFill>
                <a:effectLst/>
              </a:rPr>
              <a:t>: The company had rejected the loan (because the client does not meet their requirements etc.).</a:t>
            </a:r>
          </a:p>
          <a:p>
            <a:pPr algn="just">
              <a:buFont typeface="Arial" panose="020B0604020202020204" pitchFamily="34" charset="0"/>
              <a:buChar char="•"/>
            </a:pPr>
            <a:r>
              <a:rPr lang="en-US" sz="1800" b="1" i="0" dirty="0">
                <a:solidFill>
                  <a:srgbClr val="000000"/>
                </a:solidFill>
                <a:effectLst/>
              </a:rPr>
              <a:t>Unused offer</a:t>
            </a:r>
            <a:r>
              <a:rPr lang="en-US" sz="1800" b="0" i="0" dirty="0">
                <a:solidFill>
                  <a:srgbClr val="000000"/>
                </a:solidFill>
                <a:effectLst/>
              </a:rPr>
              <a:t>: Loan has been cancelled by the client but on different stages of the process.</a:t>
            </a:r>
            <a:endParaRPr lang="en-IN" sz="1800" dirty="0"/>
          </a:p>
        </p:txBody>
      </p:sp>
    </p:spTree>
    <p:extLst>
      <p:ext uri="{BB962C8B-B14F-4D97-AF65-F5344CB8AC3E}">
        <p14:creationId xmlns:p14="http://schemas.microsoft.com/office/powerpoint/2010/main" val="369920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D63D-9796-494A-9249-A96A8444D0FC}"/>
              </a:ext>
            </a:extLst>
          </p:cNvPr>
          <p:cNvSpPr>
            <a:spLocks noGrp="1"/>
          </p:cNvSpPr>
          <p:nvPr>
            <p:ph type="title"/>
          </p:nvPr>
        </p:nvSpPr>
        <p:spPr/>
        <p:txBody>
          <a:bodyPr/>
          <a:lstStyle/>
          <a:p>
            <a:r>
              <a:rPr lang="en-US" b="1" i="0" dirty="0">
                <a:solidFill>
                  <a:srgbClr val="000000"/>
                </a:solidFill>
                <a:effectLst/>
                <a:latin typeface="inherit"/>
              </a:rPr>
              <a:t>Objective:</a:t>
            </a:r>
            <a:endParaRPr lang="en-IN" dirty="0"/>
          </a:p>
        </p:txBody>
      </p:sp>
      <p:sp>
        <p:nvSpPr>
          <p:cNvPr id="3" name="Content Placeholder 2">
            <a:extLst>
              <a:ext uri="{FF2B5EF4-FFF2-40B4-BE49-F238E27FC236}">
                <a16:creationId xmlns:a16="http://schemas.microsoft.com/office/drawing/2014/main" id="{D7B9DD74-18D4-47F8-84B5-A140E04DA89E}"/>
              </a:ext>
            </a:extLst>
          </p:cNvPr>
          <p:cNvSpPr>
            <a:spLocks noGrp="1"/>
          </p:cNvSpPr>
          <p:nvPr>
            <p:ph idx="1"/>
          </p:nvPr>
        </p:nvSpPr>
        <p:spPr>
          <a:xfrm>
            <a:off x="677334" y="1632269"/>
            <a:ext cx="10676466" cy="2330131"/>
          </a:xfrm>
        </p:spPr>
        <p:txBody>
          <a:bodyPr>
            <a:normAutofit/>
          </a:bodyPr>
          <a:lstStyle/>
          <a:p>
            <a:pPr algn="just"/>
            <a:r>
              <a:rPr lang="en-US" sz="1800" b="0" i="0" dirty="0">
                <a:solidFill>
                  <a:srgbClr val="000000"/>
                </a:solidFill>
                <a:effectLst/>
              </a:rPr>
              <a:t>To identify patterns which indicate if a client has difficulty paying their installments (i.e., company wants to understand the driving factors/variables or strong indicators behind loan default) Based on the trend analysis/ result, company can: Deny loan, Reduce amount of loan or lend loan at high interest to risky applicant. Also, applicants who are capable of repaying the loan are not rejected.</a:t>
            </a:r>
          </a:p>
          <a:p>
            <a:pPr marL="0" indent="0" algn="just">
              <a:buNone/>
            </a:pPr>
            <a:endParaRPr lang="en-IN" sz="1800" dirty="0"/>
          </a:p>
          <a:p>
            <a:pPr marL="0" indent="0" algn="just">
              <a:buNone/>
            </a:pPr>
            <a:r>
              <a:rPr lang="en-US" sz="1800" b="0" i="0" dirty="0">
                <a:solidFill>
                  <a:srgbClr val="000000"/>
                </a:solidFill>
                <a:effectLst/>
              </a:rPr>
              <a:t>In this case study, will use EDA to understand how consumer attributes and loan attributes influence the tendency of default.</a:t>
            </a:r>
          </a:p>
          <a:p>
            <a:pPr marL="0" indent="0" algn="just">
              <a:buNone/>
            </a:pPr>
            <a:endParaRPr lang="en-IN" sz="1800" dirty="0"/>
          </a:p>
        </p:txBody>
      </p:sp>
    </p:spTree>
    <p:extLst>
      <p:ext uri="{BB962C8B-B14F-4D97-AF65-F5344CB8AC3E}">
        <p14:creationId xmlns:p14="http://schemas.microsoft.com/office/powerpoint/2010/main" val="1552856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C84AC7-C09C-418E-B830-6DA6C7BF9C96}"/>
              </a:ext>
            </a:extLst>
          </p:cNvPr>
          <p:cNvPicPr>
            <a:picLocks noChangeAspect="1"/>
          </p:cNvPicPr>
          <p:nvPr/>
        </p:nvPicPr>
        <p:blipFill rotWithShape="1">
          <a:blip r:embed="rId2"/>
          <a:srcRect l="2317" r="1431" b="1100"/>
          <a:stretch/>
        </p:blipFill>
        <p:spPr>
          <a:xfrm>
            <a:off x="2814320" y="16400"/>
            <a:ext cx="9113520" cy="3661521"/>
          </a:xfrm>
          <a:prstGeom prst="rect">
            <a:avLst/>
          </a:prstGeom>
        </p:spPr>
      </p:pic>
      <p:pic>
        <p:nvPicPr>
          <p:cNvPr id="8" name="Graphic 7" descr="Back with solid fill">
            <a:extLst>
              <a:ext uri="{FF2B5EF4-FFF2-40B4-BE49-F238E27FC236}">
                <a16:creationId xmlns:a16="http://schemas.microsoft.com/office/drawing/2014/main" id="{DD30FFC9-21A2-4483-94F9-5465A52342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2960" y="807720"/>
            <a:ext cx="721360" cy="721360"/>
          </a:xfrm>
          <a:prstGeom prst="rect">
            <a:avLst/>
          </a:prstGeom>
        </p:spPr>
      </p:pic>
      <p:sp>
        <p:nvSpPr>
          <p:cNvPr id="9" name="TextBox 8">
            <a:extLst>
              <a:ext uri="{FF2B5EF4-FFF2-40B4-BE49-F238E27FC236}">
                <a16:creationId xmlns:a16="http://schemas.microsoft.com/office/drawing/2014/main" id="{E69D57F7-199A-4A5A-A328-42C5B94A8A73}"/>
              </a:ext>
            </a:extLst>
          </p:cNvPr>
          <p:cNvSpPr txBox="1"/>
          <p:nvPr/>
        </p:nvSpPr>
        <p:spPr>
          <a:xfrm>
            <a:off x="182880" y="1437640"/>
            <a:ext cx="2540000" cy="923330"/>
          </a:xfrm>
          <a:prstGeom prst="rect">
            <a:avLst/>
          </a:prstGeom>
          <a:noFill/>
        </p:spPr>
        <p:txBody>
          <a:bodyPr wrap="square" rtlCol="0">
            <a:spAutoFit/>
          </a:bodyPr>
          <a:lstStyle/>
          <a:p>
            <a:r>
              <a:rPr lang="en-IN" dirty="0"/>
              <a:t>Required libraries are imported and loaded data set.</a:t>
            </a:r>
          </a:p>
        </p:txBody>
      </p:sp>
      <p:sp>
        <p:nvSpPr>
          <p:cNvPr id="10" name="TextBox 9">
            <a:extLst>
              <a:ext uri="{FF2B5EF4-FFF2-40B4-BE49-F238E27FC236}">
                <a16:creationId xmlns:a16="http://schemas.microsoft.com/office/drawing/2014/main" id="{B0DE4865-154B-4862-A0A7-D7CB9D43EF38}"/>
              </a:ext>
            </a:extLst>
          </p:cNvPr>
          <p:cNvSpPr txBox="1"/>
          <p:nvPr/>
        </p:nvSpPr>
        <p:spPr>
          <a:xfrm>
            <a:off x="182880" y="4287520"/>
            <a:ext cx="6890184" cy="2031325"/>
          </a:xfrm>
          <a:prstGeom prst="rect">
            <a:avLst/>
          </a:prstGeom>
          <a:noFill/>
        </p:spPr>
        <p:txBody>
          <a:bodyPr wrap="square" rtlCol="0">
            <a:spAutoFit/>
          </a:bodyPr>
          <a:lstStyle/>
          <a:p>
            <a:r>
              <a:rPr lang="en-IN" b="1" dirty="0"/>
              <a:t>Data cleaning activities:</a:t>
            </a:r>
          </a:p>
          <a:p>
            <a:pPr marL="285750" indent="-285750">
              <a:buFont typeface="Arial" panose="020B0604020202020204" pitchFamily="34" charset="0"/>
              <a:buChar char="•"/>
            </a:pPr>
            <a:r>
              <a:rPr lang="en-IN" dirty="0" err="1"/>
              <a:t>Application_data</a:t>
            </a:r>
            <a:r>
              <a:rPr lang="en-IN" dirty="0"/>
              <a:t> was initially checking for missing values. </a:t>
            </a:r>
          </a:p>
          <a:p>
            <a:pPr marL="285750" indent="-285750">
              <a:buFont typeface="Arial" panose="020B0604020202020204" pitchFamily="34" charset="0"/>
              <a:buChar char="•"/>
            </a:pPr>
            <a:r>
              <a:rPr lang="en-IN" dirty="0"/>
              <a:t>Columns having more than 40% of null values were dropped, as it’s insufficient for analysis.</a:t>
            </a:r>
          </a:p>
          <a:p>
            <a:pPr marL="285750" indent="-285750">
              <a:buFont typeface="Arial" panose="020B0604020202020204" pitchFamily="34" charset="0"/>
              <a:buChar char="•"/>
            </a:pPr>
            <a:r>
              <a:rPr lang="en-IN" dirty="0"/>
              <a:t>Columns having less than 40% of null values were checked if those missing value can be imputed or ‘</a:t>
            </a:r>
            <a:r>
              <a:rPr lang="en-IN" dirty="0" err="1"/>
              <a:t>dropna</a:t>
            </a:r>
            <a:r>
              <a:rPr lang="en-IN" dirty="0"/>
              <a:t>’ related rows </a:t>
            </a:r>
          </a:p>
          <a:p>
            <a:pPr marL="285750" indent="-285750">
              <a:buFont typeface="Arial" panose="020B0604020202020204" pitchFamily="34" charset="0"/>
              <a:buChar char="•"/>
            </a:pPr>
            <a:endParaRPr lang="en-IN" dirty="0"/>
          </a:p>
        </p:txBody>
      </p:sp>
      <p:grpSp>
        <p:nvGrpSpPr>
          <p:cNvPr id="15" name="Group 14">
            <a:extLst>
              <a:ext uri="{FF2B5EF4-FFF2-40B4-BE49-F238E27FC236}">
                <a16:creationId xmlns:a16="http://schemas.microsoft.com/office/drawing/2014/main" id="{F48A8827-9657-49CA-964E-9989C1E3B0F5}"/>
              </a:ext>
            </a:extLst>
          </p:cNvPr>
          <p:cNvGrpSpPr/>
          <p:nvPr/>
        </p:nvGrpSpPr>
        <p:grpSpPr>
          <a:xfrm>
            <a:off x="7388024" y="4250546"/>
            <a:ext cx="3594936" cy="1996716"/>
            <a:chOff x="7388024" y="4250546"/>
            <a:chExt cx="3594936" cy="1996716"/>
          </a:xfrm>
        </p:grpSpPr>
        <p:pic>
          <p:nvPicPr>
            <p:cNvPr id="12" name="Picture 11">
              <a:extLst>
                <a:ext uri="{FF2B5EF4-FFF2-40B4-BE49-F238E27FC236}">
                  <a16:creationId xmlns:a16="http://schemas.microsoft.com/office/drawing/2014/main" id="{619A5419-A27F-4171-92FF-2A649E1351CD}"/>
                </a:ext>
              </a:extLst>
            </p:cNvPr>
            <p:cNvPicPr>
              <a:picLocks noChangeAspect="1"/>
            </p:cNvPicPr>
            <p:nvPr/>
          </p:nvPicPr>
          <p:blipFill rotWithShape="1">
            <a:blip r:embed="rId5"/>
            <a:srcRect t="36524" r="54088"/>
            <a:stretch/>
          </p:blipFill>
          <p:spPr>
            <a:xfrm>
              <a:off x="7388024" y="4622799"/>
              <a:ext cx="3594936" cy="1624463"/>
            </a:xfrm>
            <a:prstGeom prst="rect">
              <a:avLst/>
            </a:prstGeom>
          </p:spPr>
        </p:pic>
        <p:sp>
          <p:nvSpPr>
            <p:cNvPr id="13" name="TextBox 12">
              <a:extLst>
                <a:ext uri="{FF2B5EF4-FFF2-40B4-BE49-F238E27FC236}">
                  <a16:creationId xmlns:a16="http://schemas.microsoft.com/office/drawing/2014/main" id="{B32A4991-DFF7-49AB-92B0-EABE0D66DED1}"/>
                </a:ext>
              </a:extLst>
            </p:cNvPr>
            <p:cNvSpPr txBox="1"/>
            <p:nvPr/>
          </p:nvSpPr>
          <p:spPr>
            <a:xfrm>
              <a:off x="7388024" y="4278300"/>
              <a:ext cx="209125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Column name</a:t>
              </a:r>
            </a:p>
          </p:txBody>
        </p:sp>
        <p:sp>
          <p:nvSpPr>
            <p:cNvPr id="14" name="TextBox 13">
              <a:extLst>
                <a:ext uri="{FF2B5EF4-FFF2-40B4-BE49-F238E27FC236}">
                  <a16:creationId xmlns:a16="http://schemas.microsoft.com/office/drawing/2014/main" id="{A072C5E6-7764-423D-91B7-315DD111B3CB}"/>
                </a:ext>
              </a:extLst>
            </p:cNvPr>
            <p:cNvSpPr txBox="1"/>
            <p:nvPr/>
          </p:nvSpPr>
          <p:spPr>
            <a:xfrm>
              <a:off x="9734984" y="4250546"/>
              <a:ext cx="91269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Null %</a:t>
              </a:r>
            </a:p>
          </p:txBody>
        </p:sp>
      </p:grpSp>
    </p:spTree>
    <p:extLst>
      <p:ext uri="{BB962C8B-B14F-4D97-AF65-F5344CB8AC3E}">
        <p14:creationId xmlns:p14="http://schemas.microsoft.com/office/powerpoint/2010/main" val="2845490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E3304-81CB-4842-BD31-99B1C35C7061}"/>
              </a:ext>
            </a:extLst>
          </p:cNvPr>
          <p:cNvSpPr>
            <a:spLocks noGrp="1"/>
          </p:cNvSpPr>
          <p:nvPr>
            <p:ph idx="1"/>
          </p:nvPr>
        </p:nvSpPr>
        <p:spPr>
          <a:xfrm>
            <a:off x="182880" y="880745"/>
            <a:ext cx="11775440" cy="5682616"/>
          </a:xfrm>
        </p:spPr>
        <p:txBody>
          <a:bodyPr>
            <a:normAutofit/>
          </a:bodyPr>
          <a:lstStyle/>
          <a:p>
            <a:pPr algn="just"/>
            <a:r>
              <a:rPr lang="en-IN" sz="1800" dirty="0"/>
              <a:t>‘</a:t>
            </a:r>
            <a:r>
              <a:rPr lang="en-IN" sz="1800" b="1" dirty="0"/>
              <a:t>OCCUPATION_TYPE’ </a:t>
            </a:r>
            <a:r>
              <a:rPr lang="en-IN" sz="1800" dirty="0"/>
              <a:t>column had 31% null values. </a:t>
            </a:r>
            <a:r>
              <a:rPr lang="en-US" sz="1800" dirty="0"/>
              <a:t>Occupation type had multiple categories and required column data. </a:t>
            </a:r>
            <a:r>
              <a:rPr lang="en-IN" sz="1800" dirty="0"/>
              <a:t>So, to impute the missing data checked for ‘mode’ (most frequent type), since, it’s categorical column </a:t>
            </a:r>
            <a:r>
              <a:rPr lang="en-US" sz="1800" dirty="0"/>
              <a:t>and distribution mode has ‘Laborers’ contributing 26% data.  But </a:t>
            </a:r>
            <a:r>
              <a:rPr lang="en-US" sz="1800" u="sng" dirty="0"/>
              <a:t>can't replace 31% missing data with laborer </a:t>
            </a:r>
            <a:r>
              <a:rPr lang="en-US" sz="1800" dirty="0"/>
              <a:t>as this would impact the analysis. Hence, missing values are retained as is.</a:t>
            </a:r>
          </a:p>
          <a:p>
            <a:pPr algn="just"/>
            <a:r>
              <a:rPr lang="en-US" sz="1800" dirty="0"/>
              <a:t>‘</a:t>
            </a:r>
            <a:r>
              <a:rPr lang="en-US" sz="1800" b="1" dirty="0"/>
              <a:t>AMT_REQ_CREDIT_BUREAU</a:t>
            </a:r>
            <a:r>
              <a:rPr lang="en-US" sz="1800" dirty="0"/>
              <a:t>’ columns had 13% missing data. </a:t>
            </a:r>
            <a:r>
              <a:rPr lang="en-US" sz="1800" u="sng" dirty="0"/>
              <a:t>Maximum distribution of data was seen at one value</a:t>
            </a:r>
            <a:r>
              <a:rPr lang="en-US" sz="1800" dirty="0"/>
              <a:t>. Hence, </a:t>
            </a:r>
            <a:r>
              <a:rPr lang="en-US" sz="1800" u="sng" dirty="0"/>
              <a:t>dropped the rows with missing value here </a:t>
            </a:r>
            <a:r>
              <a:rPr lang="en-US" sz="1800" dirty="0"/>
              <a:t>as this missing data will not have major impact to column (the column already has constant/max value for analysis, if required)</a:t>
            </a:r>
          </a:p>
          <a:p>
            <a:pPr algn="just"/>
            <a:r>
              <a:rPr lang="en-US" sz="1800" dirty="0"/>
              <a:t>Similarly for ‘</a:t>
            </a:r>
            <a:r>
              <a:rPr lang="en-US" sz="1800" b="1" dirty="0"/>
              <a:t>NAME_TYPE_SUITE</a:t>
            </a:r>
            <a:r>
              <a:rPr lang="en-US" sz="1800" dirty="0"/>
              <a:t>’ column, </a:t>
            </a:r>
            <a:r>
              <a:rPr lang="en-US" sz="1800" u="sng" dirty="0"/>
              <a:t>Maximum distribution of data is seen at one value. Hence, dropped the rows with missing value.</a:t>
            </a:r>
          </a:p>
          <a:p>
            <a:pPr algn="just"/>
            <a:r>
              <a:rPr lang="en-US" sz="1800" b="1" dirty="0"/>
              <a:t>AMT_ANNUITY </a:t>
            </a:r>
            <a:r>
              <a:rPr lang="en-US" sz="1800" dirty="0"/>
              <a:t>column had </a:t>
            </a:r>
            <a:r>
              <a:rPr lang="en-US" sz="1800" i="1" dirty="0"/>
              <a:t>very less % of null value</a:t>
            </a:r>
            <a:r>
              <a:rPr lang="en-US" sz="1800" dirty="0"/>
              <a:t>. Since it’s a </a:t>
            </a:r>
            <a:r>
              <a:rPr lang="en-US" sz="1800" u="sng" dirty="0"/>
              <a:t>numerical column-checked for outliers </a:t>
            </a:r>
            <a:r>
              <a:rPr lang="en-US" sz="1800" dirty="0"/>
              <a:t>if missing value can be replaced with Mean or median. And there were </a:t>
            </a:r>
            <a:r>
              <a:rPr lang="en-US" sz="1800" u="sng" dirty="0"/>
              <a:t>Outlier in the annuity</a:t>
            </a:r>
            <a:r>
              <a:rPr lang="en-US" sz="1800" dirty="0"/>
              <a:t>, as the difference between max value and 75% values was high. So, the </a:t>
            </a:r>
            <a:r>
              <a:rPr lang="en-US" sz="1800" u="sng" dirty="0"/>
              <a:t>missing value was replaced with Median value.</a:t>
            </a:r>
          </a:p>
          <a:p>
            <a:pPr algn="just"/>
            <a:r>
              <a:rPr lang="en-US" sz="1800" dirty="0"/>
              <a:t>Columns with no significant data for analysis were dropped- 'EXT_SOURCE_2', 'EXT_SOURCE_3','FLAG_DOCUMENT_2', 'FLAG_DOCUMENT_3','FLAG_DOCUMENT_4', 'FLAG_DOCUMENT_5', 'FLAG_DOCUMENT_6','FLAG_DOCUMENT_7', 'FLAG_DOCUMENT_8', 'FLAG_DOCUMENT_9','FLAG_DOCUMENT_10', 'FLAG_DOCUMENT_11', 'FLAG_DOCUMENT_12’, 'FLAG_DOCUMENT_13', 'FLAG_DOCUMENT_14', 'FLAG_DOCUMENT_15', 'FLAG_DOCUMENT_16', 'FLAG_DOCUMENT_17’,  'FLAG_DOCUMENT_18','FLAG_DOCUMENT_19', 'FLAG_DOCUMENT_20', 'FLAG_DOCUMENT_21’.</a:t>
            </a:r>
          </a:p>
          <a:p>
            <a:pPr marL="0" indent="0" algn="just">
              <a:buNone/>
            </a:pPr>
            <a:endParaRPr lang="en-US" sz="1800" dirty="0"/>
          </a:p>
          <a:p>
            <a:pPr marL="0" indent="0" algn="just">
              <a:buNone/>
            </a:pPr>
            <a:r>
              <a:rPr lang="en-US" sz="1800" dirty="0"/>
              <a:t>Further, data in each columns were checked to identify errors in data and data type.</a:t>
            </a:r>
            <a:endParaRPr lang="en-IN" sz="1800" dirty="0"/>
          </a:p>
        </p:txBody>
      </p:sp>
      <p:sp>
        <p:nvSpPr>
          <p:cNvPr id="7" name="TextBox 6">
            <a:extLst>
              <a:ext uri="{FF2B5EF4-FFF2-40B4-BE49-F238E27FC236}">
                <a16:creationId xmlns:a16="http://schemas.microsoft.com/office/drawing/2014/main" id="{00E64224-5D89-4FD6-B13C-95955D97B6DB}"/>
              </a:ext>
            </a:extLst>
          </p:cNvPr>
          <p:cNvSpPr txBox="1"/>
          <p:nvPr/>
        </p:nvSpPr>
        <p:spPr>
          <a:xfrm>
            <a:off x="284480" y="294639"/>
            <a:ext cx="5811520" cy="461665"/>
          </a:xfrm>
          <a:prstGeom prst="rect">
            <a:avLst/>
          </a:prstGeom>
          <a:noFill/>
        </p:spPr>
        <p:txBody>
          <a:bodyPr wrap="square" rtlCol="0">
            <a:spAutoFit/>
          </a:bodyPr>
          <a:lstStyle/>
          <a:p>
            <a:r>
              <a:rPr lang="en-IN" sz="2400" b="1" i="1" dirty="0">
                <a:solidFill>
                  <a:srgbClr val="000000"/>
                </a:solidFill>
                <a:effectLst/>
                <a:latin typeface="Helvetica Neue"/>
              </a:rPr>
              <a:t>Impute Missing values</a:t>
            </a:r>
          </a:p>
        </p:txBody>
      </p:sp>
    </p:spTree>
    <p:extLst>
      <p:ext uri="{BB962C8B-B14F-4D97-AF65-F5344CB8AC3E}">
        <p14:creationId xmlns:p14="http://schemas.microsoft.com/office/powerpoint/2010/main" val="4152659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9A798D-368E-41AF-9D69-49B8B34A551D}"/>
              </a:ext>
            </a:extLst>
          </p:cNvPr>
          <p:cNvPicPr>
            <a:picLocks noChangeAspect="1"/>
          </p:cNvPicPr>
          <p:nvPr/>
        </p:nvPicPr>
        <p:blipFill rotWithShape="1">
          <a:blip r:embed="rId2"/>
          <a:srcRect t="2195" b="2657"/>
          <a:stretch/>
        </p:blipFill>
        <p:spPr>
          <a:xfrm>
            <a:off x="91439" y="71121"/>
            <a:ext cx="7284721" cy="3082298"/>
          </a:xfrm>
          <a:prstGeom prst="rect">
            <a:avLst/>
          </a:prstGeom>
        </p:spPr>
      </p:pic>
      <p:sp>
        <p:nvSpPr>
          <p:cNvPr id="12" name="Speech Bubble: Oval 11">
            <a:extLst>
              <a:ext uri="{FF2B5EF4-FFF2-40B4-BE49-F238E27FC236}">
                <a16:creationId xmlns:a16="http://schemas.microsoft.com/office/drawing/2014/main" id="{22FBAB95-4C7C-48BA-A5A5-783A2410736E}"/>
              </a:ext>
            </a:extLst>
          </p:cNvPr>
          <p:cNvSpPr/>
          <p:nvPr/>
        </p:nvSpPr>
        <p:spPr>
          <a:xfrm>
            <a:off x="7792720" y="436880"/>
            <a:ext cx="3799840" cy="2255520"/>
          </a:xfrm>
          <a:prstGeom prst="wedgeEllipseCallout">
            <a:avLst>
              <a:gd name="adj1" fmla="val -90457"/>
              <a:gd name="adj2" fmla="val -45610"/>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A0F172B3-6681-4CFB-A6D0-5A713B60FDDC}"/>
              </a:ext>
            </a:extLst>
          </p:cNvPr>
          <p:cNvSpPr txBox="1"/>
          <p:nvPr/>
        </p:nvSpPr>
        <p:spPr>
          <a:xfrm>
            <a:off x="8006080" y="985520"/>
            <a:ext cx="3271520" cy="1200329"/>
          </a:xfrm>
          <a:prstGeom prst="rect">
            <a:avLst/>
          </a:prstGeom>
          <a:noFill/>
        </p:spPr>
        <p:txBody>
          <a:bodyPr wrap="square" rtlCol="0">
            <a:spAutoFit/>
          </a:bodyPr>
          <a:lstStyle/>
          <a:p>
            <a:pPr algn="just"/>
            <a:r>
              <a:rPr lang="en-IN" dirty="0"/>
              <a:t>Gender had ‘XNA’ which may be not available data. Since, it’s categorical data, replaced it with distribution mode- Female ‘F’. </a:t>
            </a:r>
          </a:p>
        </p:txBody>
      </p:sp>
      <p:sp>
        <p:nvSpPr>
          <p:cNvPr id="15" name="TextBox 14">
            <a:extLst>
              <a:ext uri="{FF2B5EF4-FFF2-40B4-BE49-F238E27FC236}">
                <a16:creationId xmlns:a16="http://schemas.microsoft.com/office/drawing/2014/main" id="{22EE07EA-B42D-43C7-9455-5397AA543DFE}"/>
              </a:ext>
            </a:extLst>
          </p:cNvPr>
          <p:cNvSpPr txBox="1"/>
          <p:nvPr/>
        </p:nvSpPr>
        <p:spPr>
          <a:xfrm>
            <a:off x="1628140" y="4704080"/>
            <a:ext cx="3271520" cy="1477328"/>
          </a:xfrm>
          <a:prstGeom prst="rect">
            <a:avLst/>
          </a:prstGeom>
          <a:noFill/>
        </p:spPr>
        <p:txBody>
          <a:bodyPr wrap="square" rtlCol="0">
            <a:spAutoFit/>
          </a:bodyPr>
          <a:lstStyle/>
          <a:p>
            <a:pPr algn="just"/>
            <a:r>
              <a:rPr lang="en-IN" dirty="0"/>
              <a:t>Columns prefixed DAYS_ has negative values for no. of days. </a:t>
            </a:r>
          </a:p>
          <a:p>
            <a:pPr algn="just"/>
            <a:r>
              <a:rPr lang="en-IN" dirty="0"/>
              <a:t>So, values are converted to positive number using absolute function ‘abs()’</a:t>
            </a:r>
          </a:p>
        </p:txBody>
      </p:sp>
      <p:pic>
        <p:nvPicPr>
          <p:cNvPr id="7" name="Picture 6">
            <a:extLst>
              <a:ext uri="{FF2B5EF4-FFF2-40B4-BE49-F238E27FC236}">
                <a16:creationId xmlns:a16="http://schemas.microsoft.com/office/drawing/2014/main" id="{5C1C7033-E759-454B-AE7B-73182E16CEE8}"/>
              </a:ext>
            </a:extLst>
          </p:cNvPr>
          <p:cNvPicPr>
            <a:picLocks noChangeAspect="1"/>
          </p:cNvPicPr>
          <p:nvPr/>
        </p:nvPicPr>
        <p:blipFill>
          <a:blip r:embed="rId3"/>
          <a:stretch>
            <a:fillRect/>
          </a:stretch>
        </p:blipFill>
        <p:spPr>
          <a:xfrm>
            <a:off x="5913121" y="3224538"/>
            <a:ext cx="6187440" cy="3704582"/>
          </a:xfrm>
          <a:prstGeom prst="rect">
            <a:avLst/>
          </a:prstGeom>
        </p:spPr>
      </p:pic>
      <p:sp>
        <p:nvSpPr>
          <p:cNvPr id="13" name="Speech Bubble: Oval 12">
            <a:extLst>
              <a:ext uri="{FF2B5EF4-FFF2-40B4-BE49-F238E27FC236}">
                <a16:creationId xmlns:a16="http://schemas.microsoft.com/office/drawing/2014/main" id="{6ABB2DA3-6E7D-4605-B6E7-EDE7352341E6}"/>
              </a:ext>
            </a:extLst>
          </p:cNvPr>
          <p:cNvSpPr/>
          <p:nvPr/>
        </p:nvSpPr>
        <p:spPr>
          <a:xfrm>
            <a:off x="1102360" y="4175760"/>
            <a:ext cx="4201160" cy="2458720"/>
          </a:xfrm>
          <a:prstGeom prst="wedgeEllipseCallout">
            <a:avLst>
              <a:gd name="adj1" fmla="val 82590"/>
              <a:gd name="adj2" fmla="val -60980"/>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2818DDE9-8E10-4147-8C2B-35B484980939}"/>
              </a:ext>
            </a:extLst>
          </p:cNvPr>
          <p:cNvSpPr txBox="1"/>
          <p:nvPr/>
        </p:nvSpPr>
        <p:spPr>
          <a:xfrm>
            <a:off x="8849360" y="508000"/>
            <a:ext cx="1574800" cy="375920"/>
          </a:xfrm>
          <a:prstGeom prst="rect">
            <a:avLst/>
          </a:prstGeom>
          <a:noFill/>
        </p:spPr>
        <p:txBody>
          <a:bodyPr wrap="square" rtlCol="0">
            <a:spAutoFit/>
          </a:bodyPr>
          <a:lstStyle/>
          <a:p>
            <a:r>
              <a:rPr lang="en-IN" dirty="0"/>
              <a:t>Errors in data</a:t>
            </a:r>
          </a:p>
        </p:txBody>
      </p:sp>
      <p:sp>
        <p:nvSpPr>
          <p:cNvPr id="17" name="TextBox 16">
            <a:extLst>
              <a:ext uri="{FF2B5EF4-FFF2-40B4-BE49-F238E27FC236}">
                <a16:creationId xmlns:a16="http://schemas.microsoft.com/office/drawing/2014/main" id="{372AE0EB-CEB8-4419-9057-1AC24DCF41E5}"/>
              </a:ext>
            </a:extLst>
          </p:cNvPr>
          <p:cNvSpPr txBox="1"/>
          <p:nvPr/>
        </p:nvSpPr>
        <p:spPr>
          <a:xfrm>
            <a:off x="2519680" y="4257040"/>
            <a:ext cx="1574800" cy="375920"/>
          </a:xfrm>
          <a:prstGeom prst="rect">
            <a:avLst/>
          </a:prstGeom>
          <a:noFill/>
        </p:spPr>
        <p:txBody>
          <a:bodyPr wrap="square" rtlCol="0">
            <a:spAutoFit/>
          </a:bodyPr>
          <a:lstStyle/>
          <a:p>
            <a:r>
              <a:rPr lang="en-IN" dirty="0"/>
              <a:t>Errors in data</a:t>
            </a:r>
          </a:p>
        </p:txBody>
      </p:sp>
    </p:spTree>
    <p:extLst>
      <p:ext uri="{BB962C8B-B14F-4D97-AF65-F5344CB8AC3E}">
        <p14:creationId xmlns:p14="http://schemas.microsoft.com/office/powerpoint/2010/main" val="1126000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DBD5D62-9DB9-4E97-8FF4-F350B365ECB9}"/>
              </a:ext>
            </a:extLst>
          </p:cNvPr>
          <p:cNvPicPr>
            <a:picLocks noChangeAspect="1"/>
          </p:cNvPicPr>
          <p:nvPr/>
        </p:nvPicPr>
        <p:blipFill>
          <a:blip r:embed="rId2"/>
          <a:stretch>
            <a:fillRect/>
          </a:stretch>
        </p:blipFill>
        <p:spPr>
          <a:xfrm>
            <a:off x="457654" y="368236"/>
            <a:ext cx="7029811" cy="2463927"/>
          </a:xfrm>
          <a:prstGeom prst="rect">
            <a:avLst/>
          </a:prstGeom>
        </p:spPr>
      </p:pic>
      <p:sp>
        <p:nvSpPr>
          <p:cNvPr id="6" name="Speech Bubble: Rectangle with Corners Rounded 5">
            <a:extLst>
              <a:ext uri="{FF2B5EF4-FFF2-40B4-BE49-F238E27FC236}">
                <a16:creationId xmlns:a16="http://schemas.microsoft.com/office/drawing/2014/main" id="{FD3764F4-28CD-4845-881E-F5FFBFB7EAE0}"/>
              </a:ext>
            </a:extLst>
          </p:cNvPr>
          <p:cNvSpPr/>
          <p:nvPr/>
        </p:nvSpPr>
        <p:spPr>
          <a:xfrm>
            <a:off x="7680960" y="802639"/>
            <a:ext cx="3210560" cy="1271449"/>
          </a:xfrm>
          <a:prstGeom prst="wedgeRoundRectCallout">
            <a:avLst>
              <a:gd name="adj1" fmla="val -79693"/>
              <a:gd name="adj2" fmla="val -17083"/>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543A6D74-6D0D-43AE-AA07-A682C6675967}"/>
              </a:ext>
            </a:extLst>
          </p:cNvPr>
          <p:cNvSpPr txBox="1"/>
          <p:nvPr/>
        </p:nvSpPr>
        <p:spPr>
          <a:xfrm>
            <a:off x="7802880" y="873760"/>
            <a:ext cx="3007360" cy="1200329"/>
          </a:xfrm>
          <a:prstGeom prst="rect">
            <a:avLst/>
          </a:prstGeom>
          <a:noFill/>
        </p:spPr>
        <p:txBody>
          <a:bodyPr wrap="square" rtlCol="0">
            <a:spAutoFit/>
          </a:bodyPr>
          <a:lstStyle/>
          <a:p>
            <a:pPr algn="just"/>
            <a:r>
              <a:rPr lang="en-IN" dirty="0"/>
              <a:t>Number people can’t be counted in decimals. Family member column datatype is changed to int from float</a:t>
            </a:r>
          </a:p>
        </p:txBody>
      </p:sp>
      <p:sp>
        <p:nvSpPr>
          <p:cNvPr id="8" name="TextBox 7">
            <a:extLst>
              <a:ext uri="{FF2B5EF4-FFF2-40B4-BE49-F238E27FC236}">
                <a16:creationId xmlns:a16="http://schemas.microsoft.com/office/drawing/2014/main" id="{3EF57253-D6A1-4127-88E3-97CA39E3A9AE}"/>
              </a:ext>
            </a:extLst>
          </p:cNvPr>
          <p:cNvSpPr txBox="1"/>
          <p:nvPr/>
        </p:nvSpPr>
        <p:spPr>
          <a:xfrm>
            <a:off x="619760" y="3505200"/>
            <a:ext cx="5760720" cy="2308324"/>
          </a:xfrm>
          <a:prstGeom prst="rect">
            <a:avLst/>
          </a:prstGeom>
          <a:noFill/>
        </p:spPr>
        <p:txBody>
          <a:bodyPr wrap="square" rtlCol="0">
            <a:spAutoFit/>
          </a:bodyPr>
          <a:lstStyle/>
          <a:p>
            <a:pPr algn="just"/>
            <a:r>
              <a:rPr lang="en-IN" dirty="0"/>
              <a:t>Similarly, for ORGANIZATION_TYPE column had ‘XNA’. Again, its categorical column, so, checked for Mode. D</a:t>
            </a:r>
            <a:r>
              <a:rPr lang="en-US" dirty="0" err="1"/>
              <a:t>istribution</a:t>
            </a:r>
            <a:r>
              <a:rPr lang="en-US" dirty="0"/>
              <a:t> of data is across and has mode as 'Business Entity Type 3’ of 22%. </a:t>
            </a:r>
          </a:p>
          <a:p>
            <a:pPr algn="just"/>
            <a:r>
              <a:rPr lang="en-US" dirty="0"/>
              <a:t>Replacing ‘XNA’ data with mode 'Business Entity Type 3' will impact the analysis as data is distributed across 58 unique categories. So, XNA data in ORGANIZATION_TYPE  were dropped.</a:t>
            </a:r>
            <a:endParaRPr lang="en-IN" dirty="0"/>
          </a:p>
        </p:txBody>
      </p:sp>
      <p:pic>
        <p:nvPicPr>
          <p:cNvPr id="3" name="Picture 2">
            <a:extLst>
              <a:ext uri="{FF2B5EF4-FFF2-40B4-BE49-F238E27FC236}">
                <a16:creationId xmlns:a16="http://schemas.microsoft.com/office/drawing/2014/main" id="{BB12F417-13EA-ECB4-5C8A-F02F59D70D7A}"/>
              </a:ext>
            </a:extLst>
          </p:cNvPr>
          <p:cNvPicPr>
            <a:picLocks noChangeAspect="1"/>
          </p:cNvPicPr>
          <p:nvPr/>
        </p:nvPicPr>
        <p:blipFill>
          <a:blip r:embed="rId3"/>
          <a:stretch>
            <a:fillRect/>
          </a:stretch>
        </p:blipFill>
        <p:spPr>
          <a:xfrm>
            <a:off x="6380480" y="3134960"/>
            <a:ext cx="5557481" cy="2463926"/>
          </a:xfrm>
          <a:prstGeom prst="rect">
            <a:avLst/>
          </a:prstGeom>
          <a:ln>
            <a:solidFill>
              <a:schemeClr val="tx1"/>
            </a:solidFill>
          </a:ln>
        </p:spPr>
      </p:pic>
    </p:spTree>
    <p:extLst>
      <p:ext uri="{BB962C8B-B14F-4D97-AF65-F5344CB8AC3E}">
        <p14:creationId xmlns:p14="http://schemas.microsoft.com/office/powerpoint/2010/main" val="32462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68DB1-5773-4A0E-AE9A-17EC9C8192FD}"/>
              </a:ext>
            </a:extLst>
          </p:cNvPr>
          <p:cNvSpPr>
            <a:spLocks noGrp="1"/>
          </p:cNvSpPr>
          <p:nvPr>
            <p:ph type="title"/>
          </p:nvPr>
        </p:nvSpPr>
        <p:spPr>
          <a:xfrm>
            <a:off x="2245360" y="90805"/>
            <a:ext cx="7203440" cy="549275"/>
          </a:xfrm>
        </p:spPr>
        <p:txBody>
          <a:bodyPr>
            <a:normAutofit/>
          </a:bodyPr>
          <a:lstStyle/>
          <a:p>
            <a:r>
              <a:rPr lang="en-IN" sz="2400" b="1" i="0" dirty="0">
                <a:solidFill>
                  <a:srgbClr val="000000"/>
                </a:solidFill>
                <a:effectLst/>
                <a:latin typeface="inherit"/>
              </a:rPr>
              <a:t>Identify Numerical columns and check for </a:t>
            </a:r>
            <a:r>
              <a:rPr lang="en-IN" sz="2400" b="1" dirty="0">
                <a:solidFill>
                  <a:srgbClr val="000000"/>
                </a:solidFill>
                <a:latin typeface="inherit"/>
              </a:rPr>
              <a:t>outliers in it.</a:t>
            </a:r>
            <a:endParaRPr lang="en-IN" sz="2400" dirty="0">
              <a:latin typeface="inherit"/>
            </a:endParaRPr>
          </a:p>
        </p:txBody>
      </p:sp>
      <p:pic>
        <p:nvPicPr>
          <p:cNvPr id="5" name="Picture 4">
            <a:extLst>
              <a:ext uri="{FF2B5EF4-FFF2-40B4-BE49-F238E27FC236}">
                <a16:creationId xmlns:a16="http://schemas.microsoft.com/office/drawing/2014/main" id="{A973F377-1BD7-4622-9C96-E05779669074}"/>
              </a:ext>
            </a:extLst>
          </p:cNvPr>
          <p:cNvPicPr>
            <a:picLocks noChangeAspect="1"/>
          </p:cNvPicPr>
          <p:nvPr/>
        </p:nvPicPr>
        <p:blipFill>
          <a:blip r:embed="rId2"/>
          <a:stretch>
            <a:fillRect/>
          </a:stretch>
        </p:blipFill>
        <p:spPr>
          <a:xfrm>
            <a:off x="2468880" y="640080"/>
            <a:ext cx="6705945" cy="1168460"/>
          </a:xfrm>
          <a:prstGeom prst="rect">
            <a:avLst/>
          </a:prstGeom>
        </p:spPr>
      </p:pic>
      <p:grpSp>
        <p:nvGrpSpPr>
          <p:cNvPr id="25" name="Group 24">
            <a:extLst>
              <a:ext uri="{FF2B5EF4-FFF2-40B4-BE49-F238E27FC236}">
                <a16:creationId xmlns:a16="http://schemas.microsoft.com/office/drawing/2014/main" id="{0235C3CE-4DC3-4C96-9DBA-0416FEFE41D5}"/>
              </a:ext>
            </a:extLst>
          </p:cNvPr>
          <p:cNvGrpSpPr/>
          <p:nvPr/>
        </p:nvGrpSpPr>
        <p:grpSpPr>
          <a:xfrm>
            <a:off x="721360" y="1920300"/>
            <a:ext cx="4561840" cy="2905700"/>
            <a:chOff x="345440" y="1859340"/>
            <a:chExt cx="3642946" cy="2479008"/>
          </a:xfrm>
        </p:grpSpPr>
        <p:pic>
          <p:nvPicPr>
            <p:cNvPr id="7" name="Picture 6">
              <a:extLst>
                <a:ext uri="{FF2B5EF4-FFF2-40B4-BE49-F238E27FC236}">
                  <a16:creationId xmlns:a16="http://schemas.microsoft.com/office/drawing/2014/main" id="{77A4D3BC-6F53-48A5-B0C9-1B506770CAA3}"/>
                </a:ext>
              </a:extLst>
            </p:cNvPr>
            <p:cNvPicPr>
              <a:picLocks noChangeAspect="1"/>
            </p:cNvPicPr>
            <p:nvPr/>
          </p:nvPicPr>
          <p:blipFill rotWithShape="1">
            <a:blip r:embed="rId3"/>
            <a:srcRect b="1986"/>
            <a:stretch/>
          </p:blipFill>
          <p:spPr>
            <a:xfrm>
              <a:off x="345440" y="1859340"/>
              <a:ext cx="3642946" cy="2479008"/>
            </a:xfrm>
            <a:prstGeom prst="rect">
              <a:avLst/>
            </a:prstGeom>
          </p:spPr>
        </p:pic>
        <p:sp>
          <p:nvSpPr>
            <p:cNvPr id="20" name="TextBox 19">
              <a:extLst>
                <a:ext uri="{FF2B5EF4-FFF2-40B4-BE49-F238E27FC236}">
                  <a16:creationId xmlns:a16="http://schemas.microsoft.com/office/drawing/2014/main" id="{B1E158D7-BEE9-4557-82CC-8431870B0289}"/>
                </a:ext>
              </a:extLst>
            </p:cNvPr>
            <p:cNvSpPr txBox="1"/>
            <p:nvPr/>
          </p:nvSpPr>
          <p:spPr>
            <a:xfrm>
              <a:off x="2956560" y="3259634"/>
              <a:ext cx="619760" cy="369332"/>
            </a:xfrm>
            <a:prstGeom prst="rect">
              <a:avLst/>
            </a:prstGeom>
            <a:noFill/>
          </p:spPr>
          <p:txBody>
            <a:bodyPr wrap="square" rtlCol="0">
              <a:spAutoFit/>
            </a:bodyPr>
            <a:lstStyle/>
            <a:p>
              <a:r>
                <a:rPr lang="en-IN" dirty="0"/>
                <a:t>Fig 1</a:t>
              </a:r>
            </a:p>
          </p:txBody>
        </p:sp>
      </p:grpSp>
      <p:sp>
        <p:nvSpPr>
          <p:cNvPr id="30" name="TextBox 29">
            <a:extLst>
              <a:ext uri="{FF2B5EF4-FFF2-40B4-BE49-F238E27FC236}">
                <a16:creationId xmlns:a16="http://schemas.microsoft.com/office/drawing/2014/main" id="{764D4D96-41D9-4616-A741-874382A5EACB}"/>
              </a:ext>
            </a:extLst>
          </p:cNvPr>
          <p:cNvSpPr txBox="1"/>
          <p:nvPr/>
        </p:nvSpPr>
        <p:spPr>
          <a:xfrm>
            <a:off x="924560" y="5313680"/>
            <a:ext cx="4429760" cy="1200329"/>
          </a:xfrm>
          <a:prstGeom prst="rect">
            <a:avLst/>
          </a:prstGeom>
          <a:noFill/>
        </p:spPr>
        <p:txBody>
          <a:bodyPr wrap="square" rtlCol="0">
            <a:spAutoFit/>
          </a:bodyPr>
          <a:lstStyle/>
          <a:p>
            <a:pPr algn="just"/>
            <a:r>
              <a:rPr lang="en-IN" dirty="0"/>
              <a:t>Fig 1: </a:t>
            </a:r>
            <a:r>
              <a:rPr lang="en-US" b="0" i="0" dirty="0">
                <a:solidFill>
                  <a:srgbClr val="000000"/>
                </a:solidFill>
                <a:effectLst/>
              </a:rPr>
              <a:t>In the above boxplot of </a:t>
            </a:r>
            <a:r>
              <a:rPr lang="en-US" b="0" i="0" dirty="0" err="1">
                <a:solidFill>
                  <a:srgbClr val="000000"/>
                </a:solidFill>
                <a:effectLst/>
              </a:rPr>
              <a:t>AMT_Income_Total</a:t>
            </a:r>
            <a:r>
              <a:rPr lang="en-US" b="0" i="0" dirty="0">
                <a:solidFill>
                  <a:srgbClr val="000000"/>
                </a:solidFill>
                <a:effectLst/>
              </a:rPr>
              <a:t>, we can observe outliers</a:t>
            </a:r>
            <a:r>
              <a:rPr lang="en-US" dirty="0">
                <a:solidFill>
                  <a:srgbClr val="000000"/>
                </a:solidFill>
              </a:rPr>
              <a:t>-</a:t>
            </a:r>
            <a:r>
              <a:rPr lang="en-US" b="0" i="0" dirty="0">
                <a:solidFill>
                  <a:srgbClr val="000000"/>
                </a:solidFill>
                <a:effectLst/>
              </a:rPr>
              <a:t> Max income 117000000 (near to 120M) is surely an outlier here.</a:t>
            </a:r>
            <a:endParaRPr lang="en-IN" dirty="0"/>
          </a:p>
        </p:txBody>
      </p:sp>
      <p:cxnSp>
        <p:nvCxnSpPr>
          <p:cNvPr id="33" name="Straight Arrow Connector 32">
            <a:extLst>
              <a:ext uri="{FF2B5EF4-FFF2-40B4-BE49-F238E27FC236}">
                <a16:creationId xmlns:a16="http://schemas.microsoft.com/office/drawing/2014/main" id="{218890CE-7D45-4B9C-AD08-D84C3E17B825}"/>
              </a:ext>
            </a:extLst>
          </p:cNvPr>
          <p:cNvCxnSpPr>
            <a:cxnSpLocks/>
          </p:cNvCxnSpPr>
          <p:nvPr/>
        </p:nvCxnSpPr>
        <p:spPr>
          <a:xfrm flipH="1" flipV="1">
            <a:off x="3312160" y="2502978"/>
            <a:ext cx="508000" cy="216451"/>
          </a:xfrm>
          <a:prstGeom prst="straightConnector1">
            <a:avLst/>
          </a:prstGeom>
          <a:ln w="19050">
            <a:solidFill>
              <a:schemeClr val="accent6">
                <a:lumMod val="60000"/>
                <a:lumOff val="40000"/>
              </a:schemeClr>
            </a:solidFill>
            <a:tailEnd type="triangle"/>
          </a:ln>
        </p:spPr>
        <p:style>
          <a:lnRef idx="1">
            <a:schemeClr val="accent2"/>
          </a:lnRef>
          <a:fillRef idx="0">
            <a:schemeClr val="accent2"/>
          </a:fillRef>
          <a:effectRef idx="0">
            <a:schemeClr val="accent2"/>
          </a:effectRef>
          <a:fontRef idx="minor">
            <a:schemeClr val="tx1"/>
          </a:fontRef>
        </p:style>
      </p:cxnSp>
      <p:grpSp>
        <p:nvGrpSpPr>
          <p:cNvPr id="43" name="Group 42">
            <a:extLst>
              <a:ext uri="{FF2B5EF4-FFF2-40B4-BE49-F238E27FC236}">
                <a16:creationId xmlns:a16="http://schemas.microsoft.com/office/drawing/2014/main" id="{A2CB873A-D71F-4692-A7F6-A61791DC7DE8}"/>
              </a:ext>
            </a:extLst>
          </p:cNvPr>
          <p:cNvGrpSpPr/>
          <p:nvPr/>
        </p:nvGrpSpPr>
        <p:grpSpPr>
          <a:xfrm>
            <a:off x="589280" y="1906698"/>
            <a:ext cx="4698655" cy="3238652"/>
            <a:chOff x="726095" y="1906698"/>
            <a:chExt cx="4561840" cy="2905700"/>
          </a:xfrm>
        </p:grpSpPr>
        <p:grpSp>
          <p:nvGrpSpPr>
            <p:cNvPr id="39" name="Group 38">
              <a:extLst>
                <a:ext uri="{FF2B5EF4-FFF2-40B4-BE49-F238E27FC236}">
                  <a16:creationId xmlns:a16="http://schemas.microsoft.com/office/drawing/2014/main" id="{9C388CF4-BF44-4956-AC41-5D3D48A5AFD3}"/>
                </a:ext>
              </a:extLst>
            </p:cNvPr>
            <p:cNvGrpSpPr/>
            <p:nvPr/>
          </p:nvGrpSpPr>
          <p:grpSpPr>
            <a:xfrm>
              <a:off x="726095" y="1906698"/>
              <a:ext cx="4561840" cy="2905700"/>
              <a:chOff x="345440" y="1859340"/>
              <a:chExt cx="3642946" cy="2479008"/>
            </a:xfrm>
          </p:grpSpPr>
          <p:pic>
            <p:nvPicPr>
              <p:cNvPr id="40" name="Picture 39">
                <a:extLst>
                  <a:ext uri="{FF2B5EF4-FFF2-40B4-BE49-F238E27FC236}">
                    <a16:creationId xmlns:a16="http://schemas.microsoft.com/office/drawing/2014/main" id="{2F2806D8-4E0D-4858-829F-1471944AFA82}"/>
                  </a:ext>
                </a:extLst>
              </p:cNvPr>
              <p:cNvPicPr>
                <a:picLocks noChangeAspect="1"/>
              </p:cNvPicPr>
              <p:nvPr/>
            </p:nvPicPr>
            <p:blipFill rotWithShape="1">
              <a:blip r:embed="rId3"/>
              <a:srcRect b="1986"/>
              <a:stretch/>
            </p:blipFill>
            <p:spPr>
              <a:xfrm>
                <a:off x="345440" y="1859340"/>
                <a:ext cx="3642946" cy="2479008"/>
              </a:xfrm>
              <a:prstGeom prst="rect">
                <a:avLst/>
              </a:prstGeom>
            </p:spPr>
          </p:pic>
          <p:sp>
            <p:nvSpPr>
              <p:cNvPr id="41" name="TextBox 40">
                <a:extLst>
                  <a:ext uri="{FF2B5EF4-FFF2-40B4-BE49-F238E27FC236}">
                    <a16:creationId xmlns:a16="http://schemas.microsoft.com/office/drawing/2014/main" id="{E66DFA38-2752-422F-A0DF-8EA17826458E}"/>
                  </a:ext>
                </a:extLst>
              </p:cNvPr>
              <p:cNvSpPr txBox="1"/>
              <p:nvPr/>
            </p:nvSpPr>
            <p:spPr>
              <a:xfrm>
                <a:off x="2956560" y="3259634"/>
                <a:ext cx="619760" cy="369332"/>
              </a:xfrm>
              <a:prstGeom prst="rect">
                <a:avLst/>
              </a:prstGeom>
              <a:noFill/>
            </p:spPr>
            <p:txBody>
              <a:bodyPr wrap="square" rtlCol="0">
                <a:spAutoFit/>
              </a:bodyPr>
              <a:lstStyle/>
              <a:p>
                <a:r>
                  <a:rPr lang="en-IN" dirty="0"/>
                  <a:t>Fig 1</a:t>
                </a:r>
              </a:p>
            </p:txBody>
          </p:sp>
        </p:grpSp>
        <p:cxnSp>
          <p:nvCxnSpPr>
            <p:cNvPr id="42" name="Straight Arrow Connector 41">
              <a:extLst>
                <a:ext uri="{FF2B5EF4-FFF2-40B4-BE49-F238E27FC236}">
                  <a16:creationId xmlns:a16="http://schemas.microsoft.com/office/drawing/2014/main" id="{D11140CB-51AF-406F-926F-2C8E3EC8AF2F}"/>
                </a:ext>
              </a:extLst>
            </p:cNvPr>
            <p:cNvCxnSpPr>
              <a:cxnSpLocks/>
            </p:cNvCxnSpPr>
            <p:nvPr/>
          </p:nvCxnSpPr>
          <p:spPr>
            <a:xfrm flipH="1" flipV="1">
              <a:off x="3316895" y="2489376"/>
              <a:ext cx="508000" cy="216451"/>
            </a:xfrm>
            <a:prstGeom prst="straightConnector1">
              <a:avLst/>
            </a:prstGeom>
            <a:ln w="19050">
              <a:solidFill>
                <a:schemeClr val="accent6">
                  <a:lumMod val="60000"/>
                  <a:lumOff val="40000"/>
                </a:schemeClr>
              </a:solidFill>
              <a:tailEnd type="triangle"/>
            </a:ln>
          </p:spPr>
          <p:style>
            <a:lnRef idx="1">
              <a:schemeClr val="accent2"/>
            </a:lnRef>
            <a:fillRef idx="0">
              <a:schemeClr val="accent2"/>
            </a:fillRef>
            <a:effectRef idx="0">
              <a:schemeClr val="accent2"/>
            </a:effectRef>
            <a:fontRef idx="minor">
              <a:schemeClr val="tx1"/>
            </a:fontRef>
          </p:style>
        </p:cxnSp>
      </p:grpSp>
      <p:grpSp>
        <p:nvGrpSpPr>
          <p:cNvPr id="44" name="Group 43">
            <a:extLst>
              <a:ext uri="{FF2B5EF4-FFF2-40B4-BE49-F238E27FC236}">
                <a16:creationId xmlns:a16="http://schemas.microsoft.com/office/drawing/2014/main" id="{D731D2F0-FD95-4AC9-8B34-93F41EB01799}"/>
              </a:ext>
            </a:extLst>
          </p:cNvPr>
          <p:cNvGrpSpPr/>
          <p:nvPr/>
        </p:nvGrpSpPr>
        <p:grpSpPr>
          <a:xfrm>
            <a:off x="6690707" y="2013410"/>
            <a:ext cx="4564200" cy="3238652"/>
            <a:chOff x="505640" y="276708"/>
            <a:chExt cx="4564200" cy="3238652"/>
          </a:xfrm>
        </p:grpSpPr>
        <p:pic>
          <p:nvPicPr>
            <p:cNvPr id="45" name="Picture 44">
              <a:extLst>
                <a:ext uri="{FF2B5EF4-FFF2-40B4-BE49-F238E27FC236}">
                  <a16:creationId xmlns:a16="http://schemas.microsoft.com/office/drawing/2014/main" id="{88820C42-F175-4F6A-AD3E-3FAB38934EC9}"/>
                </a:ext>
              </a:extLst>
            </p:cNvPr>
            <p:cNvPicPr>
              <a:picLocks noChangeAspect="1"/>
            </p:cNvPicPr>
            <p:nvPr/>
          </p:nvPicPr>
          <p:blipFill>
            <a:blip r:embed="rId4"/>
            <a:stretch>
              <a:fillRect/>
            </a:stretch>
          </p:blipFill>
          <p:spPr>
            <a:xfrm>
              <a:off x="505640" y="276708"/>
              <a:ext cx="4564200" cy="3238652"/>
            </a:xfrm>
            <a:prstGeom prst="rect">
              <a:avLst/>
            </a:prstGeom>
          </p:spPr>
        </p:pic>
        <p:sp>
          <p:nvSpPr>
            <p:cNvPr id="46" name="TextBox 45">
              <a:extLst>
                <a:ext uri="{FF2B5EF4-FFF2-40B4-BE49-F238E27FC236}">
                  <a16:creationId xmlns:a16="http://schemas.microsoft.com/office/drawing/2014/main" id="{D6B45999-B163-49EC-8BE8-2914681F6351}"/>
                </a:ext>
              </a:extLst>
            </p:cNvPr>
            <p:cNvSpPr txBox="1"/>
            <p:nvPr/>
          </p:nvSpPr>
          <p:spPr>
            <a:xfrm>
              <a:off x="1439956" y="700297"/>
              <a:ext cx="673893" cy="369332"/>
            </a:xfrm>
            <a:prstGeom prst="rect">
              <a:avLst/>
            </a:prstGeom>
            <a:noFill/>
          </p:spPr>
          <p:txBody>
            <a:bodyPr wrap="square" rtlCol="0">
              <a:spAutoFit/>
            </a:bodyPr>
            <a:lstStyle/>
            <a:p>
              <a:r>
                <a:rPr lang="en-IN" dirty="0"/>
                <a:t>Fig 2</a:t>
              </a:r>
            </a:p>
          </p:txBody>
        </p:sp>
      </p:grpSp>
      <p:sp>
        <p:nvSpPr>
          <p:cNvPr id="47" name="TextBox 46">
            <a:extLst>
              <a:ext uri="{FF2B5EF4-FFF2-40B4-BE49-F238E27FC236}">
                <a16:creationId xmlns:a16="http://schemas.microsoft.com/office/drawing/2014/main" id="{FFF8A82A-0298-4C2E-85BA-600641331C6E}"/>
              </a:ext>
            </a:extLst>
          </p:cNvPr>
          <p:cNvSpPr txBox="1"/>
          <p:nvPr/>
        </p:nvSpPr>
        <p:spPr>
          <a:xfrm>
            <a:off x="7162800" y="5456932"/>
            <a:ext cx="4714240" cy="923330"/>
          </a:xfrm>
          <a:prstGeom prst="rect">
            <a:avLst/>
          </a:prstGeom>
          <a:noFill/>
        </p:spPr>
        <p:txBody>
          <a:bodyPr wrap="square" rtlCol="0">
            <a:spAutoFit/>
          </a:bodyPr>
          <a:lstStyle/>
          <a:p>
            <a:pPr algn="just"/>
            <a:r>
              <a:rPr lang="en-IN" dirty="0"/>
              <a:t>Fig 2: </a:t>
            </a:r>
            <a:r>
              <a:rPr lang="en-US" dirty="0"/>
              <a:t>In the above boxplot of </a:t>
            </a:r>
            <a:r>
              <a:rPr lang="en-US" dirty="0" err="1"/>
              <a:t>AMT_Annuity</a:t>
            </a:r>
            <a:r>
              <a:rPr lang="en-US" dirty="0"/>
              <a:t>, we can observe some outliers. Max loan annuity at 2.5L appears to be an outlier here.</a:t>
            </a:r>
            <a:endParaRPr lang="en-IN" dirty="0"/>
          </a:p>
        </p:txBody>
      </p:sp>
    </p:spTree>
    <p:extLst>
      <p:ext uri="{BB962C8B-B14F-4D97-AF65-F5344CB8AC3E}">
        <p14:creationId xmlns:p14="http://schemas.microsoft.com/office/powerpoint/2010/main" val="3665702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03BA857-5BAF-4607-87CB-E07C88118AA4}"/>
              </a:ext>
            </a:extLst>
          </p:cNvPr>
          <p:cNvGrpSpPr/>
          <p:nvPr/>
        </p:nvGrpSpPr>
        <p:grpSpPr>
          <a:xfrm>
            <a:off x="670560" y="315020"/>
            <a:ext cx="4076903" cy="3063180"/>
            <a:chOff x="4010299" y="2885500"/>
            <a:chExt cx="3896924" cy="2802136"/>
          </a:xfrm>
        </p:grpSpPr>
        <p:pic>
          <p:nvPicPr>
            <p:cNvPr id="6" name="Picture 5">
              <a:extLst>
                <a:ext uri="{FF2B5EF4-FFF2-40B4-BE49-F238E27FC236}">
                  <a16:creationId xmlns:a16="http://schemas.microsoft.com/office/drawing/2014/main" id="{20BC99E2-75CB-4251-9B5C-84E538DAF48C}"/>
                </a:ext>
              </a:extLst>
            </p:cNvPr>
            <p:cNvPicPr>
              <a:picLocks noChangeAspect="1"/>
            </p:cNvPicPr>
            <p:nvPr/>
          </p:nvPicPr>
          <p:blipFill>
            <a:blip r:embed="rId2"/>
            <a:stretch>
              <a:fillRect/>
            </a:stretch>
          </p:blipFill>
          <p:spPr>
            <a:xfrm>
              <a:off x="4010299" y="2885500"/>
              <a:ext cx="3896924" cy="2802136"/>
            </a:xfrm>
            <a:prstGeom prst="rect">
              <a:avLst/>
            </a:prstGeom>
          </p:spPr>
        </p:pic>
        <p:sp>
          <p:nvSpPr>
            <p:cNvPr id="7" name="TextBox 6">
              <a:extLst>
                <a:ext uri="{FF2B5EF4-FFF2-40B4-BE49-F238E27FC236}">
                  <a16:creationId xmlns:a16="http://schemas.microsoft.com/office/drawing/2014/main" id="{06A329CB-BA81-4672-BFBA-2723B9FB7DD7}"/>
                </a:ext>
              </a:extLst>
            </p:cNvPr>
            <p:cNvSpPr txBox="1"/>
            <p:nvPr/>
          </p:nvSpPr>
          <p:spPr>
            <a:xfrm>
              <a:off x="4765040" y="3523794"/>
              <a:ext cx="619760" cy="369332"/>
            </a:xfrm>
            <a:prstGeom prst="rect">
              <a:avLst/>
            </a:prstGeom>
            <a:noFill/>
          </p:spPr>
          <p:txBody>
            <a:bodyPr wrap="square" rtlCol="0">
              <a:spAutoFit/>
            </a:bodyPr>
            <a:lstStyle/>
            <a:p>
              <a:r>
                <a:rPr lang="en-IN" dirty="0"/>
                <a:t>Fig 3</a:t>
              </a:r>
            </a:p>
          </p:txBody>
        </p:sp>
      </p:grpSp>
      <p:grpSp>
        <p:nvGrpSpPr>
          <p:cNvPr id="8" name="Group 7">
            <a:extLst>
              <a:ext uri="{FF2B5EF4-FFF2-40B4-BE49-F238E27FC236}">
                <a16:creationId xmlns:a16="http://schemas.microsoft.com/office/drawing/2014/main" id="{1D1CB623-7B42-472F-A8E4-C9EE2991F9F9}"/>
              </a:ext>
            </a:extLst>
          </p:cNvPr>
          <p:cNvGrpSpPr/>
          <p:nvPr/>
        </p:nvGrpSpPr>
        <p:grpSpPr>
          <a:xfrm>
            <a:off x="6767434" y="242917"/>
            <a:ext cx="4386377" cy="3047941"/>
            <a:chOff x="7756416" y="470052"/>
            <a:chExt cx="4344144" cy="2997354"/>
          </a:xfrm>
        </p:grpSpPr>
        <p:pic>
          <p:nvPicPr>
            <p:cNvPr id="9" name="Picture 8">
              <a:extLst>
                <a:ext uri="{FF2B5EF4-FFF2-40B4-BE49-F238E27FC236}">
                  <a16:creationId xmlns:a16="http://schemas.microsoft.com/office/drawing/2014/main" id="{5FA52AD9-96AE-4E13-B309-C4B411467AF5}"/>
                </a:ext>
              </a:extLst>
            </p:cNvPr>
            <p:cNvPicPr>
              <a:picLocks noChangeAspect="1"/>
            </p:cNvPicPr>
            <p:nvPr/>
          </p:nvPicPr>
          <p:blipFill rotWithShape="1">
            <a:blip r:embed="rId3"/>
            <a:srcRect l="2493" r="3281"/>
            <a:stretch/>
          </p:blipFill>
          <p:spPr>
            <a:xfrm>
              <a:off x="7756416" y="470052"/>
              <a:ext cx="4344144" cy="2997354"/>
            </a:xfrm>
            <a:prstGeom prst="rect">
              <a:avLst/>
            </a:prstGeom>
          </p:spPr>
        </p:pic>
        <p:sp>
          <p:nvSpPr>
            <p:cNvPr id="10" name="TextBox 9">
              <a:extLst>
                <a:ext uri="{FF2B5EF4-FFF2-40B4-BE49-F238E27FC236}">
                  <a16:creationId xmlns:a16="http://schemas.microsoft.com/office/drawing/2014/main" id="{B2D2E28F-31F1-4EE9-8A9C-9E3FC2B6D391}"/>
                </a:ext>
              </a:extLst>
            </p:cNvPr>
            <p:cNvSpPr txBox="1"/>
            <p:nvPr/>
          </p:nvSpPr>
          <p:spPr>
            <a:xfrm>
              <a:off x="8473440" y="2589074"/>
              <a:ext cx="619760" cy="369332"/>
            </a:xfrm>
            <a:prstGeom prst="rect">
              <a:avLst/>
            </a:prstGeom>
            <a:noFill/>
          </p:spPr>
          <p:txBody>
            <a:bodyPr wrap="square" rtlCol="0">
              <a:spAutoFit/>
            </a:bodyPr>
            <a:lstStyle/>
            <a:p>
              <a:r>
                <a:rPr lang="en-IN" dirty="0"/>
                <a:t>Fig 4</a:t>
              </a:r>
            </a:p>
          </p:txBody>
        </p:sp>
      </p:grpSp>
      <p:sp>
        <p:nvSpPr>
          <p:cNvPr id="14" name="TextBox 13">
            <a:extLst>
              <a:ext uri="{FF2B5EF4-FFF2-40B4-BE49-F238E27FC236}">
                <a16:creationId xmlns:a16="http://schemas.microsoft.com/office/drawing/2014/main" id="{0215613C-8ECE-4726-A6E7-74447A73DA7F}"/>
              </a:ext>
            </a:extLst>
          </p:cNvPr>
          <p:cNvSpPr txBox="1"/>
          <p:nvPr/>
        </p:nvSpPr>
        <p:spPr>
          <a:xfrm>
            <a:off x="467360" y="3769360"/>
            <a:ext cx="4907280" cy="2308324"/>
          </a:xfrm>
          <a:prstGeom prst="rect">
            <a:avLst/>
          </a:prstGeom>
          <a:noFill/>
        </p:spPr>
        <p:txBody>
          <a:bodyPr wrap="square" rtlCol="0">
            <a:spAutoFit/>
          </a:bodyPr>
          <a:lstStyle/>
          <a:p>
            <a:pPr algn="just"/>
            <a:r>
              <a:rPr lang="en-IN" dirty="0"/>
              <a:t>Fig 3: </a:t>
            </a:r>
            <a:r>
              <a:rPr lang="en-US" b="0" i="0" dirty="0">
                <a:solidFill>
                  <a:srgbClr val="000000"/>
                </a:solidFill>
                <a:effectLst/>
              </a:rPr>
              <a:t>In the above boxplot of DAYS_EMPLOYED, there is values near to 50 years is surely outlier. As per DAYS_BIRTH data, applicants Max age here is 69 years. Considering that, lets say applicant started working early in 21 years to which if we add the outlier values (ex: 21+49) that gives applicant age as 70-- serving in the same office where he/she started without retirement?!..</a:t>
            </a:r>
            <a:endParaRPr lang="en-IN" dirty="0"/>
          </a:p>
        </p:txBody>
      </p:sp>
      <p:cxnSp>
        <p:nvCxnSpPr>
          <p:cNvPr id="16" name="Straight Arrow Connector 15">
            <a:extLst>
              <a:ext uri="{FF2B5EF4-FFF2-40B4-BE49-F238E27FC236}">
                <a16:creationId xmlns:a16="http://schemas.microsoft.com/office/drawing/2014/main" id="{19BE6064-664B-4CC4-8B06-F0A9A1424B6D}"/>
              </a:ext>
            </a:extLst>
          </p:cNvPr>
          <p:cNvCxnSpPr>
            <a:cxnSpLocks/>
          </p:cNvCxnSpPr>
          <p:nvPr/>
        </p:nvCxnSpPr>
        <p:spPr>
          <a:xfrm flipH="1" flipV="1">
            <a:off x="2844800" y="680720"/>
            <a:ext cx="711200" cy="27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0810D3C-2B23-422F-AF49-AAE1B53C3ABD}"/>
              </a:ext>
            </a:extLst>
          </p:cNvPr>
          <p:cNvSpPr txBox="1"/>
          <p:nvPr/>
        </p:nvSpPr>
        <p:spPr>
          <a:xfrm>
            <a:off x="6888480" y="3769360"/>
            <a:ext cx="4265331" cy="1477328"/>
          </a:xfrm>
          <a:prstGeom prst="rect">
            <a:avLst/>
          </a:prstGeom>
          <a:noFill/>
        </p:spPr>
        <p:txBody>
          <a:bodyPr wrap="square" rtlCol="0">
            <a:spAutoFit/>
          </a:bodyPr>
          <a:lstStyle/>
          <a:p>
            <a:pPr algn="just"/>
            <a:r>
              <a:rPr lang="en-US" b="0" i="0" dirty="0">
                <a:solidFill>
                  <a:srgbClr val="000000"/>
                </a:solidFill>
                <a:effectLst/>
              </a:rPr>
              <a:t>Fig 4: In the above boxplot of </a:t>
            </a:r>
            <a:r>
              <a:rPr lang="en-US" b="0" i="0" dirty="0" err="1">
                <a:solidFill>
                  <a:srgbClr val="000000"/>
                </a:solidFill>
                <a:effectLst/>
              </a:rPr>
              <a:t>AMT_Credit</a:t>
            </a:r>
            <a:r>
              <a:rPr lang="en-US" b="0" i="0" dirty="0">
                <a:solidFill>
                  <a:srgbClr val="000000"/>
                </a:solidFill>
                <a:effectLst/>
              </a:rPr>
              <a:t>, we can observe some outliers. Considering the income of the applicant loan credit can vary and can't deem Max loan credited (4 Million) as outlier.</a:t>
            </a:r>
            <a:endParaRPr lang="en-IN" dirty="0"/>
          </a:p>
        </p:txBody>
      </p:sp>
    </p:spTree>
    <p:extLst>
      <p:ext uri="{BB962C8B-B14F-4D97-AF65-F5344CB8AC3E}">
        <p14:creationId xmlns:p14="http://schemas.microsoft.com/office/powerpoint/2010/main" val="1234576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92814A89-98DC-4CDF-A747-2BA651F6DFC9}"/>
              </a:ext>
            </a:extLst>
          </p:cNvPr>
          <p:cNvSpPr txBox="1"/>
          <p:nvPr/>
        </p:nvSpPr>
        <p:spPr>
          <a:xfrm>
            <a:off x="304800" y="3397863"/>
            <a:ext cx="11673840" cy="646331"/>
          </a:xfrm>
          <a:prstGeom prst="rect">
            <a:avLst/>
          </a:prstGeom>
          <a:noFill/>
        </p:spPr>
        <p:txBody>
          <a:bodyPr wrap="square" rtlCol="0">
            <a:spAutoFit/>
          </a:bodyPr>
          <a:lstStyle/>
          <a:p>
            <a:pPr algn="just"/>
            <a:r>
              <a:rPr lang="en-IN" dirty="0">
                <a:solidFill>
                  <a:srgbClr val="000000"/>
                </a:solidFill>
              </a:rPr>
              <a:t>Next, </a:t>
            </a:r>
            <a:r>
              <a:rPr lang="en-US" i="0" dirty="0">
                <a:solidFill>
                  <a:srgbClr val="000000"/>
                </a:solidFill>
                <a:effectLst/>
              </a:rPr>
              <a:t>creating bins for </a:t>
            </a:r>
            <a:r>
              <a:rPr lang="en-IN" i="0" dirty="0">
                <a:solidFill>
                  <a:srgbClr val="000000"/>
                </a:solidFill>
                <a:effectLst/>
              </a:rPr>
              <a:t>Continuous variables/columns:</a:t>
            </a:r>
            <a:r>
              <a:rPr lang="en-US" i="0" dirty="0">
                <a:solidFill>
                  <a:srgbClr val="000000"/>
                </a:solidFill>
                <a:effectLst/>
              </a:rPr>
              <a:t> AMT_INCOME_TOTAL, AMT_CREDIT and DAYS_BIRTH </a:t>
            </a:r>
            <a:r>
              <a:rPr lang="en-IN" i="0" dirty="0">
                <a:solidFill>
                  <a:srgbClr val="000000"/>
                </a:solidFill>
                <a:effectLst/>
              </a:rPr>
              <a:t>for further analysis.</a:t>
            </a:r>
            <a:endParaRPr lang="en-IN" dirty="0"/>
          </a:p>
        </p:txBody>
      </p:sp>
      <p:pic>
        <p:nvPicPr>
          <p:cNvPr id="14" name="Picture 13">
            <a:extLst>
              <a:ext uri="{FF2B5EF4-FFF2-40B4-BE49-F238E27FC236}">
                <a16:creationId xmlns:a16="http://schemas.microsoft.com/office/drawing/2014/main" id="{EBEC194B-846A-416F-BE20-8A06C76AEC6D}"/>
              </a:ext>
            </a:extLst>
          </p:cNvPr>
          <p:cNvPicPr>
            <a:picLocks noChangeAspect="1"/>
          </p:cNvPicPr>
          <p:nvPr/>
        </p:nvPicPr>
        <p:blipFill>
          <a:blip r:embed="rId2"/>
          <a:stretch>
            <a:fillRect/>
          </a:stretch>
        </p:blipFill>
        <p:spPr>
          <a:xfrm>
            <a:off x="3647440" y="4117213"/>
            <a:ext cx="8287176" cy="2476627"/>
          </a:xfrm>
          <a:prstGeom prst="rect">
            <a:avLst/>
          </a:prstGeom>
        </p:spPr>
      </p:pic>
      <p:grpSp>
        <p:nvGrpSpPr>
          <p:cNvPr id="18" name="Group 17">
            <a:extLst>
              <a:ext uri="{FF2B5EF4-FFF2-40B4-BE49-F238E27FC236}">
                <a16:creationId xmlns:a16="http://schemas.microsoft.com/office/drawing/2014/main" id="{4F05BA12-D211-4882-9FB2-6EE310D4D6E0}"/>
              </a:ext>
            </a:extLst>
          </p:cNvPr>
          <p:cNvGrpSpPr/>
          <p:nvPr/>
        </p:nvGrpSpPr>
        <p:grpSpPr>
          <a:xfrm>
            <a:off x="304800" y="231272"/>
            <a:ext cx="4191345" cy="2905700"/>
            <a:chOff x="461536" y="4498352"/>
            <a:chExt cx="3393440" cy="2479008"/>
          </a:xfrm>
        </p:grpSpPr>
        <p:pic>
          <p:nvPicPr>
            <p:cNvPr id="19" name="Picture 18">
              <a:extLst>
                <a:ext uri="{FF2B5EF4-FFF2-40B4-BE49-F238E27FC236}">
                  <a16:creationId xmlns:a16="http://schemas.microsoft.com/office/drawing/2014/main" id="{2B343770-01D2-47EA-98DA-692A30D3B164}"/>
                </a:ext>
              </a:extLst>
            </p:cNvPr>
            <p:cNvPicPr>
              <a:picLocks noChangeAspect="1"/>
            </p:cNvPicPr>
            <p:nvPr/>
          </p:nvPicPr>
          <p:blipFill>
            <a:blip r:embed="rId3"/>
            <a:stretch>
              <a:fillRect/>
            </a:stretch>
          </p:blipFill>
          <p:spPr>
            <a:xfrm>
              <a:off x="461536" y="4498352"/>
              <a:ext cx="3393440" cy="2479008"/>
            </a:xfrm>
            <a:prstGeom prst="rect">
              <a:avLst/>
            </a:prstGeom>
          </p:spPr>
        </p:pic>
        <p:sp>
          <p:nvSpPr>
            <p:cNvPr id="20" name="TextBox 19">
              <a:extLst>
                <a:ext uri="{FF2B5EF4-FFF2-40B4-BE49-F238E27FC236}">
                  <a16:creationId xmlns:a16="http://schemas.microsoft.com/office/drawing/2014/main" id="{923A1797-4697-4BB5-8D86-7A2007C5B570}"/>
                </a:ext>
              </a:extLst>
            </p:cNvPr>
            <p:cNvSpPr txBox="1"/>
            <p:nvPr/>
          </p:nvSpPr>
          <p:spPr>
            <a:xfrm>
              <a:off x="2895600" y="4864914"/>
              <a:ext cx="619760" cy="315097"/>
            </a:xfrm>
            <a:prstGeom prst="rect">
              <a:avLst/>
            </a:prstGeom>
            <a:noFill/>
          </p:spPr>
          <p:txBody>
            <a:bodyPr wrap="square" rtlCol="0">
              <a:spAutoFit/>
            </a:bodyPr>
            <a:lstStyle/>
            <a:p>
              <a:r>
                <a:rPr lang="en-IN" dirty="0"/>
                <a:t>Fig 5</a:t>
              </a:r>
            </a:p>
          </p:txBody>
        </p:sp>
      </p:grpSp>
      <p:sp>
        <p:nvSpPr>
          <p:cNvPr id="21" name="TextBox 20">
            <a:extLst>
              <a:ext uri="{FF2B5EF4-FFF2-40B4-BE49-F238E27FC236}">
                <a16:creationId xmlns:a16="http://schemas.microsoft.com/office/drawing/2014/main" id="{C81D6C14-6277-4AC7-B9D5-56346225A2E9}"/>
              </a:ext>
            </a:extLst>
          </p:cNvPr>
          <p:cNvSpPr txBox="1"/>
          <p:nvPr/>
        </p:nvSpPr>
        <p:spPr>
          <a:xfrm>
            <a:off x="4637697" y="1172733"/>
            <a:ext cx="4429760" cy="646331"/>
          </a:xfrm>
          <a:prstGeom prst="rect">
            <a:avLst/>
          </a:prstGeom>
          <a:noFill/>
        </p:spPr>
        <p:txBody>
          <a:bodyPr wrap="square" rtlCol="0">
            <a:spAutoFit/>
          </a:bodyPr>
          <a:lstStyle/>
          <a:p>
            <a:pPr algn="just"/>
            <a:r>
              <a:rPr lang="en-IN" dirty="0"/>
              <a:t>Fig 5: </a:t>
            </a:r>
            <a:r>
              <a:rPr lang="en-US" b="0" i="0" dirty="0">
                <a:solidFill>
                  <a:srgbClr val="000000"/>
                </a:solidFill>
                <a:effectLst/>
              </a:rPr>
              <a:t>In the above boxplot of DAY_BIRTH, there are no outliers w.r.t age.</a:t>
            </a:r>
            <a:endParaRPr lang="en-IN" dirty="0"/>
          </a:p>
        </p:txBody>
      </p:sp>
      <p:pic>
        <p:nvPicPr>
          <p:cNvPr id="22" name="Graphic 21" descr="Back with solid fill">
            <a:extLst>
              <a:ext uri="{FF2B5EF4-FFF2-40B4-BE49-F238E27FC236}">
                <a16:creationId xmlns:a16="http://schemas.microsoft.com/office/drawing/2014/main" id="{B0BA561D-FC02-412B-B423-9807422E41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98799" y="4355091"/>
            <a:ext cx="595131" cy="595131"/>
          </a:xfrm>
          <a:prstGeom prst="rect">
            <a:avLst/>
          </a:prstGeom>
        </p:spPr>
      </p:pic>
      <p:sp>
        <p:nvSpPr>
          <p:cNvPr id="23" name="TextBox 22">
            <a:extLst>
              <a:ext uri="{FF2B5EF4-FFF2-40B4-BE49-F238E27FC236}">
                <a16:creationId xmlns:a16="http://schemas.microsoft.com/office/drawing/2014/main" id="{4DA2B348-7BA8-40C4-8AF6-3959E1EBACB6}"/>
              </a:ext>
            </a:extLst>
          </p:cNvPr>
          <p:cNvSpPr txBox="1"/>
          <p:nvPr/>
        </p:nvSpPr>
        <p:spPr>
          <a:xfrm>
            <a:off x="914400" y="4775200"/>
            <a:ext cx="2499360" cy="1477328"/>
          </a:xfrm>
          <a:prstGeom prst="rect">
            <a:avLst/>
          </a:prstGeom>
          <a:noFill/>
        </p:spPr>
        <p:txBody>
          <a:bodyPr wrap="square" rtlCol="0">
            <a:spAutoFit/>
          </a:bodyPr>
          <a:lstStyle/>
          <a:p>
            <a:pPr algn="just"/>
            <a:r>
              <a:rPr lang="en-US" dirty="0"/>
              <a:t> ‘DAYS_BIRTH’ column had data in number of days, which were  converted to years (age of the applicants) here</a:t>
            </a:r>
            <a:endParaRPr lang="en-IN" dirty="0"/>
          </a:p>
        </p:txBody>
      </p:sp>
    </p:spTree>
    <p:extLst>
      <p:ext uri="{BB962C8B-B14F-4D97-AF65-F5344CB8AC3E}">
        <p14:creationId xmlns:p14="http://schemas.microsoft.com/office/powerpoint/2010/main" val="3787087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FCC604-36BB-48A3-8F51-339B5097741F}"/>
              </a:ext>
            </a:extLst>
          </p:cNvPr>
          <p:cNvPicPr>
            <a:picLocks noChangeAspect="1"/>
          </p:cNvPicPr>
          <p:nvPr/>
        </p:nvPicPr>
        <p:blipFill>
          <a:blip r:embed="rId2"/>
          <a:stretch>
            <a:fillRect/>
          </a:stretch>
        </p:blipFill>
        <p:spPr>
          <a:xfrm>
            <a:off x="214415" y="547302"/>
            <a:ext cx="8388781" cy="2654436"/>
          </a:xfrm>
          <a:prstGeom prst="rect">
            <a:avLst/>
          </a:prstGeom>
          <a:ln>
            <a:solidFill>
              <a:schemeClr val="tx1"/>
            </a:solidFill>
          </a:ln>
        </p:spPr>
      </p:pic>
      <p:pic>
        <p:nvPicPr>
          <p:cNvPr id="9" name="Picture 8">
            <a:extLst>
              <a:ext uri="{FF2B5EF4-FFF2-40B4-BE49-F238E27FC236}">
                <a16:creationId xmlns:a16="http://schemas.microsoft.com/office/drawing/2014/main" id="{6DD7E744-297F-4D1A-953C-40A2C4820D37}"/>
              </a:ext>
            </a:extLst>
          </p:cNvPr>
          <p:cNvPicPr>
            <a:picLocks noChangeAspect="1"/>
          </p:cNvPicPr>
          <p:nvPr/>
        </p:nvPicPr>
        <p:blipFill>
          <a:blip r:embed="rId3"/>
          <a:stretch>
            <a:fillRect/>
          </a:stretch>
        </p:blipFill>
        <p:spPr>
          <a:xfrm>
            <a:off x="3719615" y="3235776"/>
            <a:ext cx="8369730" cy="3581584"/>
          </a:xfrm>
          <a:prstGeom prst="rect">
            <a:avLst/>
          </a:prstGeom>
          <a:ln>
            <a:solidFill>
              <a:schemeClr val="tx1"/>
            </a:solidFill>
          </a:ln>
        </p:spPr>
      </p:pic>
      <p:sp>
        <p:nvSpPr>
          <p:cNvPr id="10" name="Title 1">
            <a:extLst>
              <a:ext uri="{FF2B5EF4-FFF2-40B4-BE49-F238E27FC236}">
                <a16:creationId xmlns:a16="http://schemas.microsoft.com/office/drawing/2014/main" id="{664DA1C1-E8A5-49D2-A603-BAFF924F12DB}"/>
              </a:ext>
            </a:extLst>
          </p:cNvPr>
          <p:cNvSpPr>
            <a:spLocks noGrp="1"/>
          </p:cNvSpPr>
          <p:nvPr>
            <p:ph type="title"/>
          </p:nvPr>
        </p:nvSpPr>
        <p:spPr>
          <a:xfrm>
            <a:off x="3098800" y="40005"/>
            <a:ext cx="4805680" cy="549275"/>
          </a:xfrm>
        </p:spPr>
        <p:txBody>
          <a:bodyPr>
            <a:normAutofit/>
          </a:bodyPr>
          <a:lstStyle/>
          <a:p>
            <a:r>
              <a:rPr lang="en-IN" sz="2400" b="1" i="0" dirty="0">
                <a:solidFill>
                  <a:srgbClr val="000000"/>
                </a:solidFill>
                <a:effectLst/>
                <a:latin typeface="inherit"/>
              </a:rPr>
              <a:t>Binning of Continuous variables</a:t>
            </a:r>
            <a:endParaRPr lang="en-IN" sz="2400" dirty="0">
              <a:latin typeface="inherit"/>
            </a:endParaRPr>
          </a:p>
        </p:txBody>
      </p:sp>
      <p:sp>
        <p:nvSpPr>
          <p:cNvPr id="11" name="Speech Bubble: Rectangle with Corners Rounded 10">
            <a:extLst>
              <a:ext uri="{FF2B5EF4-FFF2-40B4-BE49-F238E27FC236}">
                <a16:creationId xmlns:a16="http://schemas.microsoft.com/office/drawing/2014/main" id="{A7AC3D2C-1882-4E27-8BE7-667D9382CC6C}"/>
              </a:ext>
            </a:extLst>
          </p:cNvPr>
          <p:cNvSpPr/>
          <p:nvPr/>
        </p:nvSpPr>
        <p:spPr>
          <a:xfrm>
            <a:off x="8727440" y="762000"/>
            <a:ext cx="3250145" cy="1676400"/>
          </a:xfrm>
          <a:prstGeom prst="wedgeRoundRectCallout">
            <a:avLst>
              <a:gd name="adj1" fmla="val -69286"/>
              <a:gd name="adj2" fmla="val -18712"/>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4CFE6E2-7C69-422B-9827-61C7E357DC90}"/>
              </a:ext>
            </a:extLst>
          </p:cNvPr>
          <p:cNvSpPr txBox="1"/>
          <p:nvPr/>
        </p:nvSpPr>
        <p:spPr>
          <a:xfrm>
            <a:off x="8818879" y="873760"/>
            <a:ext cx="3158705" cy="1569660"/>
          </a:xfrm>
          <a:prstGeom prst="rect">
            <a:avLst/>
          </a:prstGeom>
          <a:noFill/>
        </p:spPr>
        <p:txBody>
          <a:bodyPr wrap="square" rtlCol="0">
            <a:spAutoFit/>
          </a:bodyPr>
          <a:lstStyle/>
          <a:p>
            <a:pPr algn="just"/>
            <a:r>
              <a:rPr lang="en-IN" sz="1600" dirty="0"/>
              <a:t>‘</a:t>
            </a:r>
            <a:r>
              <a:rPr lang="en-IN" sz="1600" b="0" i="0" dirty="0">
                <a:solidFill>
                  <a:srgbClr val="000000"/>
                </a:solidFill>
                <a:effectLst/>
              </a:rPr>
              <a:t>AMT_INCOME_TOTAL’ and ‘ AMT_CREDIT’ </a:t>
            </a:r>
            <a:r>
              <a:rPr lang="en-IN" sz="1600" dirty="0">
                <a:solidFill>
                  <a:srgbClr val="000000"/>
                </a:solidFill>
              </a:rPr>
              <a:t>numerical data </a:t>
            </a:r>
            <a:r>
              <a:rPr lang="en-IN" sz="1600" b="0" i="0" dirty="0">
                <a:solidFill>
                  <a:srgbClr val="000000"/>
                </a:solidFill>
                <a:effectLst/>
              </a:rPr>
              <a:t>were converted to categorical data based on range buckets by creating new col ‘AMT_INCOME_RANGE’ and ‘AMT_CREDIT_RANGE’.</a:t>
            </a:r>
            <a:endParaRPr lang="en-IN" sz="1600" dirty="0"/>
          </a:p>
        </p:txBody>
      </p:sp>
      <p:sp>
        <p:nvSpPr>
          <p:cNvPr id="13" name="TextBox 12">
            <a:extLst>
              <a:ext uri="{FF2B5EF4-FFF2-40B4-BE49-F238E27FC236}">
                <a16:creationId xmlns:a16="http://schemas.microsoft.com/office/drawing/2014/main" id="{54820F71-F724-4DE7-9398-FDF793CD62C0}"/>
              </a:ext>
            </a:extLst>
          </p:cNvPr>
          <p:cNvSpPr txBox="1"/>
          <p:nvPr/>
        </p:nvSpPr>
        <p:spPr>
          <a:xfrm>
            <a:off x="193040" y="4155440"/>
            <a:ext cx="3331425" cy="1323439"/>
          </a:xfrm>
          <a:prstGeom prst="rect">
            <a:avLst/>
          </a:prstGeom>
          <a:noFill/>
        </p:spPr>
        <p:txBody>
          <a:bodyPr wrap="square" rtlCol="0">
            <a:spAutoFit/>
          </a:bodyPr>
          <a:lstStyle/>
          <a:p>
            <a:pPr algn="just"/>
            <a:r>
              <a:rPr lang="en-IN" sz="1600" dirty="0">
                <a:solidFill>
                  <a:srgbClr val="000000"/>
                </a:solidFill>
              </a:rPr>
              <a:t>Similarly,  applicant ‘Age’</a:t>
            </a:r>
            <a:r>
              <a:rPr lang="en-IN" sz="1600" b="0" i="0" dirty="0">
                <a:solidFill>
                  <a:srgbClr val="000000"/>
                </a:solidFill>
                <a:effectLst/>
              </a:rPr>
              <a:t> </a:t>
            </a:r>
            <a:r>
              <a:rPr lang="en-IN" sz="1600" dirty="0">
                <a:solidFill>
                  <a:srgbClr val="000000"/>
                </a:solidFill>
              </a:rPr>
              <a:t>numerical data </a:t>
            </a:r>
            <a:r>
              <a:rPr lang="en-IN" sz="1600" b="0" i="0" dirty="0">
                <a:solidFill>
                  <a:srgbClr val="000000"/>
                </a:solidFill>
                <a:effectLst/>
              </a:rPr>
              <a:t>were converted to categorical data based on range buckets by creating new column ‘DAYS_BIRTH_RANGE’</a:t>
            </a:r>
            <a:endParaRPr lang="en-IN" sz="1600" dirty="0"/>
          </a:p>
        </p:txBody>
      </p:sp>
      <p:sp>
        <p:nvSpPr>
          <p:cNvPr id="14" name="Speech Bubble: Rectangle with Corners Rounded 13">
            <a:extLst>
              <a:ext uri="{FF2B5EF4-FFF2-40B4-BE49-F238E27FC236}">
                <a16:creationId xmlns:a16="http://schemas.microsoft.com/office/drawing/2014/main" id="{5DE40CAD-4E09-4DEE-B720-56E4DEF26E2F}"/>
              </a:ext>
            </a:extLst>
          </p:cNvPr>
          <p:cNvSpPr/>
          <p:nvPr/>
        </p:nvSpPr>
        <p:spPr>
          <a:xfrm>
            <a:off x="214415" y="4023360"/>
            <a:ext cx="3270464" cy="1567279"/>
          </a:xfrm>
          <a:prstGeom prst="wedgeRoundRectCallout">
            <a:avLst>
              <a:gd name="adj1" fmla="val 64695"/>
              <a:gd name="adj2" fmla="val -3882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39997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2ABD1-80CB-42F7-A451-EE4FC981B039}"/>
              </a:ext>
            </a:extLst>
          </p:cNvPr>
          <p:cNvSpPr>
            <a:spLocks noGrp="1"/>
          </p:cNvSpPr>
          <p:nvPr>
            <p:ph type="title"/>
          </p:nvPr>
        </p:nvSpPr>
        <p:spPr>
          <a:xfrm>
            <a:off x="162560" y="151765"/>
            <a:ext cx="11795760" cy="620395"/>
          </a:xfrm>
        </p:spPr>
        <p:txBody>
          <a:bodyPr>
            <a:normAutofit/>
          </a:bodyPr>
          <a:lstStyle/>
          <a:p>
            <a:r>
              <a:rPr lang="en-US" sz="2400" b="1" dirty="0">
                <a:latin typeface="inherit"/>
              </a:rPr>
              <a:t>Imbalance Percentage between 1(Defaulter) and 0 (Non-Defaulter), in Target variable:</a:t>
            </a:r>
            <a:endParaRPr lang="en-IN" sz="2400" b="1" dirty="0">
              <a:latin typeface="inherit"/>
            </a:endParaRPr>
          </a:p>
        </p:txBody>
      </p:sp>
      <p:pic>
        <p:nvPicPr>
          <p:cNvPr id="5" name="Picture 4">
            <a:extLst>
              <a:ext uri="{FF2B5EF4-FFF2-40B4-BE49-F238E27FC236}">
                <a16:creationId xmlns:a16="http://schemas.microsoft.com/office/drawing/2014/main" id="{3B808836-5A1C-4C40-B0FB-26670972E6FF}"/>
              </a:ext>
            </a:extLst>
          </p:cNvPr>
          <p:cNvPicPr>
            <a:picLocks noChangeAspect="1"/>
          </p:cNvPicPr>
          <p:nvPr/>
        </p:nvPicPr>
        <p:blipFill rotWithShape="1">
          <a:blip r:embed="rId2"/>
          <a:srcRect t="11111" r="30016"/>
          <a:stretch/>
        </p:blipFill>
        <p:spPr>
          <a:xfrm>
            <a:off x="560489" y="2072640"/>
            <a:ext cx="5870791" cy="2438541"/>
          </a:xfrm>
          <a:prstGeom prst="rect">
            <a:avLst/>
          </a:prstGeom>
          <a:ln>
            <a:solidFill>
              <a:schemeClr val="tx1"/>
            </a:solidFill>
          </a:ln>
        </p:spPr>
      </p:pic>
      <p:sp>
        <p:nvSpPr>
          <p:cNvPr id="8" name="TextBox 7">
            <a:extLst>
              <a:ext uri="{FF2B5EF4-FFF2-40B4-BE49-F238E27FC236}">
                <a16:creationId xmlns:a16="http://schemas.microsoft.com/office/drawing/2014/main" id="{AC602085-A101-432A-8049-4C82270DC059}"/>
              </a:ext>
            </a:extLst>
          </p:cNvPr>
          <p:cNvSpPr txBox="1"/>
          <p:nvPr/>
        </p:nvSpPr>
        <p:spPr>
          <a:xfrm>
            <a:off x="6512560" y="4724541"/>
            <a:ext cx="5565990" cy="1754326"/>
          </a:xfrm>
          <a:prstGeom prst="rect">
            <a:avLst/>
          </a:prstGeom>
          <a:noFill/>
        </p:spPr>
        <p:txBody>
          <a:bodyPr wrap="square" rtlCol="0">
            <a:spAutoFit/>
          </a:bodyPr>
          <a:lstStyle/>
          <a:p>
            <a:r>
              <a:rPr lang="en-US" i="1" dirty="0"/>
              <a:t>Fig 6</a:t>
            </a:r>
            <a:r>
              <a:rPr lang="en-US" dirty="0"/>
              <a:t>:  We can observe </a:t>
            </a:r>
            <a:r>
              <a:rPr lang="en-US" u="sng" dirty="0"/>
              <a:t>majority of data is seen in Target_0 </a:t>
            </a:r>
            <a:r>
              <a:rPr lang="en-US" dirty="0"/>
              <a:t>(Non-Defaulter) dataset. Overall, </a:t>
            </a:r>
            <a:r>
              <a:rPr lang="en-US" u="sng" dirty="0"/>
              <a:t>8.31% clients are defaulter</a:t>
            </a:r>
            <a:r>
              <a:rPr lang="en-US" dirty="0"/>
              <a:t>s in the given dataset.</a:t>
            </a:r>
          </a:p>
          <a:p>
            <a:pPr algn="just"/>
            <a:r>
              <a:rPr lang="en-US" b="1" dirty="0"/>
              <a:t>Imbalance ratio is 11.03</a:t>
            </a:r>
            <a:r>
              <a:rPr lang="en-US" dirty="0"/>
              <a:t>. There is an imbalance in the target variable where 8.31% of the clients are found to be defaulter and 91.69% are found to be non-defaulter.</a:t>
            </a:r>
            <a:endParaRPr lang="en-IN" dirty="0"/>
          </a:p>
        </p:txBody>
      </p:sp>
      <p:grpSp>
        <p:nvGrpSpPr>
          <p:cNvPr id="18" name="Group 17">
            <a:extLst>
              <a:ext uri="{FF2B5EF4-FFF2-40B4-BE49-F238E27FC236}">
                <a16:creationId xmlns:a16="http://schemas.microsoft.com/office/drawing/2014/main" id="{26F2CA98-0953-43E8-94D2-B9F3F71E07C3}"/>
              </a:ext>
            </a:extLst>
          </p:cNvPr>
          <p:cNvGrpSpPr/>
          <p:nvPr/>
        </p:nvGrpSpPr>
        <p:grpSpPr>
          <a:xfrm>
            <a:off x="7159510" y="2122175"/>
            <a:ext cx="3904730" cy="2338065"/>
            <a:chOff x="8216150" y="1024895"/>
            <a:chExt cx="3904730" cy="2338065"/>
          </a:xfrm>
        </p:grpSpPr>
        <p:pic>
          <p:nvPicPr>
            <p:cNvPr id="7" name="Picture 6">
              <a:extLst>
                <a:ext uri="{FF2B5EF4-FFF2-40B4-BE49-F238E27FC236}">
                  <a16:creationId xmlns:a16="http://schemas.microsoft.com/office/drawing/2014/main" id="{5BBF2F1F-EAB1-4840-B582-91A7F40FF3FA}"/>
                </a:ext>
              </a:extLst>
            </p:cNvPr>
            <p:cNvPicPr>
              <a:picLocks noChangeAspect="1"/>
            </p:cNvPicPr>
            <p:nvPr/>
          </p:nvPicPr>
          <p:blipFill rotWithShape="1">
            <a:blip r:embed="rId3"/>
            <a:srcRect r="12782" b="6553"/>
            <a:stretch/>
          </p:blipFill>
          <p:spPr>
            <a:xfrm>
              <a:off x="8216150" y="1024895"/>
              <a:ext cx="3904730" cy="2338065"/>
            </a:xfrm>
            <a:prstGeom prst="rect">
              <a:avLst/>
            </a:prstGeom>
            <a:ln>
              <a:solidFill>
                <a:schemeClr val="tx1"/>
              </a:solidFill>
            </a:ln>
          </p:spPr>
        </p:pic>
        <p:sp>
          <p:nvSpPr>
            <p:cNvPr id="15" name="TextBox 14">
              <a:extLst>
                <a:ext uri="{FF2B5EF4-FFF2-40B4-BE49-F238E27FC236}">
                  <a16:creationId xmlns:a16="http://schemas.microsoft.com/office/drawing/2014/main" id="{F51880A4-46F8-47F3-BFCE-CF8F6879CC75}"/>
                </a:ext>
              </a:extLst>
            </p:cNvPr>
            <p:cNvSpPr txBox="1"/>
            <p:nvPr/>
          </p:nvSpPr>
          <p:spPr>
            <a:xfrm>
              <a:off x="8949270" y="2885440"/>
              <a:ext cx="733210" cy="369332"/>
            </a:xfrm>
            <a:prstGeom prst="rect">
              <a:avLst/>
            </a:prstGeom>
            <a:noFill/>
            <a:ln>
              <a:solidFill>
                <a:schemeClr val="tx1"/>
              </a:solidFill>
            </a:ln>
          </p:spPr>
          <p:txBody>
            <a:bodyPr wrap="square" rtlCol="0">
              <a:spAutoFit/>
            </a:bodyPr>
            <a:lstStyle/>
            <a:p>
              <a:r>
                <a:rPr lang="en-IN" dirty="0"/>
                <a:t>Fig 6</a:t>
              </a:r>
            </a:p>
          </p:txBody>
        </p:sp>
      </p:grpSp>
      <p:pic>
        <p:nvPicPr>
          <p:cNvPr id="17" name="Picture 16">
            <a:extLst>
              <a:ext uri="{FF2B5EF4-FFF2-40B4-BE49-F238E27FC236}">
                <a16:creationId xmlns:a16="http://schemas.microsoft.com/office/drawing/2014/main" id="{044FFD9F-12C0-4A2B-9F0F-1A7B6C5FFE43}"/>
              </a:ext>
            </a:extLst>
          </p:cNvPr>
          <p:cNvPicPr>
            <a:picLocks noChangeAspect="1"/>
          </p:cNvPicPr>
          <p:nvPr/>
        </p:nvPicPr>
        <p:blipFill>
          <a:blip r:embed="rId4"/>
          <a:stretch>
            <a:fillRect/>
          </a:stretch>
        </p:blipFill>
        <p:spPr>
          <a:xfrm>
            <a:off x="1373289" y="4724541"/>
            <a:ext cx="4333516" cy="1615299"/>
          </a:xfrm>
          <a:prstGeom prst="rect">
            <a:avLst/>
          </a:prstGeom>
          <a:ln>
            <a:solidFill>
              <a:schemeClr val="tx1"/>
            </a:solidFill>
          </a:ln>
        </p:spPr>
      </p:pic>
      <p:sp>
        <p:nvSpPr>
          <p:cNvPr id="20" name="TextBox 19">
            <a:extLst>
              <a:ext uri="{FF2B5EF4-FFF2-40B4-BE49-F238E27FC236}">
                <a16:creationId xmlns:a16="http://schemas.microsoft.com/office/drawing/2014/main" id="{56365D9C-788D-4618-87A2-9D648982C618}"/>
              </a:ext>
            </a:extLst>
          </p:cNvPr>
          <p:cNvSpPr txBox="1"/>
          <p:nvPr/>
        </p:nvSpPr>
        <p:spPr>
          <a:xfrm>
            <a:off x="560489" y="985520"/>
            <a:ext cx="10056711" cy="923330"/>
          </a:xfrm>
          <a:prstGeom prst="rect">
            <a:avLst/>
          </a:prstGeom>
          <a:noFill/>
        </p:spPr>
        <p:txBody>
          <a:bodyPr wrap="square" rtlCol="0">
            <a:spAutoFit/>
          </a:bodyPr>
          <a:lstStyle/>
          <a:p>
            <a:pPr algn="just"/>
            <a:r>
              <a:rPr lang="en-US" dirty="0"/>
              <a:t>‘</a:t>
            </a:r>
            <a:r>
              <a:rPr lang="en-US" dirty="0" err="1"/>
              <a:t>New_Applicant</a:t>
            </a:r>
            <a:r>
              <a:rPr lang="en-US" dirty="0"/>
              <a:t>’ dataset is divided into 2 set based on values in Target column: </a:t>
            </a:r>
          </a:p>
          <a:p>
            <a:pPr marL="742950" lvl="1" indent="-285750" algn="just">
              <a:buFont typeface="Arial" panose="020B0604020202020204" pitchFamily="34" charset="0"/>
              <a:buChar char="•"/>
            </a:pPr>
            <a:r>
              <a:rPr lang="en-US" dirty="0"/>
              <a:t>Target_1(Defaulter) </a:t>
            </a:r>
          </a:p>
          <a:p>
            <a:pPr marL="742950" lvl="1" indent="-285750" algn="just">
              <a:buFont typeface="Arial" panose="020B0604020202020204" pitchFamily="34" charset="0"/>
              <a:buChar char="•"/>
            </a:pPr>
            <a:r>
              <a:rPr lang="en-US" dirty="0"/>
              <a:t>Target_0(Non-Defaulter)</a:t>
            </a:r>
          </a:p>
        </p:txBody>
      </p:sp>
    </p:spTree>
    <p:extLst>
      <p:ext uri="{BB962C8B-B14F-4D97-AF65-F5344CB8AC3E}">
        <p14:creationId xmlns:p14="http://schemas.microsoft.com/office/powerpoint/2010/main" val="1294193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19777-F7C8-47E8-ADA8-C7416BC523AF}"/>
              </a:ext>
            </a:extLst>
          </p:cNvPr>
          <p:cNvSpPr>
            <a:spLocks noGrp="1"/>
          </p:cNvSpPr>
          <p:nvPr>
            <p:ph type="title"/>
          </p:nvPr>
        </p:nvSpPr>
        <p:spPr>
          <a:xfrm>
            <a:off x="673100" y="2254885"/>
            <a:ext cx="10845800" cy="1325563"/>
          </a:xfrm>
        </p:spPr>
        <p:txBody>
          <a:bodyPr/>
          <a:lstStyle/>
          <a:p>
            <a:r>
              <a:rPr lang="en-IN" b="1" dirty="0"/>
              <a:t>Univariant analysis for different categorial data</a:t>
            </a:r>
          </a:p>
        </p:txBody>
      </p:sp>
    </p:spTree>
    <p:extLst>
      <p:ext uri="{BB962C8B-B14F-4D97-AF65-F5344CB8AC3E}">
        <p14:creationId xmlns:p14="http://schemas.microsoft.com/office/powerpoint/2010/main" val="636410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1DB3C21-5B6F-4753-97D5-A51A5257AE02}"/>
              </a:ext>
            </a:extLst>
          </p:cNvPr>
          <p:cNvSpPr txBox="1"/>
          <p:nvPr/>
        </p:nvSpPr>
        <p:spPr>
          <a:xfrm>
            <a:off x="3971223" y="233680"/>
            <a:ext cx="3973897" cy="646331"/>
          </a:xfrm>
          <a:prstGeom prst="rect">
            <a:avLst/>
          </a:prstGeom>
          <a:noFill/>
        </p:spPr>
        <p:txBody>
          <a:bodyPr wrap="square" rtlCol="0">
            <a:spAutoFit/>
          </a:bodyPr>
          <a:lstStyle/>
          <a:p>
            <a:r>
              <a:rPr lang="en-IN" sz="3600" b="1" dirty="0">
                <a:latin typeface="inherit"/>
              </a:rPr>
              <a:t>EDUCATION TYPE:</a:t>
            </a:r>
          </a:p>
        </p:txBody>
      </p:sp>
      <p:sp>
        <p:nvSpPr>
          <p:cNvPr id="9" name="TextBox 8">
            <a:extLst>
              <a:ext uri="{FF2B5EF4-FFF2-40B4-BE49-F238E27FC236}">
                <a16:creationId xmlns:a16="http://schemas.microsoft.com/office/drawing/2014/main" id="{392C9BC2-1260-438D-AC36-8C6236EB9201}"/>
              </a:ext>
            </a:extLst>
          </p:cNvPr>
          <p:cNvSpPr txBox="1"/>
          <p:nvPr/>
        </p:nvSpPr>
        <p:spPr>
          <a:xfrm>
            <a:off x="1595121" y="4958080"/>
            <a:ext cx="8930640" cy="1200329"/>
          </a:xfrm>
          <a:prstGeom prst="rect">
            <a:avLst/>
          </a:prstGeom>
          <a:noFill/>
        </p:spPr>
        <p:txBody>
          <a:bodyPr wrap="square" rtlCol="0">
            <a:spAutoFit/>
          </a:bodyPr>
          <a:lstStyle/>
          <a:p>
            <a:pPr algn="just"/>
            <a:r>
              <a:rPr lang="en-US" b="0" i="0" dirty="0">
                <a:solidFill>
                  <a:srgbClr val="000000"/>
                </a:solidFill>
                <a:effectLst/>
              </a:rPr>
              <a:t>By comparing % of Defaulter and Non-Defaulter education qualification, We can observe :</a:t>
            </a:r>
          </a:p>
          <a:p>
            <a:pPr lvl="1" algn="just">
              <a:buFont typeface="Arial" panose="020B0604020202020204" pitchFamily="34" charset="0"/>
              <a:buChar char="•"/>
            </a:pPr>
            <a:r>
              <a:rPr lang="en-US" b="0" i="0" dirty="0">
                <a:solidFill>
                  <a:srgbClr val="000000"/>
                </a:solidFill>
                <a:effectLst/>
              </a:rPr>
              <a:t>Increase in percentage of Defaulters who has "Secondary/Secondary special" education.</a:t>
            </a:r>
          </a:p>
          <a:p>
            <a:pPr lvl="1" algn="just">
              <a:buFont typeface="Arial" panose="020B0604020202020204" pitchFamily="34" charset="0"/>
              <a:buChar char="•"/>
            </a:pPr>
            <a:r>
              <a:rPr lang="en-US" b="0" i="0" dirty="0">
                <a:solidFill>
                  <a:srgbClr val="000000"/>
                </a:solidFill>
                <a:effectLst/>
              </a:rPr>
              <a:t>Decrease in percentage of Defaulters who has "Higher Education".</a:t>
            </a:r>
          </a:p>
          <a:p>
            <a:pPr algn="just"/>
            <a:endParaRPr lang="en-IN" dirty="0"/>
          </a:p>
        </p:txBody>
      </p:sp>
      <p:pic>
        <p:nvPicPr>
          <p:cNvPr id="3" name="Picture 2">
            <a:extLst>
              <a:ext uri="{FF2B5EF4-FFF2-40B4-BE49-F238E27FC236}">
                <a16:creationId xmlns:a16="http://schemas.microsoft.com/office/drawing/2014/main" id="{5FDADE82-8D84-2718-6F45-DE2E1FA646D7}"/>
              </a:ext>
            </a:extLst>
          </p:cNvPr>
          <p:cNvPicPr>
            <a:picLocks noChangeAspect="1"/>
          </p:cNvPicPr>
          <p:nvPr/>
        </p:nvPicPr>
        <p:blipFill>
          <a:blip r:embed="rId2"/>
          <a:stretch>
            <a:fillRect/>
          </a:stretch>
        </p:blipFill>
        <p:spPr>
          <a:xfrm>
            <a:off x="1113712" y="1110527"/>
            <a:ext cx="5175328" cy="3583752"/>
          </a:xfrm>
          <a:prstGeom prst="rect">
            <a:avLst/>
          </a:prstGeom>
          <a:ln>
            <a:solidFill>
              <a:schemeClr val="tx1"/>
            </a:solidFill>
          </a:ln>
        </p:spPr>
      </p:pic>
      <p:pic>
        <p:nvPicPr>
          <p:cNvPr id="6" name="Picture 5">
            <a:extLst>
              <a:ext uri="{FF2B5EF4-FFF2-40B4-BE49-F238E27FC236}">
                <a16:creationId xmlns:a16="http://schemas.microsoft.com/office/drawing/2014/main" id="{791379AC-10C1-31A7-C05F-2DF83AB961A3}"/>
              </a:ext>
            </a:extLst>
          </p:cNvPr>
          <p:cNvPicPr>
            <a:picLocks noChangeAspect="1"/>
          </p:cNvPicPr>
          <p:nvPr/>
        </p:nvPicPr>
        <p:blipFill>
          <a:blip r:embed="rId3"/>
          <a:stretch>
            <a:fillRect/>
          </a:stretch>
        </p:blipFill>
        <p:spPr>
          <a:xfrm>
            <a:off x="6408340" y="1107836"/>
            <a:ext cx="5454515" cy="3583752"/>
          </a:xfrm>
          <a:prstGeom prst="rect">
            <a:avLst/>
          </a:prstGeom>
          <a:ln>
            <a:solidFill>
              <a:schemeClr val="tx1"/>
            </a:solidFill>
          </a:ln>
        </p:spPr>
      </p:pic>
    </p:spTree>
    <p:extLst>
      <p:ext uri="{BB962C8B-B14F-4D97-AF65-F5344CB8AC3E}">
        <p14:creationId xmlns:p14="http://schemas.microsoft.com/office/powerpoint/2010/main" val="1664114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C7BE89-F6CE-4F8B-8F0B-FF8E9D7929CF}"/>
              </a:ext>
            </a:extLst>
          </p:cNvPr>
          <p:cNvSpPr txBox="1"/>
          <p:nvPr/>
        </p:nvSpPr>
        <p:spPr>
          <a:xfrm>
            <a:off x="2133600" y="294640"/>
            <a:ext cx="7833360" cy="646331"/>
          </a:xfrm>
          <a:prstGeom prst="rect">
            <a:avLst/>
          </a:prstGeom>
          <a:noFill/>
        </p:spPr>
        <p:txBody>
          <a:bodyPr wrap="square" rtlCol="0">
            <a:spAutoFit/>
          </a:bodyPr>
          <a:lstStyle/>
          <a:p>
            <a:r>
              <a:rPr lang="en-US" sz="3600" b="1" dirty="0">
                <a:latin typeface="inherit"/>
              </a:rPr>
              <a:t>NAME_FAMILY_STATUS (Marital Status)</a:t>
            </a:r>
            <a:endParaRPr lang="en-IN" sz="3600" b="1" dirty="0">
              <a:latin typeface="inherit"/>
            </a:endParaRPr>
          </a:p>
        </p:txBody>
      </p:sp>
      <p:sp>
        <p:nvSpPr>
          <p:cNvPr id="7" name="TextBox 6">
            <a:extLst>
              <a:ext uri="{FF2B5EF4-FFF2-40B4-BE49-F238E27FC236}">
                <a16:creationId xmlns:a16="http://schemas.microsoft.com/office/drawing/2014/main" id="{B8CA4D7C-90FB-45EE-8984-04AF9051B9C2}"/>
              </a:ext>
            </a:extLst>
          </p:cNvPr>
          <p:cNvSpPr txBox="1"/>
          <p:nvPr/>
        </p:nvSpPr>
        <p:spPr>
          <a:xfrm>
            <a:off x="1595121" y="4958080"/>
            <a:ext cx="8676640" cy="923330"/>
          </a:xfrm>
          <a:prstGeom prst="rect">
            <a:avLst/>
          </a:prstGeom>
          <a:noFill/>
        </p:spPr>
        <p:txBody>
          <a:bodyPr wrap="square" rtlCol="0">
            <a:spAutoFit/>
          </a:bodyPr>
          <a:lstStyle/>
          <a:p>
            <a:pPr algn="just"/>
            <a:r>
              <a:rPr lang="en-US" b="0" i="0" dirty="0">
                <a:solidFill>
                  <a:srgbClr val="000000"/>
                </a:solidFill>
                <a:effectLst/>
              </a:rPr>
              <a:t>By comparing % of Defaulter and Non-Defaulter marital status, We can observe :</a:t>
            </a:r>
          </a:p>
          <a:p>
            <a:pPr lvl="1" algn="just">
              <a:buFont typeface="Arial" panose="020B0604020202020204" pitchFamily="34" charset="0"/>
              <a:buChar char="•"/>
            </a:pPr>
            <a:r>
              <a:rPr lang="en-US" b="0" i="0" dirty="0">
                <a:solidFill>
                  <a:srgbClr val="000000"/>
                </a:solidFill>
                <a:effectLst/>
              </a:rPr>
              <a:t>Increase in percentage of Defaulters who are "Single" and 'Civil Married’.</a:t>
            </a:r>
          </a:p>
          <a:p>
            <a:pPr lvl="1" algn="just">
              <a:buFont typeface="Arial" panose="020B0604020202020204" pitchFamily="34" charset="0"/>
              <a:buChar char="•"/>
            </a:pPr>
            <a:r>
              <a:rPr lang="en-US" b="0" i="0" dirty="0">
                <a:solidFill>
                  <a:srgbClr val="000000"/>
                </a:solidFill>
                <a:effectLst/>
              </a:rPr>
              <a:t>Decrease in percentage of Defaulters who are "Married" and 'Widow’.</a:t>
            </a:r>
            <a:endParaRPr lang="en-IN" dirty="0"/>
          </a:p>
        </p:txBody>
      </p:sp>
      <p:pic>
        <p:nvPicPr>
          <p:cNvPr id="5" name="Picture 4">
            <a:extLst>
              <a:ext uri="{FF2B5EF4-FFF2-40B4-BE49-F238E27FC236}">
                <a16:creationId xmlns:a16="http://schemas.microsoft.com/office/drawing/2014/main" id="{A6C93CF6-2E68-CB39-3339-566C1608FECE}"/>
              </a:ext>
            </a:extLst>
          </p:cNvPr>
          <p:cNvPicPr>
            <a:picLocks noChangeAspect="1"/>
          </p:cNvPicPr>
          <p:nvPr/>
        </p:nvPicPr>
        <p:blipFill>
          <a:blip r:embed="rId2"/>
          <a:stretch>
            <a:fillRect/>
          </a:stretch>
        </p:blipFill>
        <p:spPr>
          <a:xfrm>
            <a:off x="649928" y="1030511"/>
            <a:ext cx="5400352" cy="3728277"/>
          </a:xfrm>
          <a:prstGeom prst="rect">
            <a:avLst/>
          </a:prstGeom>
          <a:ln>
            <a:solidFill>
              <a:schemeClr val="tx1"/>
            </a:solidFill>
          </a:ln>
        </p:spPr>
      </p:pic>
      <p:pic>
        <p:nvPicPr>
          <p:cNvPr id="9" name="Picture 8">
            <a:extLst>
              <a:ext uri="{FF2B5EF4-FFF2-40B4-BE49-F238E27FC236}">
                <a16:creationId xmlns:a16="http://schemas.microsoft.com/office/drawing/2014/main" id="{5C3E1CAB-C3D4-2CD2-E9C7-F90FABB5DD17}"/>
              </a:ext>
            </a:extLst>
          </p:cNvPr>
          <p:cNvPicPr>
            <a:picLocks noChangeAspect="1"/>
          </p:cNvPicPr>
          <p:nvPr/>
        </p:nvPicPr>
        <p:blipFill>
          <a:blip r:embed="rId3"/>
          <a:stretch>
            <a:fillRect/>
          </a:stretch>
        </p:blipFill>
        <p:spPr>
          <a:xfrm>
            <a:off x="6202680" y="1030511"/>
            <a:ext cx="5278120" cy="3758832"/>
          </a:xfrm>
          <a:prstGeom prst="rect">
            <a:avLst/>
          </a:prstGeom>
          <a:ln>
            <a:solidFill>
              <a:schemeClr val="tx1"/>
            </a:solidFill>
          </a:ln>
        </p:spPr>
      </p:pic>
    </p:spTree>
    <p:extLst>
      <p:ext uri="{BB962C8B-B14F-4D97-AF65-F5344CB8AC3E}">
        <p14:creationId xmlns:p14="http://schemas.microsoft.com/office/powerpoint/2010/main" val="2840028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307236-B112-4142-9C91-6BE7D9D59D5B}"/>
              </a:ext>
            </a:extLst>
          </p:cNvPr>
          <p:cNvSpPr txBox="1"/>
          <p:nvPr/>
        </p:nvSpPr>
        <p:spPr>
          <a:xfrm>
            <a:off x="4987223" y="233680"/>
            <a:ext cx="1972377" cy="646331"/>
          </a:xfrm>
          <a:prstGeom prst="rect">
            <a:avLst/>
          </a:prstGeom>
          <a:noFill/>
        </p:spPr>
        <p:txBody>
          <a:bodyPr wrap="square" rtlCol="0">
            <a:spAutoFit/>
          </a:bodyPr>
          <a:lstStyle/>
          <a:p>
            <a:r>
              <a:rPr lang="en-IN" sz="3600" b="1" dirty="0">
                <a:latin typeface="inherit"/>
              </a:rPr>
              <a:t>GENDER:</a:t>
            </a:r>
          </a:p>
        </p:txBody>
      </p:sp>
      <p:sp>
        <p:nvSpPr>
          <p:cNvPr id="9" name="TextBox 8">
            <a:extLst>
              <a:ext uri="{FF2B5EF4-FFF2-40B4-BE49-F238E27FC236}">
                <a16:creationId xmlns:a16="http://schemas.microsoft.com/office/drawing/2014/main" id="{81CB5567-B7F1-491A-82B4-A0AC9492DBB4}"/>
              </a:ext>
            </a:extLst>
          </p:cNvPr>
          <p:cNvSpPr txBox="1"/>
          <p:nvPr/>
        </p:nvSpPr>
        <p:spPr>
          <a:xfrm>
            <a:off x="2062481" y="4958080"/>
            <a:ext cx="6979919" cy="1200329"/>
          </a:xfrm>
          <a:prstGeom prst="rect">
            <a:avLst/>
          </a:prstGeom>
          <a:noFill/>
        </p:spPr>
        <p:txBody>
          <a:bodyPr wrap="square" rtlCol="0">
            <a:spAutoFit/>
          </a:bodyPr>
          <a:lstStyle/>
          <a:p>
            <a:pPr algn="just"/>
            <a:r>
              <a:rPr lang="en-US" b="0" i="0" dirty="0">
                <a:solidFill>
                  <a:srgbClr val="000000"/>
                </a:solidFill>
                <a:effectLst/>
              </a:rPr>
              <a:t>In both cases we can observe female are majority in both cases. </a:t>
            </a:r>
          </a:p>
          <a:p>
            <a:pPr algn="just"/>
            <a:r>
              <a:rPr lang="en-US" b="0" i="0" dirty="0">
                <a:solidFill>
                  <a:srgbClr val="000000"/>
                </a:solidFill>
                <a:effectLst/>
              </a:rPr>
              <a:t>By comparing % of Defaulter and Non-Defaulter gender, we can observe:</a:t>
            </a:r>
          </a:p>
          <a:p>
            <a:pPr marL="742950" lvl="1" indent="-285750" algn="just">
              <a:buFont typeface="Arial" panose="020B0604020202020204" pitchFamily="34" charset="0"/>
              <a:buChar char="•"/>
            </a:pPr>
            <a:r>
              <a:rPr lang="en-US" b="0" i="0" dirty="0">
                <a:solidFill>
                  <a:srgbClr val="000000"/>
                </a:solidFill>
                <a:effectLst/>
              </a:rPr>
              <a:t>Increase in percentage of Male Defaulters.</a:t>
            </a:r>
          </a:p>
          <a:p>
            <a:pPr marL="742950" lvl="1" indent="-285750" algn="just">
              <a:buFont typeface="Arial" panose="020B0604020202020204" pitchFamily="34" charset="0"/>
              <a:buChar char="•"/>
            </a:pPr>
            <a:r>
              <a:rPr lang="en-US" b="0" i="0" dirty="0">
                <a:solidFill>
                  <a:srgbClr val="000000"/>
                </a:solidFill>
                <a:effectLst/>
              </a:rPr>
              <a:t>Decrease in percentage of Female Defaulters.</a:t>
            </a:r>
            <a:endParaRPr lang="en-IN" dirty="0"/>
          </a:p>
        </p:txBody>
      </p:sp>
      <p:pic>
        <p:nvPicPr>
          <p:cNvPr id="7" name="Picture 6">
            <a:extLst>
              <a:ext uri="{FF2B5EF4-FFF2-40B4-BE49-F238E27FC236}">
                <a16:creationId xmlns:a16="http://schemas.microsoft.com/office/drawing/2014/main" id="{0729FD42-9D72-07E1-0012-26C848F68A16}"/>
              </a:ext>
            </a:extLst>
          </p:cNvPr>
          <p:cNvPicPr>
            <a:picLocks noChangeAspect="1"/>
          </p:cNvPicPr>
          <p:nvPr/>
        </p:nvPicPr>
        <p:blipFill>
          <a:blip r:embed="rId2"/>
          <a:stretch>
            <a:fillRect/>
          </a:stretch>
        </p:blipFill>
        <p:spPr>
          <a:xfrm>
            <a:off x="323262" y="908908"/>
            <a:ext cx="5772738" cy="3556824"/>
          </a:xfrm>
          <a:prstGeom prst="rect">
            <a:avLst/>
          </a:prstGeom>
          <a:ln>
            <a:solidFill>
              <a:schemeClr val="tx1"/>
            </a:solidFill>
          </a:ln>
        </p:spPr>
      </p:pic>
      <p:pic>
        <p:nvPicPr>
          <p:cNvPr id="11" name="Picture 10">
            <a:extLst>
              <a:ext uri="{FF2B5EF4-FFF2-40B4-BE49-F238E27FC236}">
                <a16:creationId xmlns:a16="http://schemas.microsoft.com/office/drawing/2014/main" id="{9A41992C-9935-BE8C-9C0F-E2F0395E5716}"/>
              </a:ext>
            </a:extLst>
          </p:cNvPr>
          <p:cNvPicPr>
            <a:picLocks noChangeAspect="1"/>
          </p:cNvPicPr>
          <p:nvPr/>
        </p:nvPicPr>
        <p:blipFill>
          <a:blip r:embed="rId3"/>
          <a:stretch>
            <a:fillRect/>
          </a:stretch>
        </p:blipFill>
        <p:spPr>
          <a:xfrm>
            <a:off x="6228080" y="900331"/>
            <a:ext cx="5731059" cy="3556824"/>
          </a:xfrm>
          <a:prstGeom prst="rect">
            <a:avLst/>
          </a:prstGeom>
          <a:ln>
            <a:solidFill>
              <a:schemeClr val="tx1"/>
            </a:solidFill>
          </a:ln>
        </p:spPr>
      </p:pic>
    </p:spTree>
    <p:extLst>
      <p:ext uri="{BB962C8B-B14F-4D97-AF65-F5344CB8AC3E}">
        <p14:creationId xmlns:p14="http://schemas.microsoft.com/office/powerpoint/2010/main" val="2616380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794C92-AE2E-4F8F-B72D-236C4AD5A0E6}"/>
              </a:ext>
            </a:extLst>
          </p:cNvPr>
          <p:cNvPicPr>
            <a:picLocks noChangeAspect="1"/>
          </p:cNvPicPr>
          <p:nvPr/>
        </p:nvPicPr>
        <p:blipFill>
          <a:blip r:embed="rId2"/>
          <a:stretch>
            <a:fillRect/>
          </a:stretch>
        </p:blipFill>
        <p:spPr>
          <a:xfrm>
            <a:off x="6335430" y="976590"/>
            <a:ext cx="5054860" cy="3543482"/>
          </a:xfrm>
          <a:prstGeom prst="rect">
            <a:avLst/>
          </a:prstGeom>
          <a:ln>
            <a:solidFill>
              <a:schemeClr val="tx1"/>
            </a:solidFill>
          </a:ln>
        </p:spPr>
      </p:pic>
      <p:sp>
        <p:nvSpPr>
          <p:cNvPr id="6" name="TextBox 5">
            <a:extLst>
              <a:ext uri="{FF2B5EF4-FFF2-40B4-BE49-F238E27FC236}">
                <a16:creationId xmlns:a16="http://schemas.microsoft.com/office/drawing/2014/main" id="{03055DA0-B70E-4A72-A74C-A25796D2563A}"/>
              </a:ext>
            </a:extLst>
          </p:cNvPr>
          <p:cNvSpPr txBox="1"/>
          <p:nvPr/>
        </p:nvSpPr>
        <p:spPr>
          <a:xfrm>
            <a:off x="5302184" y="233680"/>
            <a:ext cx="1108776" cy="646331"/>
          </a:xfrm>
          <a:prstGeom prst="rect">
            <a:avLst/>
          </a:prstGeom>
          <a:noFill/>
        </p:spPr>
        <p:txBody>
          <a:bodyPr wrap="square" rtlCol="0">
            <a:spAutoFit/>
          </a:bodyPr>
          <a:lstStyle/>
          <a:p>
            <a:r>
              <a:rPr lang="en-IN" sz="3600" b="1" dirty="0">
                <a:latin typeface="inherit"/>
              </a:rPr>
              <a:t>AGE:</a:t>
            </a:r>
          </a:p>
        </p:txBody>
      </p:sp>
      <p:sp>
        <p:nvSpPr>
          <p:cNvPr id="7" name="TextBox 6">
            <a:extLst>
              <a:ext uri="{FF2B5EF4-FFF2-40B4-BE49-F238E27FC236}">
                <a16:creationId xmlns:a16="http://schemas.microsoft.com/office/drawing/2014/main" id="{3F3BAA2A-8B46-4B2D-BE5B-B86CA165910E}"/>
              </a:ext>
            </a:extLst>
          </p:cNvPr>
          <p:cNvSpPr txBox="1"/>
          <p:nvPr/>
        </p:nvSpPr>
        <p:spPr>
          <a:xfrm>
            <a:off x="2062481" y="4958080"/>
            <a:ext cx="7325359" cy="923330"/>
          </a:xfrm>
          <a:prstGeom prst="rect">
            <a:avLst/>
          </a:prstGeom>
          <a:noFill/>
        </p:spPr>
        <p:txBody>
          <a:bodyPr wrap="square" rtlCol="0">
            <a:spAutoFit/>
          </a:bodyPr>
          <a:lstStyle/>
          <a:p>
            <a:pPr algn="just"/>
            <a:r>
              <a:rPr lang="en-US" b="0" i="0" dirty="0">
                <a:solidFill>
                  <a:srgbClr val="000000"/>
                </a:solidFill>
                <a:effectLst/>
              </a:rPr>
              <a:t>By comparing % of Defaulter and Non-Defaulter age group, We can observe :</a:t>
            </a:r>
          </a:p>
          <a:p>
            <a:pPr lvl="1" algn="just">
              <a:buFont typeface="Arial" panose="020B0604020202020204" pitchFamily="34" charset="0"/>
              <a:buChar char="•"/>
            </a:pPr>
            <a:r>
              <a:rPr lang="en-US" b="0" i="0" dirty="0">
                <a:solidFill>
                  <a:srgbClr val="000000"/>
                </a:solidFill>
                <a:effectLst/>
              </a:rPr>
              <a:t>Increase % of Defaulters who are Young adults and Adults.</a:t>
            </a:r>
          </a:p>
          <a:p>
            <a:pPr lvl="1" algn="just">
              <a:buFont typeface="Arial" panose="020B0604020202020204" pitchFamily="34" charset="0"/>
              <a:buChar char="•"/>
            </a:pPr>
            <a:r>
              <a:rPr lang="en-US" b="0" i="0" dirty="0">
                <a:solidFill>
                  <a:srgbClr val="000000"/>
                </a:solidFill>
                <a:effectLst/>
              </a:rPr>
              <a:t>Decrease % of Defaulters who are Senior citizen and Middle Aged.</a:t>
            </a:r>
          </a:p>
        </p:txBody>
      </p:sp>
      <p:pic>
        <p:nvPicPr>
          <p:cNvPr id="2" name="Picture 1">
            <a:extLst>
              <a:ext uri="{FF2B5EF4-FFF2-40B4-BE49-F238E27FC236}">
                <a16:creationId xmlns:a16="http://schemas.microsoft.com/office/drawing/2014/main" id="{D197FD43-1664-44FD-A6EA-C34B7CA5B5EB}"/>
              </a:ext>
            </a:extLst>
          </p:cNvPr>
          <p:cNvPicPr>
            <a:picLocks noChangeAspect="1"/>
          </p:cNvPicPr>
          <p:nvPr/>
        </p:nvPicPr>
        <p:blipFill>
          <a:blip r:embed="rId3"/>
          <a:stretch>
            <a:fillRect/>
          </a:stretch>
        </p:blipFill>
        <p:spPr>
          <a:xfrm>
            <a:off x="610894" y="976590"/>
            <a:ext cx="5245678" cy="3543483"/>
          </a:xfrm>
          <a:prstGeom prst="rect">
            <a:avLst/>
          </a:prstGeom>
          <a:ln>
            <a:solidFill>
              <a:schemeClr val="tx1"/>
            </a:solidFill>
          </a:ln>
        </p:spPr>
      </p:pic>
    </p:spTree>
    <p:extLst>
      <p:ext uri="{BB962C8B-B14F-4D97-AF65-F5344CB8AC3E}">
        <p14:creationId xmlns:p14="http://schemas.microsoft.com/office/powerpoint/2010/main" val="1815793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8BDAAD-3764-4F5C-8F17-BAF4B13F8C1E}"/>
              </a:ext>
            </a:extLst>
          </p:cNvPr>
          <p:cNvPicPr>
            <a:picLocks noChangeAspect="1"/>
          </p:cNvPicPr>
          <p:nvPr/>
        </p:nvPicPr>
        <p:blipFill>
          <a:blip r:embed="rId2"/>
          <a:stretch>
            <a:fillRect/>
          </a:stretch>
        </p:blipFill>
        <p:spPr>
          <a:xfrm>
            <a:off x="731520" y="883826"/>
            <a:ext cx="5238084" cy="3606985"/>
          </a:xfrm>
          <a:prstGeom prst="rect">
            <a:avLst/>
          </a:prstGeom>
          <a:ln>
            <a:solidFill>
              <a:schemeClr val="tx1"/>
            </a:solidFill>
          </a:ln>
        </p:spPr>
      </p:pic>
      <p:sp>
        <p:nvSpPr>
          <p:cNvPr id="6" name="TextBox 5">
            <a:extLst>
              <a:ext uri="{FF2B5EF4-FFF2-40B4-BE49-F238E27FC236}">
                <a16:creationId xmlns:a16="http://schemas.microsoft.com/office/drawing/2014/main" id="{95C8A0E6-EC52-47CC-B3CD-A7A7F5A1B414}"/>
              </a:ext>
            </a:extLst>
          </p:cNvPr>
          <p:cNvSpPr txBox="1"/>
          <p:nvPr/>
        </p:nvSpPr>
        <p:spPr>
          <a:xfrm>
            <a:off x="4013200" y="71120"/>
            <a:ext cx="3738879" cy="646331"/>
          </a:xfrm>
          <a:prstGeom prst="rect">
            <a:avLst/>
          </a:prstGeom>
          <a:noFill/>
        </p:spPr>
        <p:txBody>
          <a:bodyPr wrap="square" rtlCol="0">
            <a:spAutoFit/>
          </a:bodyPr>
          <a:lstStyle/>
          <a:p>
            <a:r>
              <a:rPr lang="en-IN" sz="3600" b="1" dirty="0">
                <a:latin typeface="inherit"/>
              </a:rPr>
              <a:t>Source of Income:</a:t>
            </a:r>
          </a:p>
        </p:txBody>
      </p:sp>
      <p:sp>
        <p:nvSpPr>
          <p:cNvPr id="7" name="TextBox 6">
            <a:extLst>
              <a:ext uri="{FF2B5EF4-FFF2-40B4-BE49-F238E27FC236}">
                <a16:creationId xmlns:a16="http://schemas.microsoft.com/office/drawing/2014/main" id="{32D76501-1177-44FD-8B6B-D2296F56E66A}"/>
              </a:ext>
            </a:extLst>
          </p:cNvPr>
          <p:cNvSpPr txBox="1"/>
          <p:nvPr/>
        </p:nvSpPr>
        <p:spPr>
          <a:xfrm>
            <a:off x="934720" y="4958080"/>
            <a:ext cx="10424160" cy="1200329"/>
          </a:xfrm>
          <a:prstGeom prst="rect">
            <a:avLst/>
          </a:prstGeom>
          <a:noFill/>
        </p:spPr>
        <p:txBody>
          <a:bodyPr wrap="square" rtlCol="0">
            <a:spAutoFit/>
          </a:bodyPr>
          <a:lstStyle/>
          <a:p>
            <a:pPr algn="just"/>
            <a:r>
              <a:rPr lang="en-US" b="0" i="0" dirty="0">
                <a:solidFill>
                  <a:srgbClr val="000000"/>
                </a:solidFill>
                <a:effectLst/>
              </a:rPr>
              <a:t>We can observe defaulters Income type mainly falls under Working, Commercial associate &amp; State servants category. In comparison with defaulter and non-defaulter % graph, we can say that:</a:t>
            </a:r>
          </a:p>
          <a:p>
            <a:pPr lvl="1" algn="just">
              <a:buFont typeface="Arial" panose="020B0604020202020204" pitchFamily="34" charset="0"/>
              <a:buChar char="•"/>
            </a:pPr>
            <a:r>
              <a:rPr lang="en-US" b="0" i="0" dirty="0">
                <a:solidFill>
                  <a:srgbClr val="000000"/>
                </a:solidFill>
                <a:effectLst/>
              </a:rPr>
              <a:t>Increase in percentage of defaulters who are 'working'.</a:t>
            </a:r>
          </a:p>
          <a:p>
            <a:pPr lvl="1" algn="just">
              <a:buFont typeface="Arial" panose="020B0604020202020204" pitchFamily="34" charset="0"/>
              <a:buChar char="•"/>
            </a:pPr>
            <a:r>
              <a:rPr lang="en-US" b="0" i="0" dirty="0">
                <a:solidFill>
                  <a:srgbClr val="000000"/>
                </a:solidFill>
                <a:effectLst/>
              </a:rPr>
              <a:t>Decrease in percentage of defaulters who are 'Commercial associate' &amp; 'State servants'.</a:t>
            </a:r>
          </a:p>
        </p:txBody>
      </p:sp>
      <p:pic>
        <p:nvPicPr>
          <p:cNvPr id="2" name="Picture 1">
            <a:extLst>
              <a:ext uri="{FF2B5EF4-FFF2-40B4-BE49-F238E27FC236}">
                <a16:creationId xmlns:a16="http://schemas.microsoft.com/office/drawing/2014/main" id="{ABB355D0-1A04-4D1A-B159-5EDABFB6BEDD}"/>
              </a:ext>
            </a:extLst>
          </p:cNvPr>
          <p:cNvPicPr>
            <a:picLocks noChangeAspect="1"/>
          </p:cNvPicPr>
          <p:nvPr/>
        </p:nvPicPr>
        <p:blipFill>
          <a:blip r:embed="rId3"/>
          <a:stretch>
            <a:fillRect/>
          </a:stretch>
        </p:blipFill>
        <p:spPr>
          <a:xfrm>
            <a:off x="6291320" y="883826"/>
            <a:ext cx="5067560" cy="3606985"/>
          </a:xfrm>
          <a:prstGeom prst="rect">
            <a:avLst/>
          </a:prstGeom>
          <a:ln>
            <a:solidFill>
              <a:schemeClr val="tx1"/>
            </a:solidFill>
          </a:ln>
        </p:spPr>
      </p:pic>
    </p:spTree>
    <p:extLst>
      <p:ext uri="{BB962C8B-B14F-4D97-AF65-F5344CB8AC3E}">
        <p14:creationId xmlns:p14="http://schemas.microsoft.com/office/powerpoint/2010/main" val="2445125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C3422A-AA54-4D46-883E-E3D9F049321B}"/>
              </a:ext>
            </a:extLst>
          </p:cNvPr>
          <p:cNvSpPr txBox="1"/>
          <p:nvPr/>
        </p:nvSpPr>
        <p:spPr>
          <a:xfrm>
            <a:off x="4013200" y="71120"/>
            <a:ext cx="3738879" cy="646331"/>
          </a:xfrm>
          <a:prstGeom prst="rect">
            <a:avLst/>
          </a:prstGeom>
          <a:noFill/>
        </p:spPr>
        <p:txBody>
          <a:bodyPr wrap="square" rtlCol="0">
            <a:spAutoFit/>
          </a:bodyPr>
          <a:lstStyle/>
          <a:p>
            <a:r>
              <a:rPr lang="en-IN" sz="3600" b="1" dirty="0">
                <a:latin typeface="inherit"/>
              </a:rPr>
              <a:t>Occupation type:</a:t>
            </a:r>
          </a:p>
        </p:txBody>
      </p:sp>
      <p:pic>
        <p:nvPicPr>
          <p:cNvPr id="5" name="Picture 4">
            <a:extLst>
              <a:ext uri="{FF2B5EF4-FFF2-40B4-BE49-F238E27FC236}">
                <a16:creationId xmlns:a16="http://schemas.microsoft.com/office/drawing/2014/main" id="{7FAD9243-F22C-4BEA-8E5A-5228463185E9}"/>
              </a:ext>
            </a:extLst>
          </p:cNvPr>
          <p:cNvPicPr>
            <a:picLocks noChangeAspect="1"/>
          </p:cNvPicPr>
          <p:nvPr/>
        </p:nvPicPr>
        <p:blipFill>
          <a:blip r:embed="rId2"/>
          <a:stretch>
            <a:fillRect/>
          </a:stretch>
        </p:blipFill>
        <p:spPr>
          <a:xfrm>
            <a:off x="413251" y="998081"/>
            <a:ext cx="5188217" cy="3486329"/>
          </a:xfrm>
          <a:prstGeom prst="rect">
            <a:avLst/>
          </a:prstGeom>
          <a:ln>
            <a:solidFill>
              <a:schemeClr val="tx1"/>
            </a:solidFill>
          </a:ln>
        </p:spPr>
      </p:pic>
      <p:sp>
        <p:nvSpPr>
          <p:cNvPr id="10" name="TextBox 9">
            <a:extLst>
              <a:ext uri="{FF2B5EF4-FFF2-40B4-BE49-F238E27FC236}">
                <a16:creationId xmlns:a16="http://schemas.microsoft.com/office/drawing/2014/main" id="{96E7BFA3-45FA-475C-BD26-50256E6D4248}"/>
              </a:ext>
            </a:extLst>
          </p:cNvPr>
          <p:cNvSpPr txBox="1"/>
          <p:nvPr/>
        </p:nvSpPr>
        <p:spPr>
          <a:xfrm>
            <a:off x="2174240" y="4765040"/>
            <a:ext cx="7660640" cy="923330"/>
          </a:xfrm>
          <a:prstGeom prst="rect">
            <a:avLst/>
          </a:prstGeom>
          <a:noFill/>
        </p:spPr>
        <p:txBody>
          <a:bodyPr wrap="square" rtlCol="0">
            <a:spAutoFit/>
          </a:bodyPr>
          <a:lstStyle/>
          <a:p>
            <a:pPr algn="just"/>
            <a:r>
              <a:rPr lang="en-US" b="0" i="0" dirty="0">
                <a:solidFill>
                  <a:srgbClr val="000000"/>
                </a:solidFill>
                <a:effectLst/>
              </a:rPr>
              <a:t>In comparison with defaulter and non-defaulter % graph, We can observe: </a:t>
            </a:r>
          </a:p>
          <a:p>
            <a:pPr marL="742950" lvl="1" indent="-285750" algn="just">
              <a:buFont typeface="Arial" panose="020B0604020202020204" pitchFamily="34" charset="0"/>
              <a:buChar char="•"/>
            </a:pPr>
            <a:r>
              <a:rPr lang="en-US" dirty="0">
                <a:solidFill>
                  <a:srgbClr val="000000"/>
                </a:solidFill>
              </a:rPr>
              <a:t>I</a:t>
            </a:r>
            <a:r>
              <a:rPr lang="en-US" b="0" i="0" dirty="0">
                <a:solidFill>
                  <a:srgbClr val="000000"/>
                </a:solidFill>
                <a:effectLst/>
              </a:rPr>
              <a:t>ncrease in defaulter % who are 'Laborers', 'Sales staff', 'Drivers’ </a:t>
            </a:r>
          </a:p>
          <a:p>
            <a:pPr marL="742950" lvl="1" indent="-285750" algn="just">
              <a:buFont typeface="Arial" panose="020B0604020202020204" pitchFamily="34" charset="0"/>
              <a:buChar char="•"/>
            </a:pPr>
            <a:r>
              <a:rPr lang="en-US" dirty="0">
                <a:solidFill>
                  <a:srgbClr val="000000"/>
                </a:solidFill>
              </a:rPr>
              <a:t>D</a:t>
            </a:r>
            <a:r>
              <a:rPr lang="en-US" b="0" i="0" dirty="0">
                <a:solidFill>
                  <a:srgbClr val="000000"/>
                </a:solidFill>
                <a:effectLst/>
              </a:rPr>
              <a:t>ecrease in defaulter % who are 'Core staff’.</a:t>
            </a:r>
          </a:p>
        </p:txBody>
      </p:sp>
      <p:pic>
        <p:nvPicPr>
          <p:cNvPr id="2" name="Picture 1">
            <a:extLst>
              <a:ext uri="{FF2B5EF4-FFF2-40B4-BE49-F238E27FC236}">
                <a16:creationId xmlns:a16="http://schemas.microsoft.com/office/drawing/2014/main" id="{04513EC0-BF07-4FD1-8E6B-8CFCA77E36EB}"/>
              </a:ext>
            </a:extLst>
          </p:cNvPr>
          <p:cNvPicPr>
            <a:picLocks noChangeAspect="1"/>
          </p:cNvPicPr>
          <p:nvPr/>
        </p:nvPicPr>
        <p:blipFill>
          <a:blip r:embed="rId3"/>
          <a:stretch>
            <a:fillRect/>
          </a:stretch>
        </p:blipFill>
        <p:spPr>
          <a:xfrm>
            <a:off x="6096000" y="998081"/>
            <a:ext cx="5426090" cy="3486329"/>
          </a:xfrm>
          <a:prstGeom prst="rect">
            <a:avLst/>
          </a:prstGeom>
          <a:ln>
            <a:solidFill>
              <a:schemeClr val="tx1"/>
            </a:solidFill>
          </a:ln>
        </p:spPr>
      </p:pic>
    </p:spTree>
    <p:extLst>
      <p:ext uri="{BB962C8B-B14F-4D97-AF65-F5344CB8AC3E}">
        <p14:creationId xmlns:p14="http://schemas.microsoft.com/office/powerpoint/2010/main" val="495550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B20AA1-79AD-4455-8DA7-37884E48FE5F}"/>
              </a:ext>
            </a:extLst>
          </p:cNvPr>
          <p:cNvSpPr txBox="1">
            <a:spLocks/>
          </p:cNvSpPr>
          <p:nvPr/>
        </p:nvSpPr>
        <p:spPr>
          <a:xfrm>
            <a:off x="673100" y="2661285"/>
            <a:ext cx="108458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t>Univariant analysis for different Numerical data</a:t>
            </a:r>
          </a:p>
        </p:txBody>
      </p:sp>
    </p:spTree>
    <p:extLst>
      <p:ext uri="{BB962C8B-B14F-4D97-AF65-F5344CB8AC3E}">
        <p14:creationId xmlns:p14="http://schemas.microsoft.com/office/powerpoint/2010/main" val="3245166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B0E26-9308-4533-A958-B2E85173786D}"/>
              </a:ext>
            </a:extLst>
          </p:cNvPr>
          <p:cNvSpPr txBox="1"/>
          <p:nvPr/>
        </p:nvSpPr>
        <p:spPr>
          <a:xfrm>
            <a:off x="4541521" y="20320"/>
            <a:ext cx="2722880" cy="646331"/>
          </a:xfrm>
          <a:prstGeom prst="rect">
            <a:avLst/>
          </a:prstGeom>
          <a:noFill/>
        </p:spPr>
        <p:txBody>
          <a:bodyPr wrap="square" rtlCol="0">
            <a:spAutoFit/>
          </a:bodyPr>
          <a:lstStyle/>
          <a:p>
            <a:r>
              <a:rPr lang="en-IN" sz="3600" b="1" dirty="0">
                <a:latin typeface="inherit"/>
              </a:rPr>
              <a:t>Loan annuity</a:t>
            </a:r>
          </a:p>
        </p:txBody>
      </p:sp>
      <p:pic>
        <p:nvPicPr>
          <p:cNvPr id="12" name="Picture 11">
            <a:extLst>
              <a:ext uri="{FF2B5EF4-FFF2-40B4-BE49-F238E27FC236}">
                <a16:creationId xmlns:a16="http://schemas.microsoft.com/office/drawing/2014/main" id="{2A6792E0-0FA5-425E-BB7A-A42D6328F3A8}"/>
              </a:ext>
            </a:extLst>
          </p:cNvPr>
          <p:cNvPicPr>
            <a:picLocks noChangeAspect="1"/>
          </p:cNvPicPr>
          <p:nvPr/>
        </p:nvPicPr>
        <p:blipFill>
          <a:blip r:embed="rId2"/>
          <a:stretch>
            <a:fillRect/>
          </a:stretch>
        </p:blipFill>
        <p:spPr>
          <a:xfrm>
            <a:off x="6461760" y="782321"/>
            <a:ext cx="4879972" cy="4245808"/>
          </a:xfrm>
          <a:prstGeom prst="rect">
            <a:avLst/>
          </a:prstGeom>
          <a:ln>
            <a:solidFill>
              <a:schemeClr val="tx1"/>
            </a:solidFill>
          </a:ln>
        </p:spPr>
      </p:pic>
      <p:sp>
        <p:nvSpPr>
          <p:cNvPr id="16" name="TextBox 15">
            <a:extLst>
              <a:ext uri="{FF2B5EF4-FFF2-40B4-BE49-F238E27FC236}">
                <a16:creationId xmlns:a16="http://schemas.microsoft.com/office/drawing/2014/main" id="{9FEEC972-ABE1-488C-82A2-D63C1AB020F6}"/>
              </a:ext>
            </a:extLst>
          </p:cNvPr>
          <p:cNvSpPr txBox="1"/>
          <p:nvPr/>
        </p:nvSpPr>
        <p:spPr>
          <a:xfrm>
            <a:off x="8361680" y="404445"/>
            <a:ext cx="1676400" cy="369332"/>
          </a:xfrm>
          <a:prstGeom prst="rect">
            <a:avLst/>
          </a:prstGeom>
          <a:noFill/>
        </p:spPr>
        <p:txBody>
          <a:bodyPr wrap="square">
            <a:spAutoFit/>
          </a:bodyPr>
          <a:lstStyle/>
          <a:p>
            <a:r>
              <a:rPr lang="en-IN" dirty="0"/>
              <a:t>Non-Defaulters</a:t>
            </a:r>
          </a:p>
        </p:txBody>
      </p:sp>
      <p:pic>
        <p:nvPicPr>
          <p:cNvPr id="8" name="Picture 7">
            <a:extLst>
              <a:ext uri="{FF2B5EF4-FFF2-40B4-BE49-F238E27FC236}">
                <a16:creationId xmlns:a16="http://schemas.microsoft.com/office/drawing/2014/main" id="{3F9C2378-9332-45D8-901B-09A8801378AA}"/>
              </a:ext>
            </a:extLst>
          </p:cNvPr>
          <p:cNvPicPr>
            <a:picLocks noChangeAspect="1"/>
          </p:cNvPicPr>
          <p:nvPr/>
        </p:nvPicPr>
        <p:blipFill>
          <a:blip r:embed="rId3"/>
          <a:stretch>
            <a:fillRect/>
          </a:stretch>
        </p:blipFill>
        <p:spPr>
          <a:xfrm>
            <a:off x="639761" y="782322"/>
            <a:ext cx="4948239" cy="4245808"/>
          </a:xfrm>
          <a:prstGeom prst="rect">
            <a:avLst/>
          </a:prstGeom>
          <a:ln>
            <a:solidFill>
              <a:schemeClr val="tx1"/>
            </a:solidFill>
          </a:ln>
        </p:spPr>
      </p:pic>
      <p:sp>
        <p:nvSpPr>
          <p:cNvPr id="17" name="TextBox 16">
            <a:extLst>
              <a:ext uri="{FF2B5EF4-FFF2-40B4-BE49-F238E27FC236}">
                <a16:creationId xmlns:a16="http://schemas.microsoft.com/office/drawing/2014/main" id="{B7C7BD44-AB77-40B2-B578-5EEB4486B099}"/>
              </a:ext>
            </a:extLst>
          </p:cNvPr>
          <p:cNvSpPr txBox="1"/>
          <p:nvPr/>
        </p:nvSpPr>
        <p:spPr>
          <a:xfrm>
            <a:off x="2106891" y="404445"/>
            <a:ext cx="1412240" cy="369332"/>
          </a:xfrm>
          <a:prstGeom prst="rect">
            <a:avLst/>
          </a:prstGeom>
          <a:noFill/>
        </p:spPr>
        <p:txBody>
          <a:bodyPr wrap="square">
            <a:spAutoFit/>
          </a:bodyPr>
          <a:lstStyle/>
          <a:p>
            <a:r>
              <a:rPr lang="en-IN" dirty="0"/>
              <a:t>Defaulters</a:t>
            </a:r>
          </a:p>
        </p:txBody>
      </p:sp>
    </p:spTree>
    <p:extLst>
      <p:ext uri="{BB962C8B-B14F-4D97-AF65-F5344CB8AC3E}">
        <p14:creationId xmlns:p14="http://schemas.microsoft.com/office/powerpoint/2010/main" val="2752101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08273C-BAFF-4DDE-8C83-64A9EFC2EC9A}"/>
              </a:ext>
            </a:extLst>
          </p:cNvPr>
          <p:cNvSpPr txBox="1"/>
          <p:nvPr/>
        </p:nvSpPr>
        <p:spPr>
          <a:xfrm>
            <a:off x="4541521" y="30480"/>
            <a:ext cx="2722880" cy="646331"/>
          </a:xfrm>
          <a:prstGeom prst="rect">
            <a:avLst/>
          </a:prstGeom>
          <a:noFill/>
        </p:spPr>
        <p:txBody>
          <a:bodyPr wrap="square" rtlCol="0">
            <a:spAutoFit/>
          </a:bodyPr>
          <a:lstStyle/>
          <a:p>
            <a:r>
              <a:rPr lang="en-IN" sz="3600" b="1" dirty="0">
                <a:latin typeface="inherit"/>
              </a:rPr>
              <a:t>Loan Credit:</a:t>
            </a:r>
          </a:p>
        </p:txBody>
      </p:sp>
      <p:sp>
        <p:nvSpPr>
          <p:cNvPr id="4" name="TextBox 3">
            <a:extLst>
              <a:ext uri="{FF2B5EF4-FFF2-40B4-BE49-F238E27FC236}">
                <a16:creationId xmlns:a16="http://schemas.microsoft.com/office/drawing/2014/main" id="{3A59226D-2FA8-488F-BCCF-21E65D15292A}"/>
              </a:ext>
            </a:extLst>
          </p:cNvPr>
          <p:cNvSpPr txBox="1"/>
          <p:nvPr/>
        </p:nvSpPr>
        <p:spPr>
          <a:xfrm>
            <a:off x="8608825" y="243146"/>
            <a:ext cx="1676400" cy="369332"/>
          </a:xfrm>
          <a:prstGeom prst="rect">
            <a:avLst/>
          </a:prstGeom>
          <a:noFill/>
        </p:spPr>
        <p:txBody>
          <a:bodyPr wrap="square">
            <a:spAutoFit/>
          </a:bodyPr>
          <a:lstStyle/>
          <a:p>
            <a:r>
              <a:rPr lang="en-IN" dirty="0"/>
              <a:t>Non-Defaulters</a:t>
            </a:r>
          </a:p>
        </p:txBody>
      </p:sp>
      <p:pic>
        <p:nvPicPr>
          <p:cNvPr id="10" name="Picture 9">
            <a:extLst>
              <a:ext uri="{FF2B5EF4-FFF2-40B4-BE49-F238E27FC236}">
                <a16:creationId xmlns:a16="http://schemas.microsoft.com/office/drawing/2014/main" id="{01355D75-C187-4375-88A5-8C9F8D931CC4}"/>
              </a:ext>
            </a:extLst>
          </p:cNvPr>
          <p:cNvPicPr>
            <a:picLocks noChangeAspect="1"/>
          </p:cNvPicPr>
          <p:nvPr/>
        </p:nvPicPr>
        <p:blipFill>
          <a:blip r:embed="rId2"/>
          <a:stretch>
            <a:fillRect/>
          </a:stretch>
        </p:blipFill>
        <p:spPr>
          <a:xfrm>
            <a:off x="6743530" y="612478"/>
            <a:ext cx="4919113" cy="4284642"/>
          </a:xfrm>
          <a:prstGeom prst="rect">
            <a:avLst/>
          </a:prstGeom>
          <a:ln>
            <a:solidFill>
              <a:schemeClr val="tx1"/>
            </a:solidFill>
          </a:ln>
        </p:spPr>
      </p:pic>
      <p:sp>
        <p:nvSpPr>
          <p:cNvPr id="3" name="TextBox 2">
            <a:extLst>
              <a:ext uri="{FF2B5EF4-FFF2-40B4-BE49-F238E27FC236}">
                <a16:creationId xmlns:a16="http://schemas.microsoft.com/office/drawing/2014/main" id="{76E291AB-8576-4ED7-9434-B9B6055D0615}"/>
              </a:ext>
            </a:extLst>
          </p:cNvPr>
          <p:cNvSpPr txBox="1"/>
          <p:nvPr/>
        </p:nvSpPr>
        <p:spPr>
          <a:xfrm>
            <a:off x="2566657" y="353645"/>
            <a:ext cx="1408520" cy="369332"/>
          </a:xfrm>
          <a:prstGeom prst="rect">
            <a:avLst/>
          </a:prstGeom>
          <a:noFill/>
        </p:spPr>
        <p:txBody>
          <a:bodyPr wrap="square">
            <a:spAutoFit/>
          </a:bodyPr>
          <a:lstStyle/>
          <a:p>
            <a:r>
              <a:rPr lang="en-IN" dirty="0"/>
              <a:t>Defaulters</a:t>
            </a:r>
          </a:p>
        </p:txBody>
      </p:sp>
      <p:pic>
        <p:nvPicPr>
          <p:cNvPr id="13" name="Picture 12">
            <a:extLst>
              <a:ext uri="{FF2B5EF4-FFF2-40B4-BE49-F238E27FC236}">
                <a16:creationId xmlns:a16="http://schemas.microsoft.com/office/drawing/2014/main" id="{E249099A-D7FE-4730-AF30-25F49E7CCB18}"/>
              </a:ext>
            </a:extLst>
          </p:cNvPr>
          <p:cNvPicPr>
            <a:picLocks noChangeAspect="1"/>
          </p:cNvPicPr>
          <p:nvPr/>
        </p:nvPicPr>
        <p:blipFill>
          <a:blip r:embed="rId3"/>
          <a:stretch>
            <a:fillRect/>
          </a:stretch>
        </p:blipFill>
        <p:spPr>
          <a:xfrm>
            <a:off x="761999" y="683599"/>
            <a:ext cx="4848843" cy="4261341"/>
          </a:xfrm>
          <a:prstGeom prst="rect">
            <a:avLst/>
          </a:prstGeom>
          <a:ln>
            <a:solidFill>
              <a:schemeClr val="tx1"/>
            </a:solidFill>
          </a:ln>
        </p:spPr>
      </p:pic>
    </p:spTree>
    <p:extLst>
      <p:ext uri="{BB962C8B-B14F-4D97-AF65-F5344CB8AC3E}">
        <p14:creationId xmlns:p14="http://schemas.microsoft.com/office/powerpoint/2010/main" val="1367426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FCEF9F-A2D6-4A18-8D8E-026F3FC804AD}"/>
              </a:ext>
            </a:extLst>
          </p:cNvPr>
          <p:cNvPicPr>
            <a:picLocks noChangeAspect="1"/>
          </p:cNvPicPr>
          <p:nvPr/>
        </p:nvPicPr>
        <p:blipFill>
          <a:blip r:embed="rId2"/>
          <a:stretch>
            <a:fillRect/>
          </a:stretch>
        </p:blipFill>
        <p:spPr>
          <a:xfrm>
            <a:off x="632592" y="664705"/>
            <a:ext cx="4823327" cy="4293375"/>
          </a:xfrm>
          <a:prstGeom prst="rect">
            <a:avLst/>
          </a:prstGeom>
          <a:ln>
            <a:solidFill>
              <a:schemeClr val="tx1"/>
            </a:solidFill>
          </a:ln>
        </p:spPr>
      </p:pic>
      <p:sp>
        <p:nvSpPr>
          <p:cNvPr id="6" name="TextBox 5">
            <a:extLst>
              <a:ext uri="{FF2B5EF4-FFF2-40B4-BE49-F238E27FC236}">
                <a16:creationId xmlns:a16="http://schemas.microsoft.com/office/drawing/2014/main" id="{F53C526C-A4C0-44E8-817A-B3B4ABA0898E}"/>
              </a:ext>
            </a:extLst>
          </p:cNvPr>
          <p:cNvSpPr txBox="1"/>
          <p:nvPr/>
        </p:nvSpPr>
        <p:spPr>
          <a:xfrm>
            <a:off x="4541521" y="20320"/>
            <a:ext cx="2722880" cy="646331"/>
          </a:xfrm>
          <a:prstGeom prst="rect">
            <a:avLst/>
          </a:prstGeom>
          <a:noFill/>
        </p:spPr>
        <p:txBody>
          <a:bodyPr wrap="square" rtlCol="0">
            <a:spAutoFit/>
          </a:bodyPr>
          <a:lstStyle/>
          <a:p>
            <a:r>
              <a:rPr lang="en-IN" sz="3600" b="1" dirty="0">
                <a:latin typeface="inherit"/>
              </a:rPr>
              <a:t>Goods Price</a:t>
            </a:r>
          </a:p>
        </p:txBody>
      </p:sp>
      <p:pic>
        <p:nvPicPr>
          <p:cNvPr id="8" name="Picture 7">
            <a:extLst>
              <a:ext uri="{FF2B5EF4-FFF2-40B4-BE49-F238E27FC236}">
                <a16:creationId xmlns:a16="http://schemas.microsoft.com/office/drawing/2014/main" id="{0555FE2C-CEE5-4B58-B999-3F0FB007275C}"/>
              </a:ext>
            </a:extLst>
          </p:cNvPr>
          <p:cNvPicPr>
            <a:picLocks noChangeAspect="1"/>
          </p:cNvPicPr>
          <p:nvPr/>
        </p:nvPicPr>
        <p:blipFill>
          <a:blip r:embed="rId3"/>
          <a:stretch>
            <a:fillRect/>
          </a:stretch>
        </p:blipFill>
        <p:spPr>
          <a:xfrm>
            <a:off x="6522720" y="655231"/>
            <a:ext cx="4935087" cy="4365346"/>
          </a:xfrm>
          <a:prstGeom prst="rect">
            <a:avLst/>
          </a:prstGeom>
          <a:ln>
            <a:solidFill>
              <a:schemeClr val="tx1"/>
            </a:solidFill>
          </a:ln>
        </p:spPr>
      </p:pic>
      <p:sp>
        <p:nvSpPr>
          <p:cNvPr id="9" name="TextBox 8">
            <a:extLst>
              <a:ext uri="{FF2B5EF4-FFF2-40B4-BE49-F238E27FC236}">
                <a16:creationId xmlns:a16="http://schemas.microsoft.com/office/drawing/2014/main" id="{4FFF60DA-704B-4CA0-A372-5EC57A5FF442}"/>
              </a:ext>
            </a:extLst>
          </p:cNvPr>
          <p:cNvSpPr txBox="1"/>
          <p:nvPr/>
        </p:nvSpPr>
        <p:spPr>
          <a:xfrm>
            <a:off x="2566657" y="353645"/>
            <a:ext cx="1408520" cy="369332"/>
          </a:xfrm>
          <a:prstGeom prst="rect">
            <a:avLst/>
          </a:prstGeom>
          <a:noFill/>
        </p:spPr>
        <p:txBody>
          <a:bodyPr wrap="square">
            <a:spAutoFit/>
          </a:bodyPr>
          <a:lstStyle/>
          <a:p>
            <a:r>
              <a:rPr lang="en-IN" dirty="0"/>
              <a:t>Defaulters</a:t>
            </a:r>
          </a:p>
        </p:txBody>
      </p:sp>
      <p:sp>
        <p:nvSpPr>
          <p:cNvPr id="10" name="TextBox 9">
            <a:extLst>
              <a:ext uri="{FF2B5EF4-FFF2-40B4-BE49-F238E27FC236}">
                <a16:creationId xmlns:a16="http://schemas.microsoft.com/office/drawing/2014/main" id="{125C6933-752A-408E-9110-D28C8EC4B5CB}"/>
              </a:ext>
            </a:extLst>
          </p:cNvPr>
          <p:cNvSpPr txBox="1"/>
          <p:nvPr/>
        </p:nvSpPr>
        <p:spPr>
          <a:xfrm>
            <a:off x="8425945" y="243146"/>
            <a:ext cx="1676400" cy="369332"/>
          </a:xfrm>
          <a:prstGeom prst="rect">
            <a:avLst/>
          </a:prstGeom>
          <a:noFill/>
        </p:spPr>
        <p:txBody>
          <a:bodyPr wrap="square">
            <a:spAutoFit/>
          </a:bodyPr>
          <a:lstStyle/>
          <a:p>
            <a:r>
              <a:rPr lang="en-IN" dirty="0"/>
              <a:t>Non-Defaulters</a:t>
            </a:r>
          </a:p>
        </p:txBody>
      </p:sp>
    </p:spTree>
    <p:extLst>
      <p:ext uri="{BB962C8B-B14F-4D97-AF65-F5344CB8AC3E}">
        <p14:creationId xmlns:p14="http://schemas.microsoft.com/office/powerpoint/2010/main" val="4250241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3A6472-6C53-436F-8C61-E77D4EFADF68}"/>
              </a:ext>
            </a:extLst>
          </p:cNvPr>
          <p:cNvPicPr>
            <a:picLocks noChangeAspect="1"/>
          </p:cNvPicPr>
          <p:nvPr/>
        </p:nvPicPr>
        <p:blipFill>
          <a:blip r:embed="rId2"/>
          <a:stretch>
            <a:fillRect/>
          </a:stretch>
        </p:blipFill>
        <p:spPr>
          <a:xfrm>
            <a:off x="755548" y="927010"/>
            <a:ext cx="4741012" cy="4150279"/>
          </a:xfrm>
          <a:prstGeom prst="rect">
            <a:avLst/>
          </a:prstGeom>
        </p:spPr>
      </p:pic>
      <p:pic>
        <p:nvPicPr>
          <p:cNvPr id="5" name="Picture 4">
            <a:extLst>
              <a:ext uri="{FF2B5EF4-FFF2-40B4-BE49-F238E27FC236}">
                <a16:creationId xmlns:a16="http://schemas.microsoft.com/office/drawing/2014/main" id="{8FEE32F4-DA30-4A18-8EB4-3DED0A27FD34}"/>
              </a:ext>
            </a:extLst>
          </p:cNvPr>
          <p:cNvPicPr>
            <a:picLocks noChangeAspect="1"/>
          </p:cNvPicPr>
          <p:nvPr/>
        </p:nvPicPr>
        <p:blipFill>
          <a:blip r:embed="rId3"/>
          <a:stretch>
            <a:fillRect/>
          </a:stretch>
        </p:blipFill>
        <p:spPr>
          <a:xfrm>
            <a:off x="6532880" y="927010"/>
            <a:ext cx="4544160" cy="4016978"/>
          </a:xfrm>
          <a:prstGeom prst="rect">
            <a:avLst/>
          </a:prstGeom>
        </p:spPr>
      </p:pic>
      <p:sp>
        <p:nvSpPr>
          <p:cNvPr id="8" name="TextBox 7">
            <a:extLst>
              <a:ext uri="{FF2B5EF4-FFF2-40B4-BE49-F238E27FC236}">
                <a16:creationId xmlns:a16="http://schemas.microsoft.com/office/drawing/2014/main" id="{0E0623F2-716C-4B2A-9E50-99F4F19DB91C}"/>
              </a:ext>
            </a:extLst>
          </p:cNvPr>
          <p:cNvSpPr txBox="1"/>
          <p:nvPr/>
        </p:nvSpPr>
        <p:spPr>
          <a:xfrm>
            <a:off x="4439920" y="172720"/>
            <a:ext cx="3403599" cy="646331"/>
          </a:xfrm>
          <a:prstGeom prst="rect">
            <a:avLst/>
          </a:prstGeom>
          <a:noFill/>
        </p:spPr>
        <p:txBody>
          <a:bodyPr wrap="square" rtlCol="0">
            <a:spAutoFit/>
          </a:bodyPr>
          <a:lstStyle/>
          <a:p>
            <a:r>
              <a:rPr lang="en-IN" sz="3600" b="1" dirty="0">
                <a:latin typeface="inherit"/>
              </a:rPr>
              <a:t>Family members</a:t>
            </a:r>
          </a:p>
        </p:txBody>
      </p:sp>
      <p:sp>
        <p:nvSpPr>
          <p:cNvPr id="9" name="TextBox 8">
            <a:extLst>
              <a:ext uri="{FF2B5EF4-FFF2-40B4-BE49-F238E27FC236}">
                <a16:creationId xmlns:a16="http://schemas.microsoft.com/office/drawing/2014/main" id="{F24AB2D4-209A-4728-8086-C87FB417AFE6}"/>
              </a:ext>
            </a:extLst>
          </p:cNvPr>
          <p:cNvSpPr txBox="1"/>
          <p:nvPr/>
        </p:nvSpPr>
        <p:spPr>
          <a:xfrm>
            <a:off x="2536177" y="587325"/>
            <a:ext cx="1408520" cy="369332"/>
          </a:xfrm>
          <a:prstGeom prst="rect">
            <a:avLst/>
          </a:prstGeom>
          <a:noFill/>
        </p:spPr>
        <p:txBody>
          <a:bodyPr wrap="square">
            <a:spAutoFit/>
          </a:bodyPr>
          <a:lstStyle/>
          <a:p>
            <a:r>
              <a:rPr lang="en-IN" dirty="0"/>
              <a:t>Defaulters</a:t>
            </a:r>
          </a:p>
        </p:txBody>
      </p:sp>
      <p:sp>
        <p:nvSpPr>
          <p:cNvPr id="10" name="TextBox 9">
            <a:extLst>
              <a:ext uri="{FF2B5EF4-FFF2-40B4-BE49-F238E27FC236}">
                <a16:creationId xmlns:a16="http://schemas.microsoft.com/office/drawing/2014/main" id="{2800348B-7E6D-4C57-B16E-9E7D4602E3C4}"/>
              </a:ext>
            </a:extLst>
          </p:cNvPr>
          <p:cNvSpPr txBox="1"/>
          <p:nvPr/>
        </p:nvSpPr>
        <p:spPr>
          <a:xfrm>
            <a:off x="8425945" y="537786"/>
            <a:ext cx="1676400" cy="369332"/>
          </a:xfrm>
          <a:prstGeom prst="rect">
            <a:avLst/>
          </a:prstGeom>
          <a:noFill/>
        </p:spPr>
        <p:txBody>
          <a:bodyPr wrap="square">
            <a:spAutoFit/>
          </a:bodyPr>
          <a:lstStyle/>
          <a:p>
            <a:r>
              <a:rPr lang="en-IN" dirty="0"/>
              <a:t>Non-Defaulters</a:t>
            </a:r>
          </a:p>
        </p:txBody>
      </p:sp>
    </p:spTree>
    <p:extLst>
      <p:ext uri="{BB962C8B-B14F-4D97-AF65-F5344CB8AC3E}">
        <p14:creationId xmlns:p14="http://schemas.microsoft.com/office/powerpoint/2010/main" val="103148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71E382-164F-4AA9-A895-FDFCD018134E}"/>
              </a:ext>
            </a:extLst>
          </p:cNvPr>
          <p:cNvPicPr>
            <a:picLocks noChangeAspect="1"/>
          </p:cNvPicPr>
          <p:nvPr/>
        </p:nvPicPr>
        <p:blipFill>
          <a:blip r:embed="rId2"/>
          <a:stretch>
            <a:fillRect/>
          </a:stretch>
        </p:blipFill>
        <p:spPr>
          <a:xfrm>
            <a:off x="1130598" y="1010774"/>
            <a:ext cx="4518362" cy="3976158"/>
          </a:xfrm>
          <a:prstGeom prst="rect">
            <a:avLst/>
          </a:prstGeom>
        </p:spPr>
      </p:pic>
      <p:pic>
        <p:nvPicPr>
          <p:cNvPr id="5" name="Picture 4">
            <a:extLst>
              <a:ext uri="{FF2B5EF4-FFF2-40B4-BE49-F238E27FC236}">
                <a16:creationId xmlns:a16="http://schemas.microsoft.com/office/drawing/2014/main" id="{F6FB2B87-0026-4B6A-A23E-F74631CFC0AD}"/>
              </a:ext>
            </a:extLst>
          </p:cNvPr>
          <p:cNvPicPr>
            <a:picLocks noChangeAspect="1"/>
          </p:cNvPicPr>
          <p:nvPr/>
        </p:nvPicPr>
        <p:blipFill>
          <a:blip r:embed="rId3"/>
          <a:stretch>
            <a:fillRect/>
          </a:stretch>
        </p:blipFill>
        <p:spPr>
          <a:xfrm>
            <a:off x="6927114" y="959974"/>
            <a:ext cx="4208246" cy="3790842"/>
          </a:xfrm>
          <a:prstGeom prst="rect">
            <a:avLst/>
          </a:prstGeom>
        </p:spPr>
      </p:pic>
      <p:sp>
        <p:nvSpPr>
          <p:cNvPr id="6" name="TextBox 5">
            <a:extLst>
              <a:ext uri="{FF2B5EF4-FFF2-40B4-BE49-F238E27FC236}">
                <a16:creationId xmlns:a16="http://schemas.microsoft.com/office/drawing/2014/main" id="{D7817057-DF02-419A-9908-3F9EE83F3620}"/>
              </a:ext>
            </a:extLst>
          </p:cNvPr>
          <p:cNvSpPr txBox="1"/>
          <p:nvPr/>
        </p:nvSpPr>
        <p:spPr>
          <a:xfrm>
            <a:off x="4267200" y="91440"/>
            <a:ext cx="3949625" cy="646331"/>
          </a:xfrm>
          <a:prstGeom prst="rect">
            <a:avLst/>
          </a:prstGeom>
          <a:noFill/>
        </p:spPr>
        <p:txBody>
          <a:bodyPr wrap="square" rtlCol="0">
            <a:spAutoFit/>
          </a:bodyPr>
          <a:lstStyle/>
          <a:p>
            <a:r>
              <a:rPr lang="en-IN" sz="3600" b="1" dirty="0">
                <a:latin typeface="inherit"/>
              </a:rPr>
              <a:t>Number of children</a:t>
            </a:r>
          </a:p>
        </p:txBody>
      </p:sp>
      <p:sp>
        <p:nvSpPr>
          <p:cNvPr id="7" name="TextBox 6">
            <a:extLst>
              <a:ext uri="{FF2B5EF4-FFF2-40B4-BE49-F238E27FC236}">
                <a16:creationId xmlns:a16="http://schemas.microsoft.com/office/drawing/2014/main" id="{2136166E-FDB3-43E5-A4B2-D00ED0501A7A}"/>
              </a:ext>
            </a:extLst>
          </p:cNvPr>
          <p:cNvSpPr txBox="1"/>
          <p:nvPr/>
        </p:nvSpPr>
        <p:spPr>
          <a:xfrm>
            <a:off x="2597137" y="607645"/>
            <a:ext cx="1408520" cy="369332"/>
          </a:xfrm>
          <a:prstGeom prst="rect">
            <a:avLst/>
          </a:prstGeom>
          <a:noFill/>
        </p:spPr>
        <p:txBody>
          <a:bodyPr wrap="square">
            <a:spAutoFit/>
          </a:bodyPr>
          <a:lstStyle/>
          <a:p>
            <a:r>
              <a:rPr lang="en-IN" dirty="0"/>
              <a:t>Defaulters</a:t>
            </a:r>
          </a:p>
        </p:txBody>
      </p:sp>
      <p:sp>
        <p:nvSpPr>
          <p:cNvPr id="8" name="TextBox 7">
            <a:extLst>
              <a:ext uri="{FF2B5EF4-FFF2-40B4-BE49-F238E27FC236}">
                <a16:creationId xmlns:a16="http://schemas.microsoft.com/office/drawing/2014/main" id="{57141688-82C6-4FC8-9E29-46E527F80362}"/>
              </a:ext>
            </a:extLst>
          </p:cNvPr>
          <p:cNvSpPr txBox="1"/>
          <p:nvPr/>
        </p:nvSpPr>
        <p:spPr>
          <a:xfrm>
            <a:off x="8425945" y="517466"/>
            <a:ext cx="1676400" cy="369332"/>
          </a:xfrm>
          <a:prstGeom prst="rect">
            <a:avLst/>
          </a:prstGeom>
          <a:noFill/>
        </p:spPr>
        <p:txBody>
          <a:bodyPr wrap="square">
            <a:spAutoFit/>
          </a:bodyPr>
          <a:lstStyle/>
          <a:p>
            <a:r>
              <a:rPr lang="en-IN" dirty="0"/>
              <a:t>Non-Defaulters</a:t>
            </a:r>
          </a:p>
        </p:txBody>
      </p:sp>
    </p:spTree>
    <p:extLst>
      <p:ext uri="{BB962C8B-B14F-4D97-AF65-F5344CB8AC3E}">
        <p14:creationId xmlns:p14="http://schemas.microsoft.com/office/powerpoint/2010/main" val="2220855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EFC9-2E0D-4E0E-A105-8F8A5A6567DB}"/>
              </a:ext>
            </a:extLst>
          </p:cNvPr>
          <p:cNvSpPr txBox="1">
            <a:spLocks/>
          </p:cNvSpPr>
          <p:nvPr/>
        </p:nvSpPr>
        <p:spPr>
          <a:xfrm>
            <a:off x="673100" y="2600325"/>
            <a:ext cx="108458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Bivariate analysis </a:t>
            </a:r>
          </a:p>
          <a:p>
            <a:pPr algn="ctr"/>
            <a:r>
              <a:rPr lang="en-IN" b="1" dirty="0"/>
              <a:t>for categorical variables vs numerical variables</a:t>
            </a:r>
          </a:p>
        </p:txBody>
      </p:sp>
    </p:spTree>
    <p:extLst>
      <p:ext uri="{BB962C8B-B14F-4D97-AF65-F5344CB8AC3E}">
        <p14:creationId xmlns:p14="http://schemas.microsoft.com/office/powerpoint/2010/main" val="1975872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65D426-F739-4E30-A9D6-297811E1774B}"/>
              </a:ext>
            </a:extLst>
          </p:cNvPr>
          <p:cNvPicPr>
            <a:picLocks noChangeAspect="1"/>
          </p:cNvPicPr>
          <p:nvPr/>
        </p:nvPicPr>
        <p:blipFill>
          <a:blip r:embed="rId2"/>
          <a:stretch>
            <a:fillRect/>
          </a:stretch>
        </p:blipFill>
        <p:spPr>
          <a:xfrm>
            <a:off x="845076" y="811435"/>
            <a:ext cx="4222967" cy="3670489"/>
          </a:xfrm>
          <a:prstGeom prst="rect">
            <a:avLst/>
          </a:prstGeom>
          <a:ln>
            <a:solidFill>
              <a:schemeClr val="tx1"/>
            </a:solidFill>
          </a:ln>
        </p:spPr>
      </p:pic>
      <p:pic>
        <p:nvPicPr>
          <p:cNvPr id="7" name="Picture 6">
            <a:extLst>
              <a:ext uri="{FF2B5EF4-FFF2-40B4-BE49-F238E27FC236}">
                <a16:creationId xmlns:a16="http://schemas.microsoft.com/office/drawing/2014/main" id="{C643B5F9-4F8A-4550-A36E-12462F983AC3}"/>
              </a:ext>
            </a:extLst>
          </p:cNvPr>
          <p:cNvPicPr>
            <a:picLocks noChangeAspect="1"/>
          </p:cNvPicPr>
          <p:nvPr/>
        </p:nvPicPr>
        <p:blipFill>
          <a:blip r:embed="rId3"/>
          <a:stretch>
            <a:fillRect/>
          </a:stretch>
        </p:blipFill>
        <p:spPr>
          <a:xfrm>
            <a:off x="6755018" y="849535"/>
            <a:ext cx="4330923" cy="3683189"/>
          </a:xfrm>
          <a:prstGeom prst="rect">
            <a:avLst/>
          </a:prstGeom>
          <a:ln>
            <a:solidFill>
              <a:schemeClr val="tx1"/>
            </a:solidFill>
          </a:ln>
        </p:spPr>
      </p:pic>
      <p:sp>
        <p:nvSpPr>
          <p:cNvPr id="8" name="TextBox 7">
            <a:extLst>
              <a:ext uri="{FF2B5EF4-FFF2-40B4-BE49-F238E27FC236}">
                <a16:creationId xmlns:a16="http://schemas.microsoft.com/office/drawing/2014/main" id="{EFC49D97-3D21-4F33-A7FA-1D25A2881C5F}"/>
              </a:ext>
            </a:extLst>
          </p:cNvPr>
          <p:cNvSpPr txBox="1"/>
          <p:nvPr/>
        </p:nvSpPr>
        <p:spPr>
          <a:xfrm>
            <a:off x="3058160" y="20320"/>
            <a:ext cx="6126480" cy="646331"/>
          </a:xfrm>
          <a:prstGeom prst="rect">
            <a:avLst/>
          </a:prstGeom>
          <a:noFill/>
        </p:spPr>
        <p:txBody>
          <a:bodyPr wrap="square" rtlCol="0">
            <a:spAutoFit/>
          </a:bodyPr>
          <a:lstStyle/>
          <a:p>
            <a:r>
              <a:rPr lang="en-IN" sz="3600" b="1" dirty="0">
                <a:latin typeface="inherit"/>
              </a:rPr>
              <a:t>Education type vs Loan amount</a:t>
            </a:r>
          </a:p>
        </p:txBody>
      </p:sp>
      <p:sp>
        <p:nvSpPr>
          <p:cNvPr id="9" name="TextBox 8">
            <a:extLst>
              <a:ext uri="{FF2B5EF4-FFF2-40B4-BE49-F238E27FC236}">
                <a16:creationId xmlns:a16="http://schemas.microsoft.com/office/drawing/2014/main" id="{2463BA82-4E92-46B7-932D-561C8B187385}"/>
              </a:ext>
            </a:extLst>
          </p:cNvPr>
          <p:cNvSpPr txBox="1"/>
          <p:nvPr/>
        </p:nvSpPr>
        <p:spPr>
          <a:xfrm>
            <a:off x="1005840" y="4876800"/>
            <a:ext cx="10220960" cy="1200329"/>
          </a:xfrm>
          <a:prstGeom prst="rect">
            <a:avLst/>
          </a:prstGeom>
          <a:noFill/>
        </p:spPr>
        <p:txBody>
          <a:bodyPr wrap="square" rtlCol="0">
            <a:spAutoFit/>
          </a:bodyPr>
          <a:lstStyle/>
          <a:p>
            <a:pPr algn="just"/>
            <a:r>
              <a:rPr lang="en-US" b="0" i="0" dirty="0">
                <a:solidFill>
                  <a:srgbClr val="000000"/>
                </a:solidFill>
                <a:effectLst/>
              </a:rPr>
              <a:t>In the above graphs of Education type vs loan amount for Defaulter and Non-Defaulter, we can observe </a:t>
            </a:r>
          </a:p>
          <a:p>
            <a:pPr marL="285750" indent="-285750" algn="just">
              <a:buFont typeface="Arial" panose="020B0604020202020204" pitchFamily="34" charset="0"/>
              <a:buChar char="•"/>
            </a:pPr>
            <a:r>
              <a:rPr lang="en-US" dirty="0">
                <a:solidFill>
                  <a:srgbClr val="000000"/>
                </a:solidFill>
              </a:rPr>
              <a:t>Secondary  and incomplete higher education type applicant are on higher side of defaulter</a:t>
            </a:r>
          </a:p>
          <a:p>
            <a:pPr marL="285750" indent="-285750" algn="just">
              <a:buFont typeface="Arial" panose="020B0604020202020204" pitchFamily="34" charset="0"/>
              <a:buChar char="•"/>
            </a:pPr>
            <a:r>
              <a:rPr lang="en-US" b="0" i="0" dirty="0">
                <a:solidFill>
                  <a:srgbClr val="000000"/>
                </a:solidFill>
                <a:effectLst/>
              </a:rPr>
              <a:t>Defaulter applicant with Academic degree type of education are having higher credit/loan amount than others.</a:t>
            </a:r>
            <a:endParaRPr lang="en-IN" dirty="0"/>
          </a:p>
        </p:txBody>
      </p:sp>
    </p:spTree>
    <p:extLst>
      <p:ext uri="{BB962C8B-B14F-4D97-AF65-F5344CB8AC3E}">
        <p14:creationId xmlns:p14="http://schemas.microsoft.com/office/powerpoint/2010/main" val="1889167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4EA3C0-277F-4B26-A539-DFD3AED1C62C}"/>
              </a:ext>
            </a:extLst>
          </p:cNvPr>
          <p:cNvSpPr txBox="1"/>
          <p:nvPr/>
        </p:nvSpPr>
        <p:spPr>
          <a:xfrm>
            <a:off x="3373120" y="20320"/>
            <a:ext cx="5110480" cy="646331"/>
          </a:xfrm>
          <a:prstGeom prst="rect">
            <a:avLst/>
          </a:prstGeom>
          <a:noFill/>
        </p:spPr>
        <p:txBody>
          <a:bodyPr wrap="square" rtlCol="0">
            <a:spAutoFit/>
          </a:bodyPr>
          <a:lstStyle/>
          <a:p>
            <a:r>
              <a:rPr lang="en-IN" sz="3600" b="1" dirty="0">
                <a:latin typeface="inherit"/>
              </a:rPr>
              <a:t>Education type vs Income</a:t>
            </a:r>
          </a:p>
        </p:txBody>
      </p:sp>
      <p:sp>
        <p:nvSpPr>
          <p:cNvPr id="5" name="TextBox 4">
            <a:extLst>
              <a:ext uri="{FF2B5EF4-FFF2-40B4-BE49-F238E27FC236}">
                <a16:creationId xmlns:a16="http://schemas.microsoft.com/office/drawing/2014/main" id="{81212B91-596A-4819-B74F-EE0681E439A8}"/>
              </a:ext>
            </a:extLst>
          </p:cNvPr>
          <p:cNvSpPr txBox="1"/>
          <p:nvPr/>
        </p:nvSpPr>
        <p:spPr>
          <a:xfrm>
            <a:off x="1005840" y="5110480"/>
            <a:ext cx="10220960" cy="646331"/>
          </a:xfrm>
          <a:prstGeom prst="rect">
            <a:avLst/>
          </a:prstGeom>
          <a:noFill/>
        </p:spPr>
        <p:txBody>
          <a:bodyPr wrap="square" rtlCol="0">
            <a:spAutoFit/>
          </a:bodyPr>
          <a:lstStyle/>
          <a:p>
            <a:pPr algn="just"/>
            <a:r>
              <a:rPr lang="en-US" b="0" i="0" dirty="0">
                <a:solidFill>
                  <a:srgbClr val="000000"/>
                </a:solidFill>
                <a:effectLst/>
              </a:rPr>
              <a:t>In the above graphs of Education type vs Total income for Defaulter and Non-Defaulter, can observe Defaulter applicant with Academic degree are having higher income than others at low extreme.</a:t>
            </a:r>
            <a:endParaRPr lang="en-IN" dirty="0"/>
          </a:p>
        </p:txBody>
      </p:sp>
      <p:pic>
        <p:nvPicPr>
          <p:cNvPr id="7" name="Picture 6">
            <a:extLst>
              <a:ext uri="{FF2B5EF4-FFF2-40B4-BE49-F238E27FC236}">
                <a16:creationId xmlns:a16="http://schemas.microsoft.com/office/drawing/2014/main" id="{663F651A-495A-404B-86D2-F4769C358DE2}"/>
              </a:ext>
            </a:extLst>
          </p:cNvPr>
          <p:cNvPicPr>
            <a:picLocks noChangeAspect="1"/>
          </p:cNvPicPr>
          <p:nvPr/>
        </p:nvPicPr>
        <p:blipFill>
          <a:blip r:embed="rId2"/>
          <a:stretch>
            <a:fillRect/>
          </a:stretch>
        </p:blipFill>
        <p:spPr>
          <a:xfrm>
            <a:off x="1106058" y="737770"/>
            <a:ext cx="4715621" cy="4215809"/>
          </a:xfrm>
          <a:prstGeom prst="rect">
            <a:avLst/>
          </a:prstGeom>
          <a:ln>
            <a:solidFill>
              <a:schemeClr val="tx1"/>
            </a:solidFill>
          </a:ln>
        </p:spPr>
      </p:pic>
      <p:pic>
        <p:nvPicPr>
          <p:cNvPr id="9" name="Picture 8">
            <a:extLst>
              <a:ext uri="{FF2B5EF4-FFF2-40B4-BE49-F238E27FC236}">
                <a16:creationId xmlns:a16="http://schemas.microsoft.com/office/drawing/2014/main" id="{2F0BC534-C41B-4ED8-A213-9F9F5F7F54CD}"/>
              </a:ext>
            </a:extLst>
          </p:cNvPr>
          <p:cNvPicPr>
            <a:picLocks noChangeAspect="1"/>
          </p:cNvPicPr>
          <p:nvPr/>
        </p:nvPicPr>
        <p:blipFill>
          <a:blip r:embed="rId3"/>
          <a:stretch>
            <a:fillRect/>
          </a:stretch>
        </p:blipFill>
        <p:spPr>
          <a:xfrm>
            <a:off x="6583681" y="788570"/>
            <a:ext cx="4405100" cy="4166063"/>
          </a:xfrm>
          <a:prstGeom prst="rect">
            <a:avLst/>
          </a:prstGeom>
          <a:ln>
            <a:solidFill>
              <a:schemeClr val="tx1"/>
            </a:solidFill>
          </a:ln>
        </p:spPr>
      </p:pic>
    </p:spTree>
    <p:extLst>
      <p:ext uri="{BB962C8B-B14F-4D97-AF65-F5344CB8AC3E}">
        <p14:creationId xmlns:p14="http://schemas.microsoft.com/office/powerpoint/2010/main" val="29354694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45CFB3-4F5F-4E6A-ADBE-E18335712F16}"/>
              </a:ext>
            </a:extLst>
          </p:cNvPr>
          <p:cNvSpPr txBox="1"/>
          <p:nvPr/>
        </p:nvSpPr>
        <p:spPr>
          <a:xfrm>
            <a:off x="3058160" y="20320"/>
            <a:ext cx="6126480" cy="646331"/>
          </a:xfrm>
          <a:prstGeom prst="rect">
            <a:avLst/>
          </a:prstGeom>
          <a:noFill/>
        </p:spPr>
        <p:txBody>
          <a:bodyPr wrap="square" rtlCol="0">
            <a:spAutoFit/>
          </a:bodyPr>
          <a:lstStyle/>
          <a:p>
            <a:r>
              <a:rPr lang="en-IN" sz="3600" b="1" dirty="0">
                <a:latin typeface="inherit"/>
              </a:rPr>
              <a:t>Marital status vs Loan amount</a:t>
            </a:r>
          </a:p>
        </p:txBody>
      </p:sp>
      <p:sp>
        <p:nvSpPr>
          <p:cNvPr id="5" name="TextBox 4">
            <a:extLst>
              <a:ext uri="{FF2B5EF4-FFF2-40B4-BE49-F238E27FC236}">
                <a16:creationId xmlns:a16="http://schemas.microsoft.com/office/drawing/2014/main" id="{4E2F64A4-2F49-4EDA-BC44-3800FA3D103F}"/>
              </a:ext>
            </a:extLst>
          </p:cNvPr>
          <p:cNvSpPr txBox="1"/>
          <p:nvPr/>
        </p:nvSpPr>
        <p:spPr>
          <a:xfrm>
            <a:off x="1005840" y="4876800"/>
            <a:ext cx="10220960" cy="923330"/>
          </a:xfrm>
          <a:prstGeom prst="rect">
            <a:avLst/>
          </a:prstGeom>
          <a:noFill/>
        </p:spPr>
        <p:txBody>
          <a:bodyPr wrap="square" rtlCol="0">
            <a:spAutoFit/>
          </a:bodyPr>
          <a:lstStyle/>
          <a:p>
            <a:pPr algn="just"/>
            <a:r>
              <a:rPr lang="en-US" b="0" i="0" dirty="0">
                <a:solidFill>
                  <a:srgbClr val="000000"/>
                </a:solidFill>
                <a:effectLst/>
              </a:rPr>
              <a:t>Above graphs of Marital status vs loan amount for Defaulter and Non-Defaulter, appears to be similar. Single/ Not married appears be on the higher side to be a defaulter. Married Non-Defaulter has higher loan amount than other.</a:t>
            </a:r>
            <a:endParaRPr lang="en-IN" dirty="0"/>
          </a:p>
        </p:txBody>
      </p:sp>
      <p:pic>
        <p:nvPicPr>
          <p:cNvPr id="7" name="Picture 6">
            <a:extLst>
              <a:ext uri="{FF2B5EF4-FFF2-40B4-BE49-F238E27FC236}">
                <a16:creationId xmlns:a16="http://schemas.microsoft.com/office/drawing/2014/main" id="{210F954B-9997-4DB6-A9D5-BB1BE63DCB12}"/>
              </a:ext>
            </a:extLst>
          </p:cNvPr>
          <p:cNvPicPr>
            <a:picLocks noChangeAspect="1"/>
          </p:cNvPicPr>
          <p:nvPr/>
        </p:nvPicPr>
        <p:blipFill>
          <a:blip r:embed="rId2"/>
          <a:stretch>
            <a:fillRect/>
          </a:stretch>
        </p:blipFill>
        <p:spPr>
          <a:xfrm>
            <a:off x="848735" y="745902"/>
            <a:ext cx="4588248" cy="3866737"/>
          </a:xfrm>
          <a:prstGeom prst="rect">
            <a:avLst/>
          </a:prstGeom>
          <a:ln>
            <a:solidFill>
              <a:schemeClr val="tx1"/>
            </a:solidFill>
          </a:ln>
        </p:spPr>
      </p:pic>
      <p:pic>
        <p:nvPicPr>
          <p:cNvPr id="9" name="Picture 8">
            <a:extLst>
              <a:ext uri="{FF2B5EF4-FFF2-40B4-BE49-F238E27FC236}">
                <a16:creationId xmlns:a16="http://schemas.microsoft.com/office/drawing/2014/main" id="{2EA4BF90-5CA0-4D5F-A5DF-9DDE4C090F9A}"/>
              </a:ext>
            </a:extLst>
          </p:cNvPr>
          <p:cNvPicPr>
            <a:picLocks noChangeAspect="1"/>
          </p:cNvPicPr>
          <p:nvPr/>
        </p:nvPicPr>
        <p:blipFill>
          <a:blip r:embed="rId3"/>
          <a:stretch>
            <a:fillRect/>
          </a:stretch>
        </p:blipFill>
        <p:spPr>
          <a:xfrm>
            <a:off x="5730240" y="768251"/>
            <a:ext cx="4689583" cy="3816938"/>
          </a:xfrm>
          <a:prstGeom prst="rect">
            <a:avLst/>
          </a:prstGeom>
          <a:ln>
            <a:solidFill>
              <a:schemeClr val="tx1"/>
            </a:solidFill>
          </a:ln>
        </p:spPr>
      </p:pic>
    </p:spTree>
    <p:extLst>
      <p:ext uri="{BB962C8B-B14F-4D97-AF65-F5344CB8AC3E}">
        <p14:creationId xmlns:p14="http://schemas.microsoft.com/office/powerpoint/2010/main" val="1670631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8AFFAB-9CED-4900-9D4E-3BE76FDD88D8}"/>
              </a:ext>
            </a:extLst>
          </p:cNvPr>
          <p:cNvSpPr txBox="1"/>
          <p:nvPr/>
        </p:nvSpPr>
        <p:spPr>
          <a:xfrm>
            <a:off x="3251200" y="20321"/>
            <a:ext cx="5069840" cy="646331"/>
          </a:xfrm>
          <a:prstGeom prst="rect">
            <a:avLst/>
          </a:prstGeom>
          <a:noFill/>
        </p:spPr>
        <p:txBody>
          <a:bodyPr wrap="square" rtlCol="0">
            <a:spAutoFit/>
          </a:bodyPr>
          <a:lstStyle/>
          <a:p>
            <a:r>
              <a:rPr lang="en-IN" sz="3600" b="1" dirty="0">
                <a:latin typeface="inherit"/>
              </a:rPr>
              <a:t>Marital status vs Income</a:t>
            </a:r>
          </a:p>
        </p:txBody>
      </p:sp>
      <p:sp>
        <p:nvSpPr>
          <p:cNvPr id="5" name="TextBox 4">
            <a:extLst>
              <a:ext uri="{FF2B5EF4-FFF2-40B4-BE49-F238E27FC236}">
                <a16:creationId xmlns:a16="http://schemas.microsoft.com/office/drawing/2014/main" id="{2798D5F6-67E3-48A0-A26B-EDB4E3C1D7AE}"/>
              </a:ext>
            </a:extLst>
          </p:cNvPr>
          <p:cNvSpPr txBox="1"/>
          <p:nvPr/>
        </p:nvSpPr>
        <p:spPr>
          <a:xfrm>
            <a:off x="1005840" y="5130800"/>
            <a:ext cx="10220960" cy="646331"/>
          </a:xfrm>
          <a:prstGeom prst="rect">
            <a:avLst/>
          </a:prstGeom>
          <a:noFill/>
        </p:spPr>
        <p:txBody>
          <a:bodyPr wrap="square" rtlCol="0">
            <a:spAutoFit/>
          </a:bodyPr>
          <a:lstStyle/>
          <a:p>
            <a:pPr algn="just"/>
            <a:r>
              <a:rPr lang="en-US" b="0" i="0" dirty="0">
                <a:solidFill>
                  <a:srgbClr val="000000"/>
                </a:solidFill>
                <a:effectLst/>
              </a:rPr>
              <a:t>Above graphs of Marital status vs Total income for Defaulter and Non-Defaulter, can observe: 'Single/not married', ‘Separated', 'civil married' and 'Married' are having higher income</a:t>
            </a:r>
            <a:endParaRPr lang="en-IN" dirty="0"/>
          </a:p>
        </p:txBody>
      </p:sp>
      <p:pic>
        <p:nvPicPr>
          <p:cNvPr id="9" name="Picture 8">
            <a:extLst>
              <a:ext uri="{FF2B5EF4-FFF2-40B4-BE49-F238E27FC236}">
                <a16:creationId xmlns:a16="http://schemas.microsoft.com/office/drawing/2014/main" id="{794DE60C-AABA-4CFD-BAD7-82AD02B10355}"/>
              </a:ext>
            </a:extLst>
          </p:cNvPr>
          <p:cNvPicPr>
            <a:picLocks noChangeAspect="1"/>
          </p:cNvPicPr>
          <p:nvPr/>
        </p:nvPicPr>
        <p:blipFill>
          <a:blip r:embed="rId2"/>
          <a:stretch>
            <a:fillRect/>
          </a:stretch>
        </p:blipFill>
        <p:spPr>
          <a:xfrm>
            <a:off x="970484" y="768250"/>
            <a:ext cx="4627676" cy="4020525"/>
          </a:xfrm>
          <a:prstGeom prst="rect">
            <a:avLst/>
          </a:prstGeom>
          <a:ln>
            <a:solidFill>
              <a:schemeClr val="tx1"/>
            </a:solidFill>
          </a:ln>
        </p:spPr>
      </p:pic>
      <p:pic>
        <p:nvPicPr>
          <p:cNvPr id="11" name="Picture 10">
            <a:extLst>
              <a:ext uri="{FF2B5EF4-FFF2-40B4-BE49-F238E27FC236}">
                <a16:creationId xmlns:a16="http://schemas.microsoft.com/office/drawing/2014/main" id="{80E7F795-DAE7-43E8-9CB7-B70224A0C9C8}"/>
              </a:ext>
            </a:extLst>
          </p:cNvPr>
          <p:cNvPicPr>
            <a:picLocks noChangeAspect="1"/>
          </p:cNvPicPr>
          <p:nvPr/>
        </p:nvPicPr>
        <p:blipFill>
          <a:blip r:embed="rId3"/>
          <a:stretch>
            <a:fillRect/>
          </a:stretch>
        </p:blipFill>
        <p:spPr>
          <a:xfrm>
            <a:off x="5953760" y="768250"/>
            <a:ext cx="4747999" cy="4051725"/>
          </a:xfrm>
          <a:prstGeom prst="rect">
            <a:avLst/>
          </a:prstGeom>
          <a:ln>
            <a:solidFill>
              <a:schemeClr val="tx1"/>
            </a:solidFill>
          </a:ln>
        </p:spPr>
      </p:pic>
    </p:spTree>
    <p:extLst>
      <p:ext uri="{BB962C8B-B14F-4D97-AF65-F5344CB8AC3E}">
        <p14:creationId xmlns:p14="http://schemas.microsoft.com/office/powerpoint/2010/main" val="313277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47F49F-B5EE-4F57-A514-C78846D89323}"/>
              </a:ext>
            </a:extLst>
          </p:cNvPr>
          <p:cNvSpPr txBox="1"/>
          <p:nvPr/>
        </p:nvSpPr>
        <p:spPr>
          <a:xfrm>
            <a:off x="3576320" y="0"/>
            <a:ext cx="5679440" cy="646331"/>
          </a:xfrm>
          <a:prstGeom prst="rect">
            <a:avLst/>
          </a:prstGeom>
          <a:noFill/>
        </p:spPr>
        <p:txBody>
          <a:bodyPr wrap="square" rtlCol="0">
            <a:spAutoFit/>
          </a:bodyPr>
          <a:lstStyle/>
          <a:p>
            <a:r>
              <a:rPr lang="en-IN" sz="3600" b="1" dirty="0">
                <a:latin typeface="inherit"/>
              </a:rPr>
              <a:t>Income range vs Loan credit</a:t>
            </a:r>
          </a:p>
        </p:txBody>
      </p:sp>
      <p:sp>
        <p:nvSpPr>
          <p:cNvPr id="3" name="TextBox 2">
            <a:extLst>
              <a:ext uri="{FF2B5EF4-FFF2-40B4-BE49-F238E27FC236}">
                <a16:creationId xmlns:a16="http://schemas.microsoft.com/office/drawing/2014/main" id="{67AEE980-FBE7-4862-8DE8-343506CE6988}"/>
              </a:ext>
            </a:extLst>
          </p:cNvPr>
          <p:cNvSpPr txBox="1"/>
          <p:nvPr/>
        </p:nvSpPr>
        <p:spPr>
          <a:xfrm>
            <a:off x="1005840" y="5130800"/>
            <a:ext cx="10220960" cy="923330"/>
          </a:xfrm>
          <a:prstGeom prst="rect">
            <a:avLst/>
          </a:prstGeom>
          <a:noFill/>
        </p:spPr>
        <p:txBody>
          <a:bodyPr wrap="square" rtlCol="0">
            <a:spAutoFit/>
          </a:bodyPr>
          <a:lstStyle/>
          <a:p>
            <a:pPr algn="just"/>
            <a:r>
              <a:rPr lang="en-US" b="0" i="0" dirty="0">
                <a:solidFill>
                  <a:srgbClr val="000000"/>
                </a:solidFill>
                <a:effectLst/>
              </a:rPr>
              <a:t>Above graphs of Marital status vs loan amount for Defaulter and Non-Defaulter, appears to be similar. Lower income range has low credit/loan amount. Also, there are few outliers : in non-defaulter with </a:t>
            </a:r>
            <a:r>
              <a:rPr lang="en-US" dirty="0">
                <a:solidFill>
                  <a:srgbClr val="000000"/>
                </a:solidFill>
              </a:rPr>
              <a:t>very low income range and in defaulters with high income range.</a:t>
            </a:r>
            <a:endParaRPr lang="en-IN" dirty="0"/>
          </a:p>
        </p:txBody>
      </p:sp>
      <p:pic>
        <p:nvPicPr>
          <p:cNvPr id="7" name="Picture 6">
            <a:extLst>
              <a:ext uri="{FF2B5EF4-FFF2-40B4-BE49-F238E27FC236}">
                <a16:creationId xmlns:a16="http://schemas.microsoft.com/office/drawing/2014/main" id="{6479677D-001C-43D7-A139-6628BB7D802E}"/>
              </a:ext>
            </a:extLst>
          </p:cNvPr>
          <p:cNvPicPr>
            <a:picLocks noChangeAspect="1"/>
          </p:cNvPicPr>
          <p:nvPr/>
        </p:nvPicPr>
        <p:blipFill>
          <a:blip r:embed="rId2"/>
          <a:stretch>
            <a:fillRect/>
          </a:stretch>
        </p:blipFill>
        <p:spPr>
          <a:xfrm>
            <a:off x="773983" y="768251"/>
            <a:ext cx="4986737" cy="4051724"/>
          </a:xfrm>
          <a:prstGeom prst="rect">
            <a:avLst/>
          </a:prstGeom>
        </p:spPr>
      </p:pic>
      <p:pic>
        <p:nvPicPr>
          <p:cNvPr id="9" name="Picture 8">
            <a:extLst>
              <a:ext uri="{FF2B5EF4-FFF2-40B4-BE49-F238E27FC236}">
                <a16:creationId xmlns:a16="http://schemas.microsoft.com/office/drawing/2014/main" id="{D521CD7D-43A8-4716-8F54-781D37BF3303}"/>
              </a:ext>
            </a:extLst>
          </p:cNvPr>
          <p:cNvPicPr>
            <a:picLocks noChangeAspect="1"/>
          </p:cNvPicPr>
          <p:nvPr/>
        </p:nvPicPr>
        <p:blipFill>
          <a:blip r:embed="rId3"/>
          <a:stretch>
            <a:fillRect/>
          </a:stretch>
        </p:blipFill>
        <p:spPr>
          <a:xfrm>
            <a:off x="6062324" y="768251"/>
            <a:ext cx="4986147" cy="4051724"/>
          </a:xfrm>
          <a:prstGeom prst="rect">
            <a:avLst/>
          </a:prstGeom>
        </p:spPr>
      </p:pic>
    </p:spTree>
    <p:extLst>
      <p:ext uri="{BB962C8B-B14F-4D97-AF65-F5344CB8AC3E}">
        <p14:creationId xmlns:p14="http://schemas.microsoft.com/office/powerpoint/2010/main" val="1220632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DD44A-9537-496A-902A-8D3AF85E3C16}"/>
              </a:ext>
            </a:extLst>
          </p:cNvPr>
          <p:cNvSpPr txBox="1">
            <a:spLocks/>
          </p:cNvSpPr>
          <p:nvPr/>
        </p:nvSpPr>
        <p:spPr>
          <a:xfrm>
            <a:off x="673100" y="2600325"/>
            <a:ext cx="108458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Bivariate analysis </a:t>
            </a:r>
          </a:p>
          <a:p>
            <a:pPr algn="ctr"/>
            <a:r>
              <a:rPr lang="en-IN" b="1" dirty="0"/>
              <a:t>for categorical variables vs categorical variables</a:t>
            </a:r>
          </a:p>
        </p:txBody>
      </p:sp>
    </p:spTree>
    <p:extLst>
      <p:ext uri="{BB962C8B-B14F-4D97-AF65-F5344CB8AC3E}">
        <p14:creationId xmlns:p14="http://schemas.microsoft.com/office/powerpoint/2010/main" val="2546286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BBBED2-FB2F-4DDF-A942-3FE237C4F5A6}"/>
              </a:ext>
            </a:extLst>
          </p:cNvPr>
          <p:cNvPicPr>
            <a:picLocks noChangeAspect="1"/>
          </p:cNvPicPr>
          <p:nvPr/>
        </p:nvPicPr>
        <p:blipFill rotWithShape="1">
          <a:blip r:embed="rId2"/>
          <a:srcRect l="1233" r="744"/>
          <a:stretch/>
        </p:blipFill>
        <p:spPr>
          <a:xfrm>
            <a:off x="71118" y="1027322"/>
            <a:ext cx="5983130" cy="3270358"/>
          </a:xfrm>
          <a:prstGeom prst="rect">
            <a:avLst/>
          </a:prstGeom>
          <a:ln>
            <a:solidFill>
              <a:schemeClr val="tx1"/>
            </a:solidFill>
          </a:ln>
        </p:spPr>
      </p:pic>
      <p:pic>
        <p:nvPicPr>
          <p:cNvPr id="5" name="Picture 4">
            <a:extLst>
              <a:ext uri="{FF2B5EF4-FFF2-40B4-BE49-F238E27FC236}">
                <a16:creationId xmlns:a16="http://schemas.microsoft.com/office/drawing/2014/main" id="{CBEA927E-27EC-4CCD-822B-D14533931D35}"/>
              </a:ext>
            </a:extLst>
          </p:cNvPr>
          <p:cNvPicPr>
            <a:picLocks noChangeAspect="1"/>
          </p:cNvPicPr>
          <p:nvPr/>
        </p:nvPicPr>
        <p:blipFill rotWithShape="1">
          <a:blip r:embed="rId3"/>
          <a:srcRect l="949"/>
          <a:stretch/>
        </p:blipFill>
        <p:spPr>
          <a:xfrm>
            <a:off x="6126068" y="1007002"/>
            <a:ext cx="5994814" cy="3290678"/>
          </a:xfrm>
          <a:prstGeom prst="rect">
            <a:avLst/>
          </a:prstGeom>
          <a:ln>
            <a:solidFill>
              <a:schemeClr val="tx1"/>
            </a:solidFill>
          </a:ln>
        </p:spPr>
      </p:pic>
      <p:sp>
        <p:nvSpPr>
          <p:cNvPr id="6" name="TextBox 5">
            <a:extLst>
              <a:ext uri="{FF2B5EF4-FFF2-40B4-BE49-F238E27FC236}">
                <a16:creationId xmlns:a16="http://schemas.microsoft.com/office/drawing/2014/main" id="{3A0EAE03-D9D8-480B-BC66-AF830849FE10}"/>
              </a:ext>
            </a:extLst>
          </p:cNvPr>
          <p:cNvSpPr txBox="1"/>
          <p:nvPr/>
        </p:nvSpPr>
        <p:spPr>
          <a:xfrm>
            <a:off x="3576320" y="0"/>
            <a:ext cx="4968240" cy="646331"/>
          </a:xfrm>
          <a:prstGeom prst="rect">
            <a:avLst/>
          </a:prstGeom>
          <a:noFill/>
        </p:spPr>
        <p:txBody>
          <a:bodyPr wrap="square" rtlCol="0">
            <a:spAutoFit/>
          </a:bodyPr>
          <a:lstStyle/>
          <a:p>
            <a:r>
              <a:rPr lang="en-IN" sz="3600" b="1" dirty="0">
                <a:latin typeface="inherit"/>
              </a:rPr>
              <a:t> Income range vs Gender</a:t>
            </a:r>
          </a:p>
        </p:txBody>
      </p:sp>
      <p:sp>
        <p:nvSpPr>
          <p:cNvPr id="7" name="TextBox 6">
            <a:extLst>
              <a:ext uri="{FF2B5EF4-FFF2-40B4-BE49-F238E27FC236}">
                <a16:creationId xmlns:a16="http://schemas.microsoft.com/office/drawing/2014/main" id="{70CAB96B-8792-40D2-9552-807AA1CE83A8}"/>
              </a:ext>
            </a:extLst>
          </p:cNvPr>
          <p:cNvSpPr txBox="1"/>
          <p:nvPr/>
        </p:nvSpPr>
        <p:spPr>
          <a:xfrm>
            <a:off x="1249680" y="4826000"/>
            <a:ext cx="9398000" cy="1200329"/>
          </a:xfrm>
          <a:prstGeom prst="rect">
            <a:avLst/>
          </a:prstGeom>
          <a:noFill/>
        </p:spPr>
        <p:txBody>
          <a:bodyPr wrap="square" rtlCol="0">
            <a:spAutoFit/>
          </a:bodyPr>
          <a:lstStyle/>
          <a:p>
            <a:pPr algn="just"/>
            <a:r>
              <a:rPr lang="en-US" b="0" i="0" dirty="0">
                <a:solidFill>
                  <a:srgbClr val="000000"/>
                </a:solidFill>
                <a:effectLst/>
              </a:rPr>
              <a:t>From the above graphs, We can observe: </a:t>
            </a:r>
          </a:p>
          <a:p>
            <a:pPr marL="742950" lvl="1" indent="-285750" algn="just">
              <a:buFont typeface="Arial" panose="020B0604020202020204" pitchFamily="34" charset="0"/>
              <a:buChar char="•"/>
            </a:pPr>
            <a:r>
              <a:rPr lang="en-US" b="0" i="0" dirty="0">
                <a:solidFill>
                  <a:srgbClr val="000000"/>
                </a:solidFill>
                <a:effectLst/>
              </a:rPr>
              <a:t>Male count is higher than Female in defaulter list. Female defaulter are more in 'Very low' and 'Low' income.</a:t>
            </a:r>
          </a:p>
          <a:p>
            <a:pPr marL="742950" lvl="1" indent="-285750" algn="just">
              <a:buFont typeface="Arial" panose="020B0604020202020204" pitchFamily="34" charset="0"/>
              <a:buChar char="•"/>
            </a:pPr>
            <a:r>
              <a:rPr lang="en-US" b="0" i="0" dirty="0">
                <a:solidFill>
                  <a:srgbClr val="000000"/>
                </a:solidFill>
                <a:effectLst/>
              </a:rPr>
              <a:t>Female count is higher than Male in Non-defaulter list, under all range of income.</a:t>
            </a:r>
            <a:endParaRPr lang="en-IN" dirty="0"/>
          </a:p>
        </p:txBody>
      </p:sp>
    </p:spTree>
    <p:extLst>
      <p:ext uri="{BB962C8B-B14F-4D97-AF65-F5344CB8AC3E}">
        <p14:creationId xmlns:p14="http://schemas.microsoft.com/office/powerpoint/2010/main" val="971634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ED5FA2-D851-42BA-8814-439555F0C732}"/>
              </a:ext>
            </a:extLst>
          </p:cNvPr>
          <p:cNvSpPr txBox="1"/>
          <p:nvPr/>
        </p:nvSpPr>
        <p:spPr>
          <a:xfrm>
            <a:off x="3576320" y="0"/>
            <a:ext cx="4968240" cy="646331"/>
          </a:xfrm>
          <a:prstGeom prst="rect">
            <a:avLst/>
          </a:prstGeom>
          <a:noFill/>
        </p:spPr>
        <p:txBody>
          <a:bodyPr wrap="square" rtlCol="0">
            <a:spAutoFit/>
          </a:bodyPr>
          <a:lstStyle/>
          <a:p>
            <a:r>
              <a:rPr lang="en-IN" sz="3600" b="1" dirty="0">
                <a:latin typeface="inherit"/>
              </a:rPr>
              <a:t> Income type vs Gender</a:t>
            </a:r>
          </a:p>
        </p:txBody>
      </p:sp>
      <p:pic>
        <p:nvPicPr>
          <p:cNvPr id="3075" name="Picture 3">
            <a:extLst>
              <a:ext uri="{FF2B5EF4-FFF2-40B4-BE49-F238E27FC236}">
                <a16:creationId xmlns:a16="http://schemas.microsoft.com/office/drawing/2014/main" id="{E010478C-C7DB-434C-AA13-29013C2A72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74" r="450"/>
          <a:stretch/>
        </p:blipFill>
        <p:spPr bwMode="auto">
          <a:xfrm>
            <a:off x="101599" y="646332"/>
            <a:ext cx="5080001" cy="388502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2F34F02C-53F5-424C-8928-7BF38BBCBEA4}"/>
              </a:ext>
            </a:extLst>
          </p:cNvPr>
          <p:cNvSpPr>
            <a:spLocks noChangeArrowheads="1"/>
          </p:cNvSpPr>
          <p:nvPr/>
        </p:nvSpPr>
        <p:spPr bwMode="auto">
          <a:xfrm>
            <a:off x="71118" y="646331"/>
            <a:ext cx="57785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rgbClr val="000000"/>
                </a:solidFill>
                <a:effectLst/>
                <a:latin typeface="Helvetica Neu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78" name="Picture 6">
            <a:extLst>
              <a:ext uri="{FF2B5EF4-FFF2-40B4-BE49-F238E27FC236}">
                <a16:creationId xmlns:a16="http://schemas.microsoft.com/office/drawing/2014/main" id="{FD200A12-6D8E-4407-9FE6-1BF085A5D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375" y="646330"/>
            <a:ext cx="6906157" cy="388502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D923508-6340-43DA-BF8A-72AA0AD8E3AD}"/>
              </a:ext>
            </a:extLst>
          </p:cNvPr>
          <p:cNvSpPr txBox="1"/>
          <p:nvPr/>
        </p:nvSpPr>
        <p:spPr>
          <a:xfrm>
            <a:off x="1249680" y="4826000"/>
            <a:ext cx="9398000" cy="1477328"/>
          </a:xfrm>
          <a:prstGeom prst="rect">
            <a:avLst/>
          </a:prstGeom>
          <a:noFill/>
        </p:spPr>
        <p:txBody>
          <a:bodyPr wrap="square" rtlCol="0">
            <a:spAutoFit/>
          </a:bodyPr>
          <a:lstStyle/>
          <a:p>
            <a:pPr algn="just"/>
            <a:r>
              <a:rPr lang="en-US" b="0" i="0" dirty="0">
                <a:solidFill>
                  <a:srgbClr val="000000"/>
                </a:solidFill>
                <a:effectLst/>
              </a:rPr>
              <a:t>From the above graphs, We can observe: </a:t>
            </a:r>
          </a:p>
          <a:p>
            <a:pPr marL="742950" lvl="1" indent="-285750" algn="just">
              <a:buFont typeface="Arial" panose="020B0604020202020204" pitchFamily="34" charset="0"/>
              <a:buChar char="•"/>
            </a:pPr>
            <a:r>
              <a:rPr lang="en-US" b="0" i="0" dirty="0">
                <a:solidFill>
                  <a:srgbClr val="000000"/>
                </a:solidFill>
                <a:effectLst/>
              </a:rPr>
              <a:t>Male count is more than female in defaulter list. Majority of defaulters are working type.</a:t>
            </a:r>
          </a:p>
          <a:p>
            <a:pPr marL="742950" lvl="1" indent="-285750" algn="just">
              <a:buFont typeface="Arial" panose="020B0604020202020204" pitchFamily="34" charset="0"/>
              <a:buChar char="•"/>
            </a:pPr>
            <a:r>
              <a:rPr lang="en-US" b="0" i="0" dirty="0">
                <a:solidFill>
                  <a:srgbClr val="000000"/>
                </a:solidFill>
                <a:effectLst/>
              </a:rPr>
              <a:t>Females count is more than male in non-defaulter list. Majority of loans credited for 'Working', 'Commercial associate' and 'State servant'. There is less no. of loan credited to 'Students', 'Pensioner', Businessman' and lesser number credited during maternity leave.</a:t>
            </a:r>
            <a:endParaRPr lang="en-IN" dirty="0"/>
          </a:p>
        </p:txBody>
      </p:sp>
    </p:spTree>
    <p:extLst>
      <p:ext uri="{BB962C8B-B14F-4D97-AF65-F5344CB8AC3E}">
        <p14:creationId xmlns:p14="http://schemas.microsoft.com/office/powerpoint/2010/main" val="3649191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E6558359-E972-471B-A136-EDDE4902A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45" y="703580"/>
            <a:ext cx="5314950" cy="4191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9A473A1-988A-491E-AE85-54FBA828D285}"/>
              </a:ext>
            </a:extLst>
          </p:cNvPr>
          <p:cNvSpPr txBox="1"/>
          <p:nvPr/>
        </p:nvSpPr>
        <p:spPr>
          <a:xfrm>
            <a:off x="1249680" y="4988560"/>
            <a:ext cx="9398000" cy="1477328"/>
          </a:xfrm>
          <a:prstGeom prst="rect">
            <a:avLst/>
          </a:prstGeom>
          <a:noFill/>
        </p:spPr>
        <p:txBody>
          <a:bodyPr wrap="square" rtlCol="0">
            <a:spAutoFit/>
          </a:bodyPr>
          <a:lstStyle/>
          <a:p>
            <a:pPr algn="just"/>
            <a:r>
              <a:rPr lang="en-US" b="0" i="0" dirty="0">
                <a:solidFill>
                  <a:srgbClr val="000000"/>
                </a:solidFill>
                <a:effectLst/>
              </a:rPr>
              <a:t>From the above graphs, We can observe: </a:t>
            </a:r>
          </a:p>
          <a:p>
            <a:pPr marL="742950" lvl="1" indent="-285750" algn="just">
              <a:buFont typeface="Arial" panose="020B0604020202020204" pitchFamily="34" charset="0"/>
              <a:buChar char="•"/>
            </a:pPr>
            <a:r>
              <a:rPr lang="en-US" b="0" i="0" dirty="0">
                <a:solidFill>
                  <a:srgbClr val="000000"/>
                </a:solidFill>
                <a:effectLst/>
              </a:rPr>
              <a:t>Male count is more than female in defaulter list. Majority of defaulters are from Cash loans as this type of loan is preferred most by the clients.</a:t>
            </a:r>
          </a:p>
          <a:p>
            <a:pPr marL="742950" lvl="1" indent="-285750" algn="just">
              <a:buFont typeface="Arial" panose="020B0604020202020204" pitchFamily="34" charset="0"/>
              <a:buChar char="•"/>
            </a:pPr>
            <a:r>
              <a:rPr lang="en-US" b="0" i="0" dirty="0">
                <a:solidFill>
                  <a:srgbClr val="000000"/>
                </a:solidFill>
                <a:effectLst/>
              </a:rPr>
              <a:t>Female count is more than Male in Non-defaulter list. Majority of the loans are of Cash loan which is preferred more than Revolving loans.</a:t>
            </a:r>
            <a:endParaRPr lang="en-IN" dirty="0"/>
          </a:p>
        </p:txBody>
      </p:sp>
      <p:pic>
        <p:nvPicPr>
          <p:cNvPr id="4102" name="Picture 6">
            <a:extLst>
              <a:ext uri="{FF2B5EF4-FFF2-40B4-BE49-F238E27FC236}">
                <a16:creationId xmlns:a16="http://schemas.microsoft.com/office/drawing/2014/main" id="{681E4396-BB87-4D78-B9B1-E115B2F9EF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1565" y="703580"/>
            <a:ext cx="5314950" cy="4191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8DF7D9F-C1BF-4EBB-B5C0-D978EBAC8417}"/>
              </a:ext>
            </a:extLst>
          </p:cNvPr>
          <p:cNvSpPr txBox="1"/>
          <p:nvPr/>
        </p:nvSpPr>
        <p:spPr>
          <a:xfrm>
            <a:off x="3576320" y="0"/>
            <a:ext cx="4968240" cy="646331"/>
          </a:xfrm>
          <a:prstGeom prst="rect">
            <a:avLst/>
          </a:prstGeom>
          <a:noFill/>
        </p:spPr>
        <p:txBody>
          <a:bodyPr wrap="square" rtlCol="0">
            <a:spAutoFit/>
          </a:bodyPr>
          <a:lstStyle/>
          <a:p>
            <a:r>
              <a:rPr lang="en-IN" sz="3600" b="1" dirty="0">
                <a:latin typeface="inherit"/>
              </a:rPr>
              <a:t> Contract type vs Gender</a:t>
            </a:r>
          </a:p>
        </p:txBody>
      </p:sp>
    </p:spTree>
    <p:extLst>
      <p:ext uri="{BB962C8B-B14F-4D97-AF65-F5344CB8AC3E}">
        <p14:creationId xmlns:p14="http://schemas.microsoft.com/office/powerpoint/2010/main" val="1902793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CDFE819C-077B-40A9-94A4-E24EF5B1F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23925"/>
            <a:ext cx="12192000" cy="36893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DB5C922-265D-444B-BF90-F18E01AC7C5C}"/>
              </a:ext>
            </a:extLst>
          </p:cNvPr>
          <p:cNvSpPr txBox="1"/>
          <p:nvPr/>
        </p:nvSpPr>
        <p:spPr>
          <a:xfrm>
            <a:off x="187960" y="4789269"/>
            <a:ext cx="11816080" cy="646331"/>
          </a:xfrm>
          <a:prstGeom prst="rect">
            <a:avLst/>
          </a:prstGeom>
          <a:noFill/>
        </p:spPr>
        <p:txBody>
          <a:bodyPr wrap="square" rtlCol="0">
            <a:spAutoFit/>
          </a:bodyPr>
          <a:lstStyle/>
          <a:p>
            <a:pPr algn="just"/>
            <a:r>
              <a:rPr lang="en-US" dirty="0"/>
              <a:t>From the above graph, we can observe Male count is more than female in defaulter list. We can observe increase in defaulter % who are 'Laborers', 'Sales staff', 'Drivers'.</a:t>
            </a:r>
            <a:endParaRPr lang="en-IN" dirty="0"/>
          </a:p>
        </p:txBody>
      </p:sp>
      <p:sp>
        <p:nvSpPr>
          <p:cNvPr id="4" name="TextBox 3">
            <a:extLst>
              <a:ext uri="{FF2B5EF4-FFF2-40B4-BE49-F238E27FC236}">
                <a16:creationId xmlns:a16="http://schemas.microsoft.com/office/drawing/2014/main" id="{1C9858AD-E15E-4ADE-AC7C-E889EC75085E}"/>
              </a:ext>
            </a:extLst>
          </p:cNvPr>
          <p:cNvSpPr txBox="1"/>
          <p:nvPr/>
        </p:nvSpPr>
        <p:spPr>
          <a:xfrm>
            <a:off x="2966720" y="0"/>
            <a:ext cx="5577840" cy="646331"/>
          </a:xfrm>
          <a:prstGeom prst="rect">
            <a:avLst/>
          </a:prstGeom>
          <a:noFill/>
        </p:spPr>
        <p:txBody>
          <a:bodyPr wrap="square" rtlCol="0">
            <a:spAutoFit/>
          </a:bodyPr>
          <a:lstStyle/>
          <a:p>
            <a:r>
              <a:rPr lang="en-IN" sz="3600" b="1" dirty="0">
                <a:latin typeface="inherit"/>
              </a:rPr>
              <a:t> Occupation type vs Gender</a:t>
            </a:r>
          </a:p>
        </p:txBody>
      </p:sp>
    </p:spTree>
    <p:extLst>
      <p:ext uri="{BB962C8B-B14F-4D97-AF65-F5344CB8AC3E}">
        <p14:creationId xmlns:p14="http://schemas.microsoft.com/office/powerpoint/2010/main" val="2764785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8002A7A7-2C13-4707-907D-9684D9096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 y="771525"/>
            <a:ext cx="12192000" cy="36893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502B465-F4D5-40C9-BDF4-78A6C0A3F2C9}"/>
              </a:ext>
            </a:extLst>
          </p:cNvPr>
          <p:cNvSpPr txBox="1"/>
          <p:nvPr/>
        </p:nvSpPr>
        <p:spPr>
          <a:xfrm>
            <a:off x="2966720" y="0"/>
            <a:ext cx="5577840" cy="646331"/>
          </a:xfrm>
          <a:prstGeom prst="rect">
            <a:avLst/>
          </a:prstGeom>
          <a:noFill/>
        </p:spPr>
        <p:txBody>
          <a:bodyPr wrap="square" rtlCol="0">
            <a:spAutoFit/>
          </a:bodyPr>
          <a:lstStyle/>
          <a:p>
            <a:r>
              <a:rPr lang="en-IN" sz="3600" b="1" dirty="0">
                <a:latin typeface="inherit"/>
              </a:rPr>
              <a:t> Occupation type vs Gender</a:t>
            </a:r>
          </a:p>
        </p:txBody>
      </p:sp>
      <p:sp>
        <p:nvSpPr>
          <p:cNvPr id="6" name="TextBox 5">
            <a:extLst>
              <a:ext uri="{FF2B5EF4-FFF2-40B4-BE49-F238E27FC236}">
                <a16:creationId xmlns:a16="http://schemas.microsoft.com/office/drawing/2014/main" id="{1091A734-227A-4E7C-A12F-3EF72D6AB619}"/>
              </a:ext>
            </a:extLst>
          </p:cNvPr>
          <p:cNvSpPr txBox="1"/>
          <p:nvPr/>
        </p:nvSpPr>
        <p:spPr>
          <a:xfrm>
            <a:off x="187960" y="4789269"/>
            <a:ext cx="11816080" cy="646331"/>
          </a:xfrm>
          <a:prstGeom prst="rect">
            <a:avLst/>
          </a:prstGeom>
          <a:noFill/>
        </p:spPr>
        <p:txBody>
          <a:bodyPr wrap="square" rtlCol="0">
            <a:spAutoFit/>
          </a:bodyPr>
          <a:lstStyle/>
          <a:p>
            <a:pPr algn="just"/>
            <a:r>
              <a:rPr lang="en-US" dirty="0"/>
              <a:t>From the above graph, we can observe Female count is more than Male in Non-defaulter </a:t>
            </a:r>
            <a:r>
              <a:rPr lang="en-US" dirty="0" err="1"/>
              <a:t>list.We</a:t>
            </a:r>
            <a:r>
              <a:rPr lang="en-US" dirty="0"/>
              <a:t> can observe decrease in defaulter % who are 'Core staff'.</a:t>
            </a:r>
            <a:endParaRPr lang="en-IN" dirty="0"/>
          </a:p>
        </p:txBody>
      </p:sp>
    </p:spTree>
    <p:extLst>
      <p:ext uri="{BB962C8B-B14F-4D97-AF65-F5344CB8AC3E}">
        <p14:creationId xmlns:p14="http://schemas.microsoft.com/office/powerpoint/2010/main" val="2078210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EE5C2D-B32F-40AE-90D8-7B9D321195F6}"/>
              </a:ext>
            </a:extLst>
          </p:cNvPr>
          <p:cNvSpPr txBox="1"/>
          <p:nvPr/>
        </p:nvSpPr>
        <p:spPr>
          <a:xfrm>
            <a:off x="2966720" y="0"/>
            <a:ext cx="5577840" cy="646331"/>
          </a:xfrm>
          <a:prstGeom prst="rect">
            <a:avLst/>
          </a:prstGeom>
          <a:noFill/>
        </p:spPr>
        <p:txBody>
          <a:bodyPr wrap="square" rtlCol="0">
            <a:spAutoFit/>
          </a:bodyPr>
          <a:lstStyle/>
          <a:p>
            <a:r>
              <a:rPr lang="en-IN" sz="3600" b="1" dirty="0">
                <a:latin typeface="inherit"/>
              </a:rPr>
              <a:t> Education type vs Gender</a:t>
            </a:r>
          </a:p>
        </p:txBody>
      </p:sp>
      <p:pic>
        <p:nvPicPr>
          <p:cNvPr id="7170" name="Picture 2">
            <a:extLst>
              <a:ext uri="{FF2B5EF4-FFF2-40B4-BE49-F238E27FC236}">
                <a16:creationId xmlns:a16="http://schemas.microsoft.com/office/drawing/2014/main" id="{B19126D8-E9EB-4718-8EEB-788AF79342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47" y="727612"/>
            <a:ext cx="6043613" cy="409298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227464-E378-4E82-A78D-3D6F7CB093D6}"/>
              </a:ext>
            </a:extLst>
          </p:cNvPr>
          <p:cNvSpPr txBox="1"/>
          <p:nvPr/>
        </p:nvSpPr>
        <p:spPr>
          <a:xfrm>
            <a:off x="447040" y="4968240"/>
            <a:ext cx="11277600" cy="1754326"/>
          </a:xfrm>
          <a:prstGeom prst="rect">
            <a:avLst/>
          </a:prstGeom>
          <a:noFill/>
        </p:spPr>
        <p:txBody>
          <a:bodyPr wrap="square" rtlCol="0">
            <a:spAutoFit/>
          </a:bodyPr>
          <a:lstStyle/>
          <a:p>
            <a:r>
              <a:rPr lang="en-US" b="0" i="0" dirty="0">
                <a:solidFill>
                  <a:srgbClr val="000000"/>
                </a:solidFill>
                <a:effectLst/>
              </a:rPr>
              <a:t>In the above graph, we can observe:</a:t>
            </a:r>
          </a:p>
          <a:p>
            <a:pPr marL="742950" lvl="1" indent="-285750">
              <a:buFont typeface="Arial" panose="020B0604020202020204" pitchFamily="34" charset="0"/>
              <a:buChar char="•"/>
            </a:pPr>
            <a:r>
              <a:rPr lang="en-US" b="0" i="0" dirty="0">
                <a:solidFill>
                  <a:srgbClr val="000000"/>
                </a:solidFill>
                <a:effectLst/>
              </a:rPr>
              <a:t> Female non-defaulters is more than Male. Less number of loan provided for clients with academic degree and Majority of loan given/applied by the clients with 'Secondary' / 'Higher education’</a:t>
            </a:r>
          </a:p>
          <a:p>
            <a:pPr marL="742950" lvl="1" indent="-285750">
              <a:buFont typeface="Arial" panose="020B0604020202020204" pitchFamily="34" charset="0"/>
              <a:buChar char="•"/>
            </a:pPr>
            <a:r>
              <a:rPr lang="en-US" b="0" i="0" dirty="0">
                <a:solidFill>
                  <a:srgbClr val="000000"/>
                </a:solidFill>
                <a:effectLst/>
              </a:rPr>
              <a:t> Male is leading in the defaulter list. Interesting observation is Male with academic degree education is not seen as defaulter here. Since, Majority of loans given for education type 'Secondary' and 'Higher education' defaulter under this type is also high.</a:t>
            </a:r>
            <a:endParaRPr lang="en-IN" dirty="0"/>
          </a:p>
        </p:txBody>
      </p:sp>
      <p:pic>
        <p:nvPicPr>
          <p:cNvPr id="7174" name="Picture 6">
            <a:extLst>
              <a:ext uri="{FF2B5EF4-FFF2-40B4-BE49-F238E27FC236}">
                <a16:creationId xmlns:a16="http://schemas.microsoft.com/office/drawing/2014/main" id="{406B281D-BE64-43DE-9C5E-FAE0C23B7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7269" y="773390"/>
            <a:ext cx="5668954" cy="383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346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2D64-F0DD-481B-AEA9-141B1384A7FF}"/>
              </a:ext>
            </a:extLst>
          </p:cNvPr>
          <p:cNvSpPr txBox="1">
            <a:spLocks/>
          </p:cNvSpPr>
          <p:nvPr/>
        </p:nvSpPr>
        <p:spPr>
          <a:xfrm>
            <a:off x="673100" y="2600325"/>
            <a:ext cx="108458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Bivariate analysis </a:t>
            </a:r>
          </a:p>
          <a:p>
            <a:pPr algn="ctr"/>
            <a:r>
              <a:rPr lang="en-IN" b="1" dirty="0"/>
              <a:t>for Numerical variables vs Numerical variables</a:t>
            </a:r>
          </a:p>
        </p:txBody>
      </p:sp>
    </p:spTree>
    <p:extLst>
      <p:ext uri="{BB962C8B-B14F-4D97-AF65-F5344CB8AC3E}">
        <p14:creationId xmlns:p14="http://schemas.microsoft.com/office/powerpoint/2010/main" val="840438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0ACBA391-CE99-4FD4-977D-990B98410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93" y="61912"/>
            <a:ext cx="6734175" cy="67341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0A96F50-89E5-4A6D-83E6-987B3BFBCC45}"/>
              </a:ext>
            </a:extLst>
          </p:cNvPr>
          <p:cNvSpPr txBox="1"/>
          <p:nvPr/>
        </p:nvSpPr>
        <p:spPr>
          <a:xfrm>
            <a:off x="7152640" y="1696720"/>
            <a:ext cx="4775200" cy="2031325"/>
          </a:xfrm>
          <a:prstGeom prst="rect">
            <a:avLst/>
          </a:prstGeom>
          <a:noFill/>
        </p:spPr>
        <p:txBody>
          <a:bodyPr wrap="square" rtlCol="0">
            <a:spAutoFit/>
          </a:bodyPr>
          <a:lstStyle/>
          <a:p>
            <a:r>
              <a:rPr lang="en-IN" dirty="0"/>
              <a:t>Here, 4 numerical columns  compared with each other– Loan amount , Annuity Income and Goods price.</a:t>
            </a:r>
          </a:p>
          <a:p>
            <a:endParaRPr lang="en-IN" dirty="0"/>
          </a:p>
          <a:p>
            <a:r>
              <a:rPr lang="en-US" dirty="0"/>
              <a:t>In the plots, at ax[0][3] and ax[3][0], loan amount vs goods price, we can observe positive linear correlation.</a:t>
            </a:r>
          </a:p>
        </p:txBody>
      </p:sp>
      <p:sp>
        <p:nvSpPr>
          <p:cNvPr id="5" name="TextBox 4">
            <a:extLst>
              <a:ext uri="{FF2B5EF4-FFF2-40B4-BE49-F238E27FC236}">
                <a16:creationId xmlns:a16="http://schemas.microsoft.com/office/drawing/2014/main" id="{A51E06FD-7C60-4E3B-8A0B-6B7CFA0E2D12}"/>
              </a:ext>
            </a:extLst>
          </p:cNvPr>
          <p:cNvSpPr txBox="1"/>
          <p:nvPr/>
        </p:nvSpPr>
        <p:spPr>
          <a:xfrm>
            <a:off x="6776720" y="684014"/>
            <a:ext cx="5384800" cy="369332"/>
          </a:xfrm>
          <a:prstGeom prst="rect">
            <a:avLst/>
          </a:prstGeom>
          <a:noFill/>
        </p:spPr>
        <p:txBody>
          <a:bodyPr wrap="square">
            <a:spAutoFit/>
          </a:bodyPr>
          <a:lstStyle/>
          <a:p>
            <a:r>
              <a:rPr lang="en-IN" b="1" dirty="0"/>
              <a:t>Analysis of different numerical variables for Defaulters</a:t>
            </a:r>
          </a:p>
        </p:txBody>
      </p:sp>
    </p:spTree>
    <p:extLst>
      <p:ext uri="{BB962C8B-B14F-4D97-AF65-F5344CB8AC3E}">
        <p14:creationId xmlns:p14="http://schemas.microsoft.com/office/powerpoint/2010/main" val="10188927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854184-8553-477A-93B0-AD317518BE3D}"/>
              </a:ext>
            </a:extLst>
          </p:cNvPr>
          <p:cNvSpPr txBox="1"/>
          <p:nvPr/>
        </p:nvSpPr>
        <p:spPr>
          <a:xfrm>
            <a:off x="2296160" y="734814"/>
            <a:ext cx="7081520" cy="461665"/>
          </a:xfrm>
          <a:prstGeom prst="rect">
            <a:avLst/>
          </a:prstGeom>
          <a:noFill/>
        </p:spPr>
        <p:txBody>
          <a:bodyPr wrap="square">
            <a:spAutoFit/>
          </a:bodyPr>
          <a:lstStyle/>
          <a:p>
            <a:pPr algn="l"/>
            <a:r>
              <a:rPr lang="en-US" sz="2400" b="1" i="0" dirty="0">
                <a:solidFill>
                  <a:srgbClr val="000000"/>
                </a:solidFill>
                <a:effectLst/>
                <a:latin typeface="inherit"/>
              </a:rPr>
              <a:t>Top 10 Correlation for client with payment difficulties</a:t>
            </a:r>
          </a:p>
        </p:txBody>
      </p:sp>
      <p:pic>
        <p:nvPicPr>
          <p:cNvPr id="5" name="Picture 4">
            <a:extLst>
              <a:ext uri="{FF2B5EF4-FFF2-40B4-BE49-F238E27FC236}">
                <a16:creationId xmlns:a16="http://schemas.microsoft.com/office/drawing/2014/main" id="{6A0178BF-FAB5-4670-8371-E05E00116339}"/>
              </a:ext>
            </a:extLst>
          </p:cNvPr>
          <p:cNvPicPr>
            <a:picLocks noChangeAspect="1"/>
          </p:cNvPicPr>
          <p:nvPr/>
        </p:nvPicPr>
        <p:blipFill>
          <a:blip r:embed="rId2"/>
          <a:stretch>
            <a:fillRect/>
          </a:stretch>
        </p:blipFill>
        <p:spPr>
          <a:xfrm>
            <a:off x="1950720" y="1379238"/>
            <a:ext cx="7782748" cy="3330638"/>
          </a:xfrm>
          <a:prstGeom prst="rect">
            <a:avLst/>
          </a:prstGeom>
          <a:ln>
            <a:solidFill>
              <a:schemeClr val="tx1"/>
            </a:solidFill>
          </a:ln>
        </p:spPr>
      </p:pic>
    </p:spTree>
    <p:extLst>
      <p:ext uri="{BB962C8B-B14F-4D97-AF65-F5344CB8AC3E}">
        <p14:creationId xmlns:p14="http://schemas.microsoft.com/office/powerpoint/2010/main" val="2751308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5DE4DD1E-EC7A-4C07-9EED-1819061DBC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4067" y="0"/>
            <a:ext cx="7567613" cy="6858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DCB87EC-59A6-4603-9E5A-652E0E12DE79}"/>
              </a:ext>
            </a:extLst>
          </p:cNvPr>
          <p:cNvSpPr txBox="1"/>
          <p:nvPr/>
        </p:nvSpPr>
        <p:spPr>
          <a:xfrm>
            <a:off x="203200" y="1188720"/>
            <a:ext cx="4400867" cy="4572000"/>
          </a:xfrm>
          <a:prstGeom prst="rect">
            <a:avLst/>
          </a:prstGeom>
          <a:noFill/>
        </p:spPr>
        <p:txBody>
          <a:bodyPr wrap="square" rtlCol="0">
            <a:spAutoFit/>
          </a:bodyPr>
          <a:lstStyle/>
          <a:p>
            <a:pPr algn="just"/>
            <a:r>
              <a:rPr lang="en-IN" dirty="0"/>
              <a:t>Here, many numerical columns  are compared with each other. Higher positive number indicate more direct relatedness and lesser or negative number indicate inverse proportionality. </a:t>
            </a:r>
          </a:p>
          <a:p>
            <a:pPr algn="just"/>
            <a:endParaRPr lang="en-IN" dirty="0"/>
          </a:p>
          <a:p>
            <a:pPr algn="just"/>
            <a:r>
              <a:rPr lang="en-IN" dirty="0"/>
              <a:t>Observation from the graphs are:</a:t>
            </a:r>
          </a:p>
          <a:p>
            <a:pPr marL="285750" indent="-285750" algn="just">
              <a:buFont typeface="Arial" panose="020B0604020202020204" pitchFamily="34" charset="0"/>
              <a:buChar char="•"/>
            </a:pPr>
            <a:r>
              <a:rPr lang="en-IN" dirty="0"/>
              <a:t>Loan amount vs number children are inversely proportional</a:t>
            </a:r>
          </a:p>
          <a:p>
            <a:pPr marL="285750" indent="-285750" algn="just">
              <a:buFont typeface="Arial" panose="020B0604020202020204" pitchFamily="34" charset="0"/>
              <a:buChar char="•"/>
            </a:pPr>
            <a:r>
              <a:rPr lang="en-IN" dirty="0"/>
              <a:t>Loan amount, Goods price, Annuity are directly proportional.</a:t>
            </a:r>
          </a:p>
          <a:p>
            <a:pPr marL="285750" indent="-285750" algn="just">
              <a:buFont typeface="Arial" panose="020B0604020202020204" pitchFamily="34" charset="0"/>
              <a:buChar char="•"/>
            </a:pPr>
            <a:r>
              <a:rPr lang="en-IN" dirty="0"/>
              <a:t> Loan amount, Annuity vs companies region rating are inversely proportional</a:t>
            </a:r>
          </a:p>
          <a:p>
            <a:pPr marL="285750" indent="-285750" algn="just">
              <a:buFont typeface="Arial" panose="020B0604020202020204" pitchFamily="34" charset="0"/>
              <a:buChar char="•"/>
            </a:pPr>
            <a:r>
              <a:rPr lang="en-US" dirty="0"/>
              <a:t>Population of region where client lives vs </a:t>
            </a:r>
            <a:r>
              <a:rPr lang="en-IN" dirty="0"/>
              <a:t>companies region rating are inversely proportional</a:t>
            </a:r>
            <a:r>
              <a:rPr lang="en-US" dirty="0"/>
              <a:t> </a:t>
            </a:r>
            <a:endParaRPr lang="en-IN" dirty="0"/>
          </a:p>
        </p:txBody>
      </p:sp>
      <p:sp>
        <p:nvSpPr>
          <p:cNvPr id="11" name="TextBox 10">
            <a:extLst>
              <a:ext uri="{FF2B5EF4-FFF2-40B4-BE49-F238E27FC236}">
                <a16:creationId xmlns:a16="http://schemas.microsoft.com/office/drawing/2014/main" id="{55E5EBBE-2597-4C90-86EE-88D05A6B9A63}"/>
              </a:ext>
            </a:extLst>
          </p:cNvPr>
          <p:cNvSpPr txBox="1"/>
          <p:nvPr/>
        </p:nvSpPr>
        <p:spPr>
          <a:xfrm>
            <a:off x="20320" y="176014"/>
            <a:ext cx="4775200" cy="646331"/>
          </a:xfrm>
          <a:prstGeom prst="rect">
            <a:avLst/>
          </a:prstGeom>
          <a:noFill/>
        </p:spPr>
        <p:txBody>
          <a:bodyPr wrap="square">
            <a:spAutoFit/>
          </a:bodyPr>
          <a:lstStyle/>
          <a:p>
            <a:r>
              <a:rPr lang="en-IN" b="1" dirty="0"/>
              <a:t>Analysis of different numerical variables for Defaulters</a:t>
            </a:r>
          </a:p>
        </p:txBody>
      </p:sp>
    </p:spTree>
    <p:extLst>
      <p:ext uri="{BB962C8B-B14F-4D97-AF65-F5344CB8AC3E}">
        <p14:creationId xmlns:p14="http://schemas.microsoft.com/office/powerpoint/2010/main" val="3333468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B7DB7243-42F0-4005-93EE-7657C4C76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577137" cy="6858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87AF5CD-BE7B-4A8F-84CB-A2502D5DE1B2}"/>
              </a:ext>
            </a:extLst>
          </p:cNvPr>
          <p:cNvSpPr txBox="1"/>
          <p:nvPr/>
        </p:nvSpPr>
        <p:spPr>
          <a:xfrm>
            <a:off x="7577137" y="0"/>
            <a:ext cx="4614863" cy="646331"/>
          </a:xfrm>
          <a:prstGeom prst="rect">
            <a:avLst/>
          </a:prstGeom>
          <a:noFill/>
        </p:spPr>
        <p:txBody>
          <a:bodyPr wrap="square">
            <a:spAutoFit/>
          </a:bodyPr>
          <a:lstStyle/>
          <a:p>
            <a:r>
              <a:rPr lang="en-IN" b="1" dirty="0"/>
              <a:t>Analysis of different numerical variables for Non-Defaulters</a:t>
            </a:r>
          </a:p>
        </p:txBody>
      </p:sp>
      <p:sp>
        <p:nvSpPr>
          <p:cNvPr id="4" name="TextBox 3">
            <a:extLst>
              <a:ext uri="{FF2B5EF4-FFF2-40B4-BE49-F238E27FC236}">
                <a16:creationId xmlns:a16="http://schemas.microsoft.com/office/drawing/2014/main" id="{C5556435-8745-4047-AF13-48E5278B5ECB}"/>
              </a:ext>
            </a:extLst>
          </p:cNvPr>
          <p:cNvSpPr txBox="1"/>
          <p:nvPr/>
        </p:nvSpPr>
        <p:spPr>
          <a:xfrm>
            <a:off x="7577137" y="646331"/>
            <a:ext cx="4400867" cy="5632311"/>
          </a:xfrm>
          <a:prstGeom prst="rect">
            <a:avLst/>
          </a:prstGeom>
          <a:noFill/>
        </p:spPr>
        <p:txBody>
          <a:bodyPr wrap="square" rtlCol="0">
            <a:spAutoFit/>
          </a:bodyPr>
          <a:lstStyle/>
          <a:p>
            <a:pPr algn="just"/>
            <a:r>
              <a:rPr lang="en-IN" dirty="0"/>
              <a:t>Here, many numerical columns  are compared with each other. Higher positive number indicate more direct relatedness and lesser or negative number indicate inverse proportionality. </a:t>
            </a:r>
          </a:p>
          <a:p>
            <a:pPr algn="just"/>
            <a:endParaRPr lang="en-IN" dirty="0"/>
          </a:p>
          <a:p>
            <a:pPr algn="just"/>
            <a:r>
              <a:rPr lang="en-IN" dirty="0"/>
              <a:t>Observation from the graphs are:</a:t>
            </a:r>
          </a:p>
          <a:p>
            <a:pPr marL="285750" indent="-285750" algn="just">
              <a:buFont typeface="Arial" panose="020B0604020202020204" pitchFamily="34" charset="0"/>
              <a:buChar char="•"/>
            </a:pPr>
            <a:r>
              <a:rPr lang="en-US" dirty="0"/>
              <a:t>Positive correlation between Credit vs Annuity, Goods price, Income and vice-versa.</a:t>
            </a:r>
          </a:p>
          <a:p>
            <a:pPr marL="285750" indent="-285750" algn="just">
              <a:buFont typeface="Arial" panose="020B0604020202020204" pitchFamily="34" charset="0"/>
              <a:buChar char="•"/>
            </a:pPr>
            <a:r>
              <a:rPr lang="en-US" dirty="0"/>
              <a:t>Negative correlation between Population of region where client lives vs rating of the region where client lives, Region Rating vs Credit, Annuity, Goods price, Income; Similar, observation seen for family size and number of children. Also, can observe that if client's permanent address does not match contact address--then it doesn't match with work address either </a:t>
            </a:r>
            <a:endParaRPr lang="en-IN" dirty="0"/>
          </a:p>
        </p:txBody>
      </p:sp>
    </p:spTree>
    <p:extLst>
      <p:ext uri="{BB962C8B-B14F-4D97-AF65-F5344CB8AC3E}">
        <p14:creationId xmlns:p14="http://schemas.microsoft.com/office/powerpoint/2010/main" val="3561866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36A8C5-BFB1-4622-873A-88BF2B45E95A}"/>
              </a:ext>
            </a:extLst>
          </p:cNvPr>
          <p:cNvSpPr txBox="1"/>
          <p:nvPr/>
        </p:nvSpPr>
        <p:spPr>
          <a:xfrm>
            <a:off x="111760" y="223520"/>
            <a:ext cx="61671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inherit"/>
                <a:ea typeface="+mn-ea"/>
                <a:cs typeface="+mn-cs"/>
              </a:rPr>
              <a:t>Analysis of previous application data</a:t>
            </a:r>
            <a:r>
              <a:rPr kumimoji="0" lang="en-IN" sz="2400" b="1" i="0" u="none" strike="noStrike" kern="1200" cap="none" spc="0" normalizeH="0" baseline="0" noProof="0" dirty="0">
                <a:ln>
                  <a:noFill/>
                </a:ln>
                <a:solidFill>
                  <a:srgbClr val="000000"/>
                </a:solidFill>
                <a:effectLst/>
                <a:uLnTx/>
                <a:uFillTx/>
                <a:latin typeface="inherit"/>
                <a:ea typeface="+mn-ea"/>
                <a:cs typeface="+mn-cs"/>
              </a:rPr>
              <a:t>: </a:t>
            </a:r>
            <a:endParaRPr kumimoji="0" lang="en-US" sz="2400" b="1" i="0" u="none" strike="noStrike" kern="1200" cap="none" spc="0" normalizeH="0" baseline="0" noProof="0" dirty="0">
              <a:ln>
                <a:noFill/>
              </a:ln>
              <a:solidFill>
                <a:srgbClr val="000000"/>
              </a:solidFill>
              <a:effectLst/>
              <a:uLnTx/>
              <a:uFillTx/>
              <a:latin typeface="inherit"/>
              <a:ea typeface="+mn-ea"/>
              <a:cs typeface="+mn-cs"/>
            </a:endParaRPr>
          </a:p>
        </p:txBody>
      </p:sp>
      <p:pic>
        <p:nvPicPr>
          <p:cNvPr id="4" name="Picture 3">
            <a:extLst>
              <a:ext uri="{FF2B5EF4-FFF2-40B4-BE49-F238E27FC236}">
                <a16:creationId xmlns:a16="http://schemas.microsoft.com/office/drawing/2014/main" id="{B9C8BB8B-68FD-4EAF-A81A-873B0561B397}"/>
              </a:ext>
            </a:extLst>
          </p:cNvPr>
          <p:cNvPicPr>
            <a:picLocks noChangeAspect="1"/>
          </p:cNvPicPr>
          <p:nvPr/>
        </p:nvPicPr>
        <p:blipFill>
          <a:blip r:embed="rId2"/>
          <a:stretch>
            <a:fillRect/>
          </a:stretch>
        </p:blipFill>
        <p:spPr>
          <a:xfrm>
            <a:off x="276048" y="842618"/>
            <a:ext cx="6864703" cy="1047804"/>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8B0C3A7D-7556-4DFD-9885-F187C4693CE9}"/>
              </a:ext>
            </a:extLst>
          </p:cNvPr>
          <p:cNvPicPr>
            <a:picLocks noChangeAspect="1"/>
          </p:cNvPicPr>
          <p:nvPr/>
        </p:nvPicPr>
        <p:blipFill>
          <a:blip r:embed="rId3"/>
          <a:stretch>
            <a:fillRect/>
          </a:stretch>
        </p:blipFill>
        <p:spPr>
          <a:xfrm>
            <a:off x="4193978" y="2079228"/>
            <a:ext cx="7664844" cy="971600"/>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E678A0FB-6F8E-4ED7-851A-D05BDF07E7EA}"/>
              </a:ext>
            </a:extLst>
          </p:cNvPr>
          <p:cNvPicPr>
            <a:picLocks noChangeAspect="1"/>
          </p:cNvPicPr>
          <p:nvPr/>
        </p:nvPicPr>
        <p:blipFill>
          <a:blip r:embed="rId4"/>
          <a:stretch>
            <a:fillRect/>
          </a:stretch>
        </p:blipFill>
        <p:spPr>
          <a:xfrm>
            <a:off x="356067" y="3270114"/>
            <a:ext cx="6521785" cy="132086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0AF87E10-FF55-4359-BB9A-5C5817F53557}"/>
              </a:ext>
            </a:extLst>
          </p:cNvPr>
          <p:cNvPicPr>
            <a:picLocks noChangeAspect="1"/>
          </p:cNvPicPr>
          <p:nvPr/>
        </p:nvPicPr>
        <p:blipFill>
          <a:blip r:embed="rId5"/>
          <a:stretch>
            <a:fillRect/>
          </a:stretch>
        </p:blipFill>
        <p:spPr>
          <a:xfrm>
            <a:off x="4435914" y="4728988"/>
            <a:ext cx="7607691" cy="2044805"/>
          </a:xfrm>
          <a:prstGeom prst="rect">
            <a:avLst/>
          </a:prstGeom>
          <a:ln>
            <a:noFill/>
          </a:ln>
          <a:effectLst>
            <a:outerShdw blurRad="292100" dist="139700" dir="2700000" algn="tl" rotWithShape="0">
              <a:srgbClr val="333333">
                <a:alpha val="65000"/>
              </a:srgbClr>
            </a:outerShdw>
          </a:effectLst>
        </p:spPr>
      </p:pic>
      <p:sp>
        <p:nvSpPr>
          <p:cNvPr id="3" name="Callout: Line 2">
            <a:extLst>
              <a:ext uri="{FF2B5EF4-FFF2-40B4-BE49-F238E27FC236}">
                <a16:creationId xmlns:a16="http://schemas.microsoft.com/office/drawing/2014/main" id="{242E810F-1A93-4AAD-A026-D3A04A37F24D}"/>
              </a:ext>
            </a:extLst>
          </p:cNvPr>
          <p:cNvSpPr/>
          <p:nvPr/>
        </p:nvSpPr>
        <p:spPr>
          <a:xfrm>
            <a:off x="7669935" y="1085208"/>
            <a:ext cx="2815185" cy="560712"/>
          </a:xfrm>
          <a:prstGeom prst="borderCallout1">
            <a:avLst>
              <a:gd name="adj1" fmla="val 53178"/>
              <a:gd name="adj2" fmla="val -393"/>
              <a:gd name="adj3" fmla="val 112500"/>
              <a:gd name="adj4" fmla="val -3833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Read previous_data.csv file</a:t>
            </a:r>
          </a:p>
        </p:txBody>
      </p:sp>
      <p:sp>
        <p:nvSpPr>
          <p:cNvPr id="5" name="Callout: Line 4">
            <a:extLst>
              <a:ext uri="{FF2B5EF4-FFF2-40B4-BE49-F238E27FC236}">
                <a16:creationId xmlns:a16="http://schemas.microsoft.com/office/drawing/2014/main" id="{0A605FBF-04E6-47E7-AD61-AC1C4C1539C1}"/>
              </a:ext>
            </a:extLst>
          </p:cNvPr>
          <p:cNvSpPr/>
          <p:nvPr/>
        </p:nvSpPr>
        <p:spPr>
          <a:xfrm>
            <a:off x="650240" y="2382673"/>
            <a:ext cx="2260600" cy="518532"/>
          </a:xfrm>
          <a:prstGeom prst="borderCallout1">
            <a:avLst>
              <a:gd name="adj1" fmla="val 51661"/>
              <a:gd name="adj2" fmla="val 98918"/>
              <a:gd name="adj3" fmla="val 11111"/>
              <a:gd name="adj4" fmla="val 16837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Fixing</a:t>
            </a:r>
            <a:r>
              <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kumimoji="0" lang="en-IN" sz="1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errors in data</a:t>
            </a:r>
          </a:p>
        </p:txBody>
      </p:sp>
      <p:sp>
        <p:nvSpPr>
          <p:cNvPr id="9" name="Callout: Line 8">
            <a:extLst>
              <a:ext uri="{FF2B5EF4-FFF2-40B4-BE49-F238E27FC236}">
                <a16:creationId xmlns:a16="http://schemas.microsoft.com/office/drawing/2014/main" id="{8A37E3AA-D466-4B8E-9852-21125D450ED0}"/>
              </a:ext>
            </a:extLst>
          </p:cNvPr>
          <p:cNvSpPr/>
          <p:nvPr/>
        </p:nvSpPr>
        <p:spPr>
          <a:xfrm>
            <a:off x="7548015" y="3667685"/>
            <a:ext cx="3617825" cy="518235"/>
          </a:xfrm>
          <a:prstGeom prst="borderCallout1">
            <a:avLst>
              <a:gd name="adj1" fmla="val 53178"/>
              <a:gd name="adj2" fmla="val -393"/>
              <a:gd name="adj3" fmla="val 58141"/>
              <a:gd name="adj4" fmla="val -412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Checking for Missing values count %</a:t>
            </a:r>
          </a:p>
        </p:txBody>
      </p:sp>
      <p:sp>
        <p:nvSpPr>
          <p:cNvPr id="11" name="Callout: Line 10">
            <a:extLst>
              <a:ext uri="{FF2B5EF4-FFF2-40B4-BE49-F238E27FC236}">
                <a16:creationId xmlns:a16="http://schemas.microsoft.com/office/drawing/2014/main" id="{4BC842D4-E8F6-4B04-A4DA-5AEADA29C5FE}"/>
              </a:ext>
            </a:extLst>
          </p:cNvPr>
          <p:cNvSpPr/>
          <p:nvPr/>
        </p:nvSpPr>
        <p:spPr>
          <a:xfrm>
            <a:off x="457200" y="5583072"/>
            <a:ext cx="3200400" cy="716128"/>
          </a:xfrm>
          <a:prstGeom prst="borderCallout1">
            <a:avLst>
              <a:gd name="adj1" fmla="val 51661"/>
              <a:gd name="adj2" fmla="val 98918"/>
              <a:gd name="adj3" fmla="val 11111"/>
              <a:gd name="adj4" fmla="val 16837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Dropping columns where &gt;99% of data is missing</a:t>
            </a:r>
          </a:p>
        </p:txBody>
      </p:sp>
    </p:spTree>
    <p:extLst>
      <p:ext uri="{BB962C8B-B14F-4D97-AF65-F5344CB8AC3E}">
        <p14:creationId xmlns:p14="http://schemas.microsoft.com/office/powerpoint/2010/main" val="29215258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EC88385-11C0-4F95-BE7D-D7CB030DE6A0}"/>
              </a:ext>
            </a:extLst>
          </p:cNvPr>
          <p:cNvGrpSpPr/>
          <p:nvPr/>
        </p:nvGrpSpPr>
        <p:grpSpPr>
          <a:xfrm>
            <a:off x="142240" y="1903696"/>
            <a:ext cx="5984240" cy="4517424"/>
            <a:chOff x="227024" y="289486"/>
            <a:chExt cx="4508937" cy="3505260"/>
          </a:xfrm>
        </p:grpSpPr>
        <p:sp>
          <p:nvSpPr>
            <p:cNvPr id="3" name="TextBox 2">
              <a:extLst>
                <a:ext uri="{FF2B5EF4-FFF2-40B4-BE49-F238E27FC236}">
                  <a16:creationId xmlns:a16="http://schemas.microsoft.com/office/drawing/2014/main" id="{AA9C8CC3-751C-464E-8F1D-973C4D03A96D}"/>
                </a:ext>
              </a:extLst>
            </p:cNvPr>
            <p:cNvSpPr txBox="1"/>
            <p:nvPr/>
          </p:nvSpPr>
          <p:spPr>
            <a:xfrm>
              <a:off x="448075" y="289486"/>
              <a:ext cx="3188504" cy="40011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white"/>
                  </a:solidFill>
                  <a:effectLst/>
                  <a:uLnTx/>
                  <a:uFillTx/>
                  <a:latin typeface="inherit"/>
                  <a:ea typeface="+mn-ea"/>
                  <a:cs typeface="+mn-cs"/>
                </a:rPr>
                <a:t>NAME_CONTRACT_STATUS</a:t>
              </a:r>
            </a:p>
          </p:txBody>
        </p:sp>
        <p:pic>
          <p:nvPicPr>
            <p:cNvPr id="6146" name="Picture 2">
              <a:extLst>
                <a:ext uri="{FF2B5EF4-FFF2-40B4-BE49-F238E27FC236}">
                  <a16:creationId xmlns:a16="http://schemas.microsoft.com/office/drawing/2014/main" id="{9003C165-6BDD-47B2-AE10-78D50FC2D1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24" y="689596"/>
              <a:ext cx="4508937" cy="3105150"/>
            </a:xfrm>
            <a:prstGeom prst="rect">
              <a:avLst/>
            </a:prstGeom>
          </p:spPr>
          <p:style>
            <a:lnRef idx="0">
              <a:schemeClr val="accent1"/>
            </a:lnRef>
            <a:fillRef idx="3">
              <a:schemeClr val="accent1"/>
            </a:fillRef>
            <a:effectRef idx="3">
              <a:schemeClr val="accent1"/>
            </a:effectRef>
            <a:fontRef idx="minor">
              <a:schemeClr val="lt1"/>
            </a:fontRef>
          </p:style>
        </p:pic>
        <p:sp>
          <p:nvSpPr>
            <p:cNvPr id="11" name="TextBox 10">
              <a:extLst>
                <a:ext uri="{FF2B5EF4-FFF2-40B4-BE49-F238E27FC236}">
                  <a16:creationId xmlns:a16="http://schemas.microsoft.com/office/drawing/2014/main" id="{636EA489-DD0A-49E0-AF2C-6E14A64A46BA}"/>
                </a:ext>
              </a:extLst>
            </p:cNvPr>
            <p:cNvSpPr txBox="1"/>
            <p:nvPr/>
          </p:nvSpPr>
          <p:spPr>
            <a:xfrm>
              <a:off x="2982454" y="2612888"/>
              <a:ext cx="1753507" cy="1077218"/>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rPr>
                <a:t>We can observe majority of loan are approved for previous applicant</a:t>
              </a:r>
            </a:p>
          </p:txBody>
        </p:sp>
      </p:grpSp>
      <p:grpSp>
        <p:nvGrpSpPr>
          <p:cNvPr id="15" name="Group 14">
            <a:extLst>
              <a:ext uri="{FF2B5EF4-FFF2-40B4-BE49-F238E27FC236}">
                <a16:creationId xmlns:a16="http://schemas.microsoft.com/office/drawing/2014/main" id="{7D9D139F-09D7-4B88-AD23-A537C4783D13}"/>
              </a:ext>
            </a:extLst>
          </p:cNvPr>
          <p:cNvGrpSpPr/>
          <p:nvPr/>
        </p:nvGrpSpPr>
        <p:grpSpPr>
          <a:xfrm>
            <a:off x="6400801" y="1903696"/>
            <a:ext cx="5522725" cy="4497103"/>
            <a:chOff x="6989378" y="92948"/>
            <a:chExt cx="4832127" cy="3698832"/>
          </a:xfrm>
        </p:grpSpPr>
        <p:sp>
          <p:nvSpPr>
            <p:cNvPr id="14" name="TextBox 13">
              <a:extLst>
                <a:ext uri="{FF2B5EF4-FFF2-40B4-BE49-F238E27FC236}">
                  <a16:creationId xmlns:a16="http://schemas.microsoft.com/office/drawing/2014/main" id="{FEB5C05E-F673-4AA8-8F2E-E40D615B9BC9}"/>
                </a:ext>
              </a:extLst>
            </p:cNvPr>
            <p:cNvSpPr txBox="1"/>
            <p:nvPr/>
          </p:nvSpPr>
          <p:spPr>
            <a:xfrm>
              <a:off x="8324193" y="92948"/>
              <a:ext cx="1692167" cy="40011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white"/>
                  </a:solidFill>
                  <a:effectLst/>
                  <a:uLnTx/>
                  <a:uFillTx/>
                  <a:latin typeface="inherit"/>
                  <a:ea typeface="+mn-ea"/>
                  <a:cs typeface="+mn-cs"/>
                </a:rPr>
                <a:t>CLIENT TYPE</a:t>
              </a:r>
            </a:p>
          </p:txBody>
        </p:sp>
        <p:pic>
          <p:nvPicPr>
            <p:cNvPr id="21" name="Picture 6">
              <a:extLst>
                <a:ext uri="{FF2B5EF4-FFF2-40B4-BE49-F238E27FC236}">
                  <a16:creationId xmlns:a16="http://schemas.microsoft.com/office/drawing/2014/main" id="{50E9EA86-FC94-4844-814A-8E28D1FD7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378" y="559970"/>
              <a:ext cx="4832127" cy="3231810"/>
            </a:xfrm>
            <a:prstGeom prst="rect">
              <a:avLst/>
            </a:prstGeom>
          </p:spPr>
          <p:style>
            <a:lnRef idx="0">
              <a:schemeClr val="accent2"/>
            </a:lnRef>
            <a:fillRef idx="3">
              <a:schemeClr val="accent2"/>
            </a:fillRef>
            <a:effectRef idx="3">
              <a:schemeClr val="accent2"/>
            </a:effectRef>
            <a:fontRef idx="minor">
              <a:schemeClr val="lt1"/>
            </a:fontRef>
          </p:style>
        </p:pic>
        <p:sp>
          <p:nvSpPr>
            <p:cNvPr id="29" name="TextBox 28">
              <a:extLst>
                <a:ext uri="{FF2B5EF4-FFF2-40B4-BE49-F238E27FC236}">
                  <a16:creationId xmlns:a16="http://schemas.microsoft.com/office/drawing/2014/main" id="{C5D0826E-E2CE-4E37-A850-7E6C1717A232}"/>
                </a:ext>
              </a:extLst>
            </p:cNvPr>
            <p:cNvSpPr txBox="1"/>
            <p:nvPr/>
          </p:nvSpPr>
          <p:spPr>
            <a:xfrm>
              <a:off x="10001374" y="2315991"/>
              <a:ext cx="1749140" cy="95588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We can observe majority of clients are Repeater and 18% are new client</a:t>
              </a: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extBox 1">
            <a:extLst>
              <a:ext uri="{FF2B5EF4-FFF2-40B4-BE49-F238E27FC236}">
                <a16:creationId xmlns:a16="http://schemas.microsoft.com/office/drawing/2014/main" id="{120150BD-ECB3-BF5D-8DDA-7133D19C6960}"/>
              </a:ext>
            </a:extLst>
          </p:cNvPr>
          <p:cNvSpPr txBox="1"/>
          <p:nvPr/>
        </p:nvSpPr>
        <p:spPr>
          <a:xfrm>
            <a:off x="254000" y="325120"/>
            <a:ext cx="11588389" cy="1200329"/>
          </a:xfrm>
          <a:prstGeom prst="rect">
            <a:avLst/>
          </a:prstGeom>
          <a:noFill/>
        </p:spPr>
        <p:txBody>
          <a:bodyPr wrap="squar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000" b="1" i="0" u="none" strike="noStrike" kern="1200" cap="none" spc="0" normalizeH="0" baseline="0" noProof="0" dirty="0">
                <a:ln>
                  <a:noFill/>
                </a:ln>
                <a:solidFill>
                  <a:prstClr val="black"/>
                </a:solidFill>
                <a:effectLst/>
                <a:uLnTx/>
                <a:uFillTx/>
                <a:latin typeface="Calibri Light" panose="020F0302020204030204"/>
                <a:ea typeface="+mj-ea"/>
                <a:cs typeface="+mj-cs"/>
              </a:rPr>
              <a:t>Univariant analysis on previous application for Categorical data</a:t>
            </a:r>
          </a:p>
        </p:txBody>
      </p:sp>
    </p:spTree>
    <p:extLst>
      <p:ext uri="{BB962C8B-B14F-4D97-AF65-F5344CB8AC3E}">
        <p14:creationId xmlns:p14="http://schemas.microsoft.com/office/powerpoint/2010/main" val="106213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A1F974A-4D76-44B3-9C5B-62B424FF512D}"/>
              </a:ext>
            </a:extLst>
          </p:cNvPr>
          <p:cNvGrpSpPr/>
          <p:nvPr/>
        </p:nvGrpSpPr>
        <p:grpSpPr>
          <a:xfrm>
            <a:off x="306532" y="1039004"/>
            <a:ext cx="5254479" cy="4122275"/>
            <a:chOff x="225252" y="724044"/>
            <a:chExt cx="5254479" cy="4122275"/>
          </a:xfrm>
        </p:grpSpPr>
        <p:pic>
          <p:nvPicPr>
            <p:cNvPr id="15" name="Picture 2">
              <a:extLst>
                <a:ext uri="{FF2B5EF4-FFF2-40B4-BE49-F238E27FC236}">
                  <a16:creationId xmlns:a16="http://schemas.microsoft.com/office/drawing/2014/main" id="{F00B7D09-292B-44ED-A86A-B0DD282FF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52" y="1173834"/>
              <a:ext cx="5254479" cy="3672485"/>
            </a:xfrm>
            <a:prstGeom prst="rect">
              <a:avLst/>
            </a:prstGeom>
          </p:spPr>
          <p:style>
            <a:lnRef idx="0">
              <a:schemeClr val="accent1"/>
            </a:lnRef>
            <a:fillRef idx="3">
              <a:schemeClr val="accent1"/>
            </a:fillRef>
            <a:effectRef idx="3">
              <a:schemeClr val="accent1"/>
            </a:effectRef>
            <a:fontRef idx="minor">
              <a:schemeClr val="lt1"/>
            </a:fontRef>
          </p:style>
        </p:pic>
        <p:sp>
          <p:nvSpPr>
            <p:cNvPr id="11" name="TextBox 10">
              <a:extLst>
                <a:ext uri="{FF2B5EF4-FFF2-40B4-BE49-F238E27FC236}">
                  <a16:creationId xmlns:a16="http://schemas.microsoft.com/office/drawing/2014/main" id="{4220FCE8-D56E-424E-8C85-8BEDD2F98337}"/>
                </a:ext>
              </a:extLst>
            </p:cNvPr>
            <p:cNvSpPr txBox="1"/>
            <p:nvPr/>
          </p:nvSpPr>
          <p:spPr>
            <a:xfrm>
              <a:off x="1282700" y="724044"/>
              <a:ext cx="2374900" cy="40011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white"/>
                  </a:solidFill>
                  <a:effectLst/>
                  <a:uLnTx/>
                  <a:uFillTx/>
                  <a:latin typeface="inherit"/>
                  <a:ea typeface="+mn-ea"/>
                  <a:cs typeface="+mn-cs"/>
                </a:rPr>
                <a:t>NAME_PORTFOLIO</a:t>
              </a:r>
            </a:p>
          </p:txBody>
        </p:sp>
        <p:sp>
          <p:nvSpPr>
            <p:cNvPr id="9" name="TextBox 8">
              <a:extLst>
                <a:ext uri="{FF2B5EF4-FFF2-40B4-BE49-F238E27FC236}">
                  <a16:creationId xmlns:a16="http://schemas.microsoft.com/office/drawing/2014/main" id="{CB3661AF-D6AA-49F3-A1F6-F6F9562AD8CD}"/>
                </a:ext>
              </a:extLst>
            </p:cNvPr>
            <p:cNvSpPr txBox="1"/>
            <p:nvPr/>
          </p:nvSpPr>
          <p:spPr>
            <a:xfrm>
              <a:off x="3728721" y="3195320"/>
              <a:ext cx="1676400" cy="156966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We can observe more than 50% of previous application is for POS and 35% is for cash</a:t>
              </a: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15A79052-3D52-4291-BAB0-0062193D4192}"/>
              </a:ext>
            </a:extLst>
          </p:cNvPr>
          <p:cNvGrpSpPr/>
          <p:nvPr/>
        </p:nvGrpSpPr>
        <p:grpSpPr>
          <a:xfrm>
            <a:off x="6563679" y="702090"/>
            <a:ext cx="5104962" cy="5047536"/>
            <a:chOff x="6563679" y="702090"/>
            <a:chExt cx="5104962" cy="5047536"/>
          </a:xfrm>
        </p:grpSpPr>
        <p:pic>
          <p:nvPicPr>
            <p:cNvPr id="7172" name="Picture 4">
              <a:extLst>
                <a:ext uri="{FF2B5EF4-FFF2-40B4-BE49-F238E27FC236}">
                  <a16:creationId xmlns:a16="http://schemas.microsoft.com/office/drawing/2014/main" id="{3FA98225-CAAA-4200-B7CB-B7AED70957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3679" y="1280160"/>
              <a:ext cx="5104962" cy="3375355"/>
            </a:xfrm>
            <a:prstGeom prst="rect">
              <a:avLst/>
            </a:prstGeom>
          </p:spPr>
          <p:style>
            <a:lnRef idx="0">
              <a:schemeClr val="accent1"/>
            </a:lnRef>
            <a:fillRef idx="3">
              <a:schemeClr val="accent1"/>
            </a:fillRef>
            <a:effectRef idx="3">
              <a:schemeClr val="accent1"/>
            </a:effectRef>
            <a:fontRef idx="minor">
              <a:schemeClr val="lt1"/>
            </a:fontRef>
          </p:style>
        </p:pic>
        <p:sp>
          <p:nvSpPr>
            <p:cNvPr id="14" name="TextBox 13">
              <a:extLst>
                <a:ext uri="{FF2B5EF4-FFF2-40B4-BE49-F238E27FC236}">
                  <a16:creationId xmlns:a16="http://schemas.microsoft.com/office/drawing/2014/main" id="{24F6DDF1-545E-466A-9FC2-FF0C41D4850A}"/>
                </a:ext>
              </a:extLst>
            </p:cNvPr>
            <p:cNvSpPr txBox="1"/>
            <p:nvPr/>
          </p:nvSpPr>
          <p:spPr>
            <a:xfrm>
              <a:off x="6827520" y="4795519"/>
              <a:ext cx="4841121" cy="95410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We can observe that more than 50% of applicants have rejected the loan due to HC and 18% due to limit.</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27F49A84-8923-4BD0-8804-CA48DF7F4DCD}"/>
                </a:ext>
              </a:extLst>
            </p:cNvPr>
            <p:cNvSpPr txBox="1"/>
            <p:nvPr/>
          </p:nvSpPr>
          <p:spPr>
            <a:xfrm>
              <a:off x="7772400" y="702090"/>
              <a:ext cx="3362960" cy="40011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white"/>
                  </a:solidFill>
                  <a:effectLst/>
                  <a:uLnTx/>
                  <a:uFillTx/>
                  <a:latin typeface="inherit"/>
                  <a:ea typeface="+mn-ea"/>
                  <a:cs typeface="+mn-cs"/>
                </a:rPr>
                <a:t>LOAN REJECTION REASON</a:t>
              </a:r>
            </a:p>
          </p:txBody>
        </p:sp>
      </p:grpSp>
    </p:spTree>
    <p:extLst>
      <p:ext uri="{BB962C8B-B14F-4D97-AF65-F5344CB8AC3E}">
        <p14:creationId xmlns:p14="http://schemas.microsoft.com/office/powerpoint/2010/main" val="38352335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E8E53FD-6466-417D-972D-6194B3745A30}"/>
              </a:ext>
            </a:extLst>
          </p:cNvPr>
          <p:cNvSpPr txBox="1"/>
          <p:nvPr/>
        </p:nvSpPr>
        <p:spPr>
          <a:xfrm>
            <a:off x="1045945" y="1415876"/>
            <a:ext cx="2987042" cy="40011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inherit"/>
                <a:ea typeface="+mn-ea"/>
                <a:cs typeface="+mn-cs"/>
              </a:rPr>
              <a:t>LOAN PAYMENT TYPE</a:t>
            </a:r>
            <a:endParaRPr kumimoji="0" lang="en-IN" sz="2000" b="1" i="0" u="none" strike="noStrike" kern="1200" cap="none" spc="0" normalizeH="0" baseline="0" noProof="0" dirty="0">
              <a:ln>
                <a:noFill/>
              </a:ln>
              <a:solidFill>
                <a:prstClr val="white"/>
              </a:solidFill>
              <a:effectLst/>
              <a:uLnTx/>
              <a:uFillTx/>
              <a:latin typeface="inherit"/>
              <a:ea typeface="+mn-ea"/>
              <a:cs typeface="+mn-cs"/>
            </a:endParaRPr>
          </a:p>
        </p:txBody>
      </p:sp>
      <p:grpSp>
        <p:nvGrpSpPr>
          <p:cNvPr id="15" name="Group 14">
            <a:extLst>
              <a:ext uri="{FF2B5EF4-FFF2-40B4-BE49-F238E27FC236}">
                <a16:creationId xmlns:a16="http://schemas.microsoft.com/office/drawing/2014/main" id="{D79EB55C-4340-4273-B77A-22237A7AE665}"/>
              </a:ext>
            </a:extLst>
          </p:cNvPr>
          <p:cNvGrpSpPr/>
          <p:nvPr/>
        </p:nvGrpSpPr>
        <p:grpSpPr>
          <a:xfrm>
            <a:off x="7818120" y="1039967"/>
            <a:ext cx="4170045" cy="4778065"/>
            <a:chOff x="8021955" y="376375"/>
            <a:chExt cx="4170045" cy="4778065"/>
          </a:xfrm>
        </p:grpSpPr>
        <p:pic>
          <p:nvPicPr>
            <p:cNvPr id="5" name="Picture 4">
              <a:extLst>
                <a:ext uri="{FF2B5EF4-FFF2-40B4-BE49-F238E27FC236}">
                  <a16:creationId xmlns:a16="http://schemas.microsoft.com/office/drawing/2014/main" id="{DB4CBA7A-C53D-4494-B0D0-DD1FA8589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1955" y="766483"/>
              <a:ext cx="4170045" cy="366287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AE6171A-1395-4834-8601-9CE004912954}"/>
                </a:ext>
              </a:extLst>
            </p:cNvPr>
            <p:cNvSpPr txBox="1"/>
            <p:nvPr/>
          </p:nvSpPr>
          <p:spPr>
            <a:xfrm>
              <a:off x="8329195" y="4446554"/>
              <a:ext cx="3775810" cy="707886"/>
            </a:xfrm>
            <a:prstGeom prst="rect">
              <a:avLst/>
            </a:prstGeom>
            <a:solidFill>
              <a:schemeClr val="accent2">
                <a:lumMod val="40000"/>
                <a:lumOff val="60000"/>
              </a:schemeClr>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We can observe lesser number of applicant on weekend/Sunday.</a:t>
              </a:r>
              <a:endPar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D64F4A69-70A5-4A01-AB28-C2100502A409}"/>
                </a:ext>
              </a:extLst>
            </p:cNvPr>
            <p:cNvSpPr txBox="1"/>
            <p:nvPr/>
          </p:nvSpPr>
          <p:spPr>
            <a:xfrm>
              <a:off x="8329195" y="376375"/>
              <a:ext cx="3862805" cy="400110"/>
            </a:xfrm>
            <a:prstGeom prst="rect">
              <a:avLst/>
            </a:prstGeom>
            <a:solidFill>
              <a:schemeClr val="accent2">
                <a:lumMod val="40000"/>
                <a:lumOff val="6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inherit"/>
                  <a:ea typeface="+mn-ea"/>
                  <a:cs typeface="+mn-cs"/>
                </a:rPr>
                <a:t>WEEKDAY_APPR_PROCESS_START</a:t>
              </a:r>
            </a:p>
          </p:txBody>
        </p:sp>
      </p:grpSp>
      <p:pic>
        <p:nvPicPr>
          <p:cNvPr id="12" name="Picture 11">
            <a:extLst>
              <a:ext uri="{FF2B5EF4-FFF2-40B4-BE49-F238E27FC236}">
                <a16:creationId xmlns:a16="http://schemas.microsoft.com/office/drawing/2014/main" id="{21E8FE52-3E4B-3A64-A4B0-42B436DD63BC}"/>
              </a:ext>
            </a:extLst>
          </p:cNvPr>
          <p:cNvPicPr>
            <a:picLocks noChangeAspect="1"/>
          </p:cNvPicPr>
          <p:nvPr/>
        </p:nvPicPr>
        <p:blipFill>
          <a:blip r:embed="rId3">
            <a:alphaModFix/>
          </a:blip>
          <a:stretch>
            <a:fillRect/>
          </a:stretch>
        </p:blipFill>
        <p:spPr>
          <a:xfrm>
            <a:off x="415402" y="1970716"/>
            <a:ext cx="6604623" cy="3434404"/>
          </a:xfrm>
          <a:prstGeom prst="rect">
            <a:avLst/>
          </a:prstGeom>
        </p:spPr>
      </p:pic>
      <p:sp>
        <p:nvSpPr>
          <p:cNvPr id="13" name="TextBox 12">
            <a:extLst>
              <a:ext uri="{FF2B5EF4-FFF2-40B4-BE49-F238E27FC236}">
                <a16:creationId xmlns:a16="http://schemas.microsoft.com/office/drawing/2014/main" id="{DB2FEE1E-0BC1-434C-A86B-49ACFB2CA199}"/>
              </a:ext>
            </a:extLst>
          </p:cNvPr>
          <p:cNvSpPr txBox="1"/>
          <p:nvPr/>
        </p:nvSpPr>
        <p:spPr>
          <a:xfrm>
            <a:off x="4103055" y="4174982"/>
            <a:ext cx="3469638" cy="93516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We can observe that 99% clients preferred to pay cash through the bank.</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71498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FD998-35E1-42BE-BEB2-240CE968F7C6}"/>
              </a:ext>
            </a:extLst>
          </p:cNvPr>
          <p:cNvSpPr txBox="1">
            <a:spLocks/>
          </p:cNvSpPr>
          <p:nvPr/>
        </p:nvSpPr>
        <p:spPr>
          <a:xfrm>
            <a:off x="0" y="2447925"/>
            <a:ext cx="121920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prstClr val="black"/>
                </a:solidFill>
                <a:effectLst/>
                <a:uLnTx/>
                <a:uFillTx/>
                <a:latin typeface="Calibri Light" panose="020F0302020204030204"/>
                <a:ea typeface="+mj-ea"/>
                <a:cs typeface="+mj-cs"/>
              </a:rPr>
              <a:t>Univariant analysis on previous application for Numerical data</a:t>
            </a:r>
          </a:p>
        </p:txBody>
      </p:sp>
    </p:spTree>
    <p:extLst>
      <p:ext uri="{BB962C8B-B14F-4D97-AF65-F5344CB8AC3E}">
        <p14:creationId xmlns:p14="http://schemas.microsoft.com/office/powerpoint/2010/main" val="1836075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a:extLst>
              <a:ext uri="{FF2B5EF4-FFF2-40B4-BE49-F238E27FC236}">
                <a16:creationId xmlns:a16="http://schemas.microsoft.com/office/drawing/2014/main" id="{8BB52FA9-C195-4EDF-AA08-420ED33AB5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894080"/>
            <a:ext cx="11049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59B7206-A757-4D1D-8233-3C7A8F6B293B}"/>
              </a:ext>
            </a:extLst>
          </p:cNvPr>
          <p:cNvSpPr txBox="1"/>
          <p:nvPr/>
        </p:nvSpPr>
        <p:spPr>
          <a:xfrm>
            <a:off x="863600" y="5913120"/>
            <a:ext cx="10756900"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We can observe some outliers and non-normal distribution for AMT_ANNUITY data in previous application. Outliers are present in clients annuity and Q1 is smaller than Q3 for annuity distribution.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373D1DE2-228C-434B-A3EF-D7036396DB0D}"/>
              </a:ext>
            </a:extLst>
          </p:cNvPr>
          <p:cNvSpPr txBox="1"/>
          <p:nvPr/>
        </p:nvSpPr>
        <p:spPr>
          <a:xfrm>
            <a:off x="5185410" y="399385"/>
            <a:ext cx="211328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inherit"/>
                <a:ea typeface="+mn-ea"/>
                <a:cs typeface="+mn-cs"/>
              </a:rPr>
              <a:t>LOAN ANNUITY</a:t>
            </a:r>
          </a:p>
        </p:txBody>
      </p:sp>
    </p:spTree>
    <p:extLst>
      <p:ext uri="{BB962C8B-B14F-4D97-AF65-F5344CB8AC3E}">
        <p14:creationId xmlns:p14="http://schemas.microsoft.com/office/powerpoint/2010/main" val="41228020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44BB5528-0AF2-4F77-9619-051E95A9B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873760"/>
            <a:ext cx="11049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3E85222-EEC1-41A6-BF30-A1DD3346D251}"/>
              </a:ext>
            </a:extLst>
          </p:cNvPr>
          <p:cNvSpPr txBox="1"/>
          <p:nvPr/>
        </p:nvSpPr>
        <p:spPr>
          <a:xfrm>
            <a:off x="1069340" y="5751790"/>
            <a:ext cx="10340340" cy="92333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We can observe some outliers and non-normal distribution for AMT_CREDIT data in previous application. There are some outliers and Q1 is almost overlapping with lower fence and it's smaller than Q3 for credit distribution.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607E3545-F273-4F2E-9CE3-13E7106320F2}"/>
              </a:ext>
            </a:extLst>
          </p:cNvPr>
          <p:cNvSpPr txBox="1"/>
          <p:nvPr/>
        </p:nvSpPr>
        <p:spPr>
          <a:xfrm>
            <a:off x="5222240" y="463173"/>
            <a:ext cx="168656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inherit"/>
                <a:ea typeface="+mn-ea"/>
                <a:cs typeface="+mn-cs"/>
              </a:rPr>
              <a:t>LOAN CREDIT</a:t>
            </a:r>
            <a:endParaRPr kumimoji="0" lang="en-IN" sz="2000" b="1" i="0" u="none" strike="noStrike" kern="1200" cap="none" spc="0" normalizeH="0" baseline="0" noProof="0" dirty="0">
              <a:ln>
                <a:noFill/>
              </a:ln>
              <a:solidFill>
                <a:prstClr val="black"/>
              </a:solidFill>
              <a:effectLst/>
              <a:uLnTx/>
              <a:uFillTx/>
              <a:latin typeface="inherit"/>
              <a:ea typeface="+mn-ea"/>
              <a:cs typeface="+mn-cs"/>
            </a:endParaRPr>
          </a:p>
        </p:txBody>
      </p:sp>
    </p:spTree>
    <p:extLst>
      <p:ext uri="{BB962C8B-B14F-4D97-AF65-F5344CB8AC3E}">
        <p14:creationId xmlns:p14="http://schemas.microsoft.com/office/powerpoint/2010/main" val="33118543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A4A3024A-3AF1-4850-A761-293FAC647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772160"/>
            <a:ext cx="11049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5273755-5479-41B8-9DBF-9975A9B6D925}"/>
              </a:ext>
            </a:extLst>
          </p:cNvPr>
          <p:cNvSpPr txBox="1"/>
          <p:nvPr/>
        </p:nvSpPr>
        <p:spPr>
          <a:xfrm>
            <a:off x="5069840" y="389374"/>
            <a:ext cx="209296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inherit"/>
                <a:ea typeface="+mn-ea"/>
                <a:cs typeface="+mn-cs"/>
              </a:rPr>
              <a:t>GOODS_PRICE</a:t>
            </a:r>
            <a:endParaRPr kumimoji="0" lang="en-IN" sz="2000" b="1" i="0" u="none" strike="noStrike" kern="1200" cap="none" spc="0" normalizeH="0" baseline="0" noProof="0" dirty="0">
              <a:ln>
                <a:noFill/>
              </a:ln>
              <a:solidFill>
                <a:prstClr val="black"/>
              </a:solidFill>
              <a:effectLst/>
              <a:uLnTx/>
              <a:uFillTx/>
              <a:latin typeface="inherit"/>
              <a:ea typeface="+mn-ea"/>
              <a:cs typeface="+mn-cs"/>
            </a:endParaRPr>
          </a:p>
        </p:txBody>
      </p:sp>
      <p:sp>
        <p:nvSpPr>
          <p:cNvPr id="6" name="TextBox 5">
            <a:extLst>
              <a:ext uri="{FF2B5EF4-FFF2-40B4-BE49-F238E27FC236}">
                <a16:creationId xmlns:a16="http://schemas.microsoft.com/office/drawing/2014/main" id="{5C7A4E99-8C5B-4ACC-90B4-2EB82ED903C5}"/>
              </a:ext>
            </a:extLst>
          </p:cNvPr>
          <p:cNvSpPr txBox="1"/>
          <p:nvPr/>
        </p:nvSpPr>
        <p:spPr>
          <a:xfrm>
            <a:off x="833120" y="5720080"/>
            <a:ext cx="10708640" cy="92333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We can observe some outliers and non-normal distribution for AMT_GOODS_PRICE data in previous application. There are some outliers and Q1 is almost overlapping with lower fence and it's smaller than Q3 for Goods price distribution.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4415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FE2935-6230-4CF1-964D-948B55605AE2}"/>
              </a:ext>
            </a:extLst>
          </p:cNvPr>
          <p:cNvSpPr txBox="1"/>
          <p:nvPr/>
        </p:nvSpPr>
        <p:spPr>
          <a:xfrm>
            <a:off x="433070" y="205765"/>
            <a:ext cx="113487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Helvetica Neue"/>
                <a:ea typeface="+mn-ea"/>
                <a:cs typeface="+mn-cs"/>
              </a:rPr>
              <a:t>Merging Target data from </a:t>
            </a:r>
            <a:r>
              <a:rPr kumimoji="0" lang="en-US" sz="1800" b="1" i="0" u="none" strike="noStrike" kern="1200" cap="none" spc="0" normalizeH="0" baseline="0" noProof="0" dirty="0" err="1">
                <a:ln>
                  <a:noFill/>
                </a:ln>
                <a:solidFill>
                  <a:srgbClr val="000000"/>
                </a:solidFill>
                <a:effectLst/>
                <a:uLnTx/>
                <a:uFillTx/>
                <a:latin typeface="Helvetica Neue"/>
                <a:ea typeface="+mn-ea"/>
                <a:cs typeface="+mn-cs"/>
              </a:rPr>
              <a:t>New_applicant</a:t>
            </a:r>
            <a:r>
              <a:rPr kumimoji="0" lang="en-US" sz="1800" b="1" i="0" u="none" strike="noStrike" kern="1200" cap="none" spc="0" normalizeH="0" baseline="0" noProof="0" dirty="0">
                <a:ln>
                  <a:noFill/>
                </a:ln>
                <a:solidFill>
                  <a:srgbClr val="000000"/>
                </a:solidFill>
                <a:effectLst/>
                <a:uLnTx/>
                <a:uFillTx/>
                <a:latin typeface="Helvetica Neue"/>
                <a:ea typeface="+mn-ea"/>
                <a:cs typeface="+mn-cs"/>
              </a:rPr>
              <a:t> with </a:t>
            </a:r>
            <a:r>
              <a:rPr kumimoji="0" lang="en-US" sz="1800" b="1" i="0" u="none" strike="noStrike" kern="1200" cap="none" spc="0" normalizeH="0" baseline="0" noProof="0" dirty="0" err="1">
                <a:ln>
                  <a:noFill/>
                </a:ln>
                <a:solidFill>
                  <a:srgbClr val="000000"/>
                </a:solidFill>
                <a:effectLst/>
                <a:uLnTx/>
                <a:uFillTx/>
                <a:latin typeface="Helvetica Neue"/>
                <a:ea typeface="+mn-ea"/>
                <a:cs typeface="+mn-cs"/>
              </a:rPr>
              <a:t>Prev_applicant</a:t>
            </a:r>
            <a:r>
              <a:rPr kumimoji="0" lang="en-US" sz="1800" b="1" i="0" u="none" strike="noStrike" kern="1200" cap="none" spc="0" normalizeH="0" baseline="0" noProof="0" dirty="0">
                <a:ln>
                  <a:noFill/>
                </a:ln>
                <a:solidFill>
                  <a:srgbClr val="000000"/>
                </a:solidFill>
                <a:effectLst/>
                <a:uLnTx/>
                <a:uFillTx/>
                <a:latin typeface="Helvetica Neue"/>
                <a:ea typeface="+mn-ea"/>
                <a:cs typeface="+mn-cs"/>
              </a:rPr>
              <a:t> for Analysis</a:t>
            </a:r>
          </a:p>
        </p:txBody>
      </p:sp>
      <p:grpSp>
        <p:nvGrpSpPr>
          <p:cNvPr id="11" name="Group 10">
            <a:extLst>
              <a:ext uri="{FF2B5EF4-FFF2-40B4-BE49-F238E27FC236}">
                <a16:creationId xmlns:a16="http://schemas.microsoft.com/office/drawing/2014/main" id="{49D118AE-C7A6-403C-A743-153EFE112E10}"/>
              </a:ext>
            </a:extLst>
          </p:cNvPr>
          <p:cNvGrpSpPr/>
          <p:nvPr/>
        </p:nvGrpSpPr>
        <p:grpSpPr>
          <a:xfrm>
            <a:off x="193040" y="934720"/>
            <a:ext cx="11582400" cy="4259767"/>
            <a:chOff x="223964" y="589280"/>
            <a:chExt cx="11439716" cy="4259767"/>
          </a:xfrm>
        </p:grpSpPr>
        <p:pic>
          <p:nvPicPr>
            <p:cNvPr id="6" name="Picture 5">
              <a:extLst>
                <a:ext uri="{FF2B5EF4-FFF2-40B4-BE49-F238E27FC236}">
                  <a16:creationId xmlns:a16="http://schemas.microsoft.com/office/drawing/2014/main" id="{13A2A1B8-BD4D-49F1-BFAA-ABB1860C41A3}"/>
                </a:ext>
              </a:extLst>
            </p:cNvPr>
            <p:cNvPicPr>
              <a:picLocks noChangeAspect="1"/>
            </p:cNvPicPr>
            <p:nvPr/>
          </p:nvPicPr>
          <p:blipFill rotWithShape="1">
            <a:blip r:embed="rId2"/>
            <a:srcRect t="35710"/>
            <a:stretch/>
          </p:blipFill>
          <p:spPr>
            <a:xfrm>
              <a:off x="223964" y="589280"/>
              <a:ext cx="7436232" cy="2674092"/>
            </a:xfrm>
            <a:prstGeom prst="rect">
              <a:avLst/>
            </a:prstGeom>
          </p:spPr>
          <p:style>
            <a:lnRef idx="0">
              <a:schemeClr val="accent1"/>
            </a:lnRef>
            <a:fillRef idx="3">
              <a:schemeClr val="accent1"/>
            </a:fillRef>
            <a:effectRef idx="3">
              <a:schemeClr val="accent1"/>
            </a:effectRef>
            <a:fontRef idx="minor">
              <a:schemeClr val="lt1"/>
            </a:fontRef>
          </p:style>
        </p:pic>
        <p:pic>
          <p:nvPicPr>
            <p:cNvPr id="8" name="Picture 7">
              <a:extLst>
                <a:ext uri="{FF2B5EF4-FFF2-40B4-BE49-F238E27FC236}">
                  <a16:creationId xmlns:a16="http://schemas.microsoft.com/office/drawing/2014/main" id="{5374F7FF-2BF5-49A8-93D5-2D41FAEF7833}"/>
                </a:ext>
              </a:extLst>
            </p:cNvPr>
            <p:cNvPicPr>
              <a:picLocks noChangeAspect="1"/>
            </p:cNvPicPr>
            <p:nvPr/>
          </p:nvPicPr>
          <p:blipFill>
            <a:blip r:embed="rId3"/>
            <a:stretch>
              <a:fillRect/>
            </a:stretch>
          </p:blipFill>
          <p:spPr>
            <a:xfrm>
              <a:off x="3300300" y="1718336"/>
              <a:ext cx="8363380" cy="3130711"/>
            </a:xfrm>
            <a:prstGeom prst="rect">
              <a:avLst/>
            </a:prstGeom>
          </p:spPr>
          <p:style>
            <a:lnRef idx="0">
              <a:schemeClr val="accent1"/>
            </a:lnRef>
            <a:fillRef idx="3">
              <a:schemeClr val="accent1"/>
            </a:fillRef>
            <a:effectRef idx="3">
              <a:schemeClr val="accent1"/>
            </a:effectRef>
            <a:fontRef idx="minor">
              <a:schemeClr val="lt1"/>
            </a:fontRef>
          </p:style>
        </p:pic>
      </p:grpSp>
      <p:pic>
        <p:nvPicPr>
          <p:cNvPr id="12" name="Picture 11">
            <a:extLst>
              <a:ext uri="{FF2B5EF4-FFF2-40B4-BE49-F238E27FC236}">
                <a16:creationId xmlns:a16="http://schemas.microsoft.com/office/drawing/2014/main" id="{1C18243D-CAC2-4733-8DAC-51616E627B55}"/>
              </a:ext>
            </a:extLst>
          </p:cNvPr>
          <p:cNvPicPr>
            <a:picLocks noChangeAspect="1"/>
          </p:cNvPicPr>
          <p:nvPr/>
        </p:nvPicPr>
        <p:blipFill rotWithShape="1">
          <a:blip r:embed="rId4"/>
          <a:srcRect b="65383"/>
          <a:stretch/>
        </p:blipFill>
        <p:spPr>
          <a:xfrm>
            <a:off x="3412060" y="5344234"/>
            <a:ext cx="8369730" cy="938669"/>
          </a:xfrm>
          <a:prstGeom prst="rect">
            <a:avLst/>
          </a:prstGeom>
          <a:ln>
            <a:noFill/>
          </a:ln>
          <a:effectLst>
            <a:outerShdw blurRad="292100" dist="139700" dir="2700000" algn="tl" rotWithShape="0">
              <a:srgbClr val="333333">
                <a:alpha val="65000"/>
              </a:srgbClr>
            </a:outerShdw>
          </a:effectLst>
        </p:spPr>
      </p:pic>
      <p:sp>
        <p:nvSpPr>
          <p:cNvPr id="13" name="Callout: Line 12">
            <a:extLst>
              <a:ext uri="{FF2B5EF4-FFF2-40B4-BE49-F238E27FC236}">
                <a16:creationId xmlns:a16="http://schemas.microsoft.com/office/drawing/2014/main" id="{B9DAFF2E-9EDC-46CB-AB7C-4847AFFA9AB4}"/>
              </a:ext>
            </a:extLst>
          </p:cNvPr>
          <p:cNvSpPr/>
          <p:nvPr/>
        </p:nvSpPr>
        <p:spPr>
          <a:xfrm>
            <a:off x="8132858" y="934719"/>
            <a:ext cx="3281680" cy="728793"/>
          </a:xfrm>
          <a:prstGeom prst="borderCallout1">
            <a:avLst>
              <a:gd name="adj1" fmla="val 62787"/>
              <a:gd name="adj2" fmla="val 26"/>
              <a:gd name="adj3" fmla="val 81830"/>
              <a:gd name="adj4" fmla="val -8167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Created new DF for TARGET and Current applicant ID </a:t>
            </a:r>
          </a:p>
        </p:txBody>
      </p:sp>
      <p:sp>
        <p:nvSpPr>
          <p:cNvPr id="14" name="Callout: Line 13">
            <a:extLst>
              <a:ext uri="{FF2B5EF4-FFF2-40B4-BE49-F238E27FC236}">
                <a16:creationId xmlns:a16="http://schemas.microsoft.com/office/drawing/2014/main" id="{B5D7F0E0-0084-45C0-A214-8CD088EEAB57}"/>
              </a:ext>
            </a:extLst>
          </p:cNvPr>
          <p:cNvSpPr/>
          <p:nvPr/>
        </p:nvSpPr>
        <p:spPr>
          <a:xfrm>
            <a:off x="193040" y="4037253"/>
            <a:ext cx="3088640" cy="728793"/>
          </a:xfrm>
          <a:prstGeom prst="borderCallout1">
            <a:avLst>
              <a:gd name="adj1" fmla="val 36299"/>
              <a:gd name="adj2" fmla="val 99716"/>
              <a:gd name="adj3" fmla="val -17150"/>
              <a:gd name="adj4" fmla="val 12265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New DF is merged with previous applicant data</a:t>
            </a:r>
          </a:p>
        </p:txBody>
      </p:sp>
      <p:sp>
        <p:nvSpPr>
          <p:cNvPr id="15" name="Callout: Line 14">
            <a:extLst>
              <a:ext uri="{FF2B5EF4-FFF2-40B4-BE49-F238E27FC236}">
                <a16:creationId xmlns:a16="http://schemas.microsoft.com/office/drawing/2014/main" id="{B55CB3A8-00D1-48E9-A3AA-4934297B9B0A}"/>
              </a:ext>
            </a:extLst>
          </p:cNvPr>
          <p:cNvSpPr/>
          <p:nvPr/>
        </p:nvSpPr>
        <p:spPr>
          <a:xfrm>
            <a:off x="193040" y="5344235"/>
            <a:ext cx="3088640" cy="938668"/>
          </a:xfrm>
          <a:prstGeom prst="borderCallout1">
            <a:avLst>
              <a:gd name="adj1" fmla="val 36299"/>
              <a:gd name="adj2" fmla="val 99716"/>
              <a:gd name="adj3" fmla="val 46376"/>
              <a:gd name="adj4" fmla="val 11476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rPr>
              <a:t>Merged Dataset split into 2 set based on Target 0/1</a:t>
            </a:r>
          </a:p>
        </p:txBody>
      </p:sp>
    </p:spTree>
    <p:extLst>
      <p:ext uri="{BB962C8B-B14F-4D97-AF65-F5344CB8AC3E}">
        <p14:creationId xmlns:p14="http://schemas.microsoft.com/office/powerpoint/2010/main" val="13445691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AF275F4-4C71-466F-9FB1-94383A925DC7}"/>
              </a:ext>
            </a:extLst>
          </p:cNvPr>
          <p:cNvSpPr txBox="1">
            <a:spLocks/>
          </p:cNvSpPr>
          <p:nvPr/>
        </p:nvSpPr>
        <p:spPr>
          <a:xfrm>
            <a:off x="784860" y="2386965"/>
            <a:ext cx="108458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Univariant Analysis of Merged applicant data</a:t>
            </a:r>
          </a:p>
        </p:txBody>
      </p:sp>
    </p:spTree>
    <p:extLst>
      <p:ext uri="{BB962C8B-B14F-4D97-AF65-F5344CB8AC3E}">
        <p14:creationId xmlns:p14="http://schemas.microsoft.com/office/powerpoint/2010/main" val="12095190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BB1245-7130-41A0-8D76-FFED292B4945}"/>
              </a:ext>
            </a:extLst>
          </p:cNvPr>
          <p:cNvSpPr txBox="1"/>
          <p:nvPr/>
        </p:nvSpPr>
        <p:spPr>
          <a:xfrm>
            <a:off x="965200" y="5359400"/>
            <a:ext cx="10281920"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From the above graph we can observe that percentage of defaulter are more with clients who had previously refused the loan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290" name="Picture 2">
            <a:extLst>
              <a:ext uri="{FF2B5EF4-FFF2-40B4-BE49-F238E27FC236}">
                <a16:creationId xmlns:a16="http://schemas.microsoft.com/office/drawing/2014/main" id="{9A5A6C43-E5F2-4D28-8DB4-5FA2CD688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880" y="809271"/>
            <a:ext cx="8331200" cy="43774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E085F9-E3D0-4540-8C58-3763D48A638E}"/>
              </a:ext>
            </a:extLst>
          </p:cNvPr>
          <p:cNvSpPr txBox="1"/>
          <p:nvPr/>
        </p:nvSpPr>
        <p:spPr>
          <a:xfrm>
            <a:off x="4960620" y="358361"/>
            <a:ext cx="22707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inherit"/>
                <a:ea typeface="+mn-ea"/>
                <a:cs typeface="+mn-cs"/>
              </a:rPr>
              <a:t>CONTRACT STATUS</a:t>
            </a:r>
          </a:p>
        </p:txBody>
      </p:sp>
    </p:spTree>
    <p:extLst>
      <p:ext uri="{BB962C8B-B14F-4D97-AF65-F5344CB8AC3E}">
        <p14:creationId xmlns:p14="http://schemas.microsoft.com/office/powerpoint/2010/main" val="21538183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622487-8A65-4897-B6B0-8FD63EFE436F}"/>
              </a:ext>
            </a:extLst>
          </p:cNvPr>
          <p:cNvSpPr txBox="1"/>
          <p:nvPr/>
        </p:nvSpPr>
        <p:spPr>
          <a:xfrm>
            <a:off x="1107440" y="5348585"/>
            <a:ext cx="9499600" cy="92333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From the above graph we can observe that percentage of defaulter are more with Cash loan. Also, there is decrease % in defaulters who had consumer loan type and increased % of defaulters who had revolving loan.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4">
            <a:extLst>
              <a:ext uri="{FF2B5EF4-FFF2-40B4-BE49-F238E27FC236}">
                <a16:creationId xmlns:a16="http://schemas.microsoft.com/office/drawing/2014/main" id="{BFBF044C-BF9C-4529-B41D-BD026DE13B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880" y="852169"/>
            <a:ext cx="8013126" cy="44026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18F654F-89C1-4CFE-9C66-BB0F528DCD5A}"/>
              </a:ext>
            </a:extLst>
          </p:cNvPr>
          <p:cNvSpPr txBox="1"/>
          <p:nvPr/>
        </p:nvSpPr>
        <p:spPr>
          <a:xfrm>
            <a:off x="4960620" y="358361"/>
            <a:ext cx="22707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inherit"/>
                <a:ea typeface="+mn-ea"/>
                <a:cs typeface="+mn-cs"/>
              </a:rPr>
              <a:t>CONTRACT TYPE</a:t>
            </a:r>
          </a:p>
        </p:txBody>
      </p:sp>
    </p:spTree>
    <p:extLst>
      <p:ext uri="{BB962C8B-B14F-4D97-AF65-F5344CB8AC3E}">
        <p14:creationId xmlns:p14="http://schemas.microsoft.com/office/powerpoint/2010/main" val="13949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186719-26F6-4CF7-8195-D2670CDB63E4}"/>
              </a:ext>
            </a:extLst>
          </p:cNvPr>
          <p:cNvSpPr txBox="1">
            <a:spLocks/>
          </p:cNvSpPr>
          <p:nvPr/>
        </p:nvSpPr>
        <p:spPr>
          <a:xfrm>
            <a:off x="784860" y="2386965"/>
            <a:ext cx="108458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Bivariant Analysis of Merged applicant data</a:t>
            </a:r>
          </a:p>
        </p:txBody>
      </p:sp>
    </p:spTree>
    <p:extLst>
      <p:ext uri="{BB962C8B-B14F-4D97-AF65-F5344CB8AC3E}">
        <p14:creationId xmlns:p14="http://schemas.microsoft.com/office/powerpoint/2010/main" val="41042462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B62EBB8A-B912-4325-97B0-545C6BB13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3361" y="316547"/>
            <a:ext cx="8064818" cy="65134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485F36E-9646-4BED-AB6F-F867643F1917}"/>
              </a:ext>
            </a:extLst>
          </p:cNvPr>
          <p:cNvSpPr txBox="1"/>
          <p:nvPr/>
        </p:nvSpPr>
        <p:spPr>
          <a:xfrm>
            <a:off x="274320" y="1105376"/>
            <a:ext cx="3677920" cy="286232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From the graph, we can observe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Most of loans are rejected for repair purpose than approved.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For 'Buying house/home', Urgent needs', 'weddings', 'Car repair'- there are no unused offer for these category but there is higher rate of refusal than approval.</a:t>
            </a:r>
            <a:endPar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5E22C47-AAAF-4CB5-9447-04A56D14F6ED}"/>
              </a:ext>
            </a:extLst>
          </p:cNvPr>
          <p:cNvSpPr txBox="1"/>
          <p:nvPr/>
        </p:nvSpPr>
        <p:spPr>
          <a:xfrm>
            <a:off x="203200" y="265747"/>
            <a:ext cx="4277360" cy="40011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inherit"/>
                <a:ea typeface="+mn-ea"/>
                <a:cs typeface="+mn-cs"/>
              </a:rPr>
              <a:t>CONTRACT STATUS vs LOAN PURPOSE</a:t>
            </a:r>
          </a:p>
        </p:txBody>
      </p:sp>
    </p:spTree>
    <p:extLst>
      <p:ext uri="{BB962C8B-B14F-4D97-AF65-F5344CB8AC3E}">
        <p14:creationId xmlns:p14="http://schemas.microsoft.com/office/powerpoint/2010/main" val="10255545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F28034D5-5B43-4248-933B-3371DFBD4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1921" y="296228"/>
            <a:ext cx="8085138" cy="65298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7D03B5-B479-4EB8-A08F-883FCFC0A957}"/>
              </a:ext>
            </a:extLst>
          </p:cNvPr>
          <p:cNvSpPr txBox="1"/>
          <p:nvPr/>
        </p:nvSpPr>
        <p:spPr>
          <a:xfrm>
            <a:off x="174941" y="1114500"/>
            <a:ext cx="3393440" cy="193899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From the graph, we can observe that:</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Loans taken for 'Repair' purpose has more defaulters.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Loans taken for 'Buying garage' has less defaulters</a:t>
            </a:r>
          </a:p>
        </p:txBody>
      </p:sp>
      <p:sp>
        <p:nvSpPr>
          <p:cNvPr id="5" name="TextBox 4">
            <a:extLst>
              <a:ext uri="{FF2B5EF4-FFF2-40B4-BE49-F238E27FC236}">
                <a16:creationId xmlns:a16="http://schemas.microsoft.com/office/drawing/2014/main" id="{D5BFE4E6-CEA7-4E43-8820-85C5155C194F}"/>
              </a:ext>
            </a:extLst>
          </p:cNvPr>
          <p:cNvSpPr txBox="1"/>
          <p:nvPr/>
        </p:nvSpPr>
        <p:spPr>
          <a:xfrm>
            <a:off x="203200" y="265747"/>
            <a:ext cx="4277360" cy="40011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inherit"/>
                <a:ea typeface="+mn-ea"/>
                <a:cs typeface="+mn-cs"/>
              </a:rPr>
              <a:t>TARGET vs LOAN PURPOSE</a:t>
            </a:r>
          </a:p>
        </p:txBody>
      </p:sp>
    </p:spTree>
    <p:extLst>
      <p:ext uri="{BB962C8B-B14F-4D97-AF65-F5344CB8AC3E}">
        <p14:creationId xmlns:p14="http://schemas.microsoft.com/office/powerpoint/2010/main" val="406058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660417D-3914-4545-9E14-BBD85B89CB26}"/>
              </a:ext>
            </a:extLst>
          </p:cNvPr>
          <p:cNvGrpSpPr/>
          <p:nvPr/>
        </p:nvGrpSpPr>
        <p:grpSpPr>
          <a:xfrm>
            <a:off x="78247" y="69850"/>
            <a:ext cx="11138393" cy="3343910"/>
            <a:chOff x="78247" y="69850"/>
            <a:chExt cx="11138393" cy="3343910"/>
          </a:xfrm>
        </p:grpSpPr>
        <p:pic>
          <p:nvPicPr>
            <p:cNvPr id="16386" name="Picture 2">
              <a:extLst>
                <a:ext uri="{FF2B5EF4-FFF2-40B4-BE49-F238E27FC236}">
                  <a16:creationId xmlns:a16="http://schemas.microsoft.com/office/drawing/2014/main" id="{DBB0EE7A-5580-4A6D-8FCD-97112139A0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7" y="69850"/>
              <a:ext cx="7087093" cy="3343910"/>
            </a:xfrm>
            <a:prstGeom prst="rect">
              <a:avLst/>
            </a:prstGeom>
          </p:spPr>
          <p:style>
            <a:lnRef idx="0">
              <a:schemeClr val="accent3"/>
            </a:lnRef>
            <a:fillRef idx="3">
              <a:schemeClr val="accent3"/>
            </a:fillRef>
            <a:effectRef idx="3">
              <a:schemeClr val="accent3"/>
            </a:effectRef>
            <a:fontRef idx="minor">
              <a:schemeClr val="lt1"/>
            </a:fontRef>
          </p:style>
        </p:pic>
        <p:sp>
          <p:nvSpPr>
            <p:cNvPr id="4" name="TextBox 3">
              <a:extLst>
                <a:ext uri="{FF2B5EF4-FFF2-40B4-BE49-F238E27FC236}">
                  <a16:creationId xmlns:a16="http://schemas.microsoft.com/office/drawing/2014/main" id="{7C9D039F-F911-4363-B84E-B62FFC8509D1}"/>
                </a:ext>
              </a:extLst>
            </p:cNvPr>
            <p:cNvSpPr txBox="1"/>
            <p:nvPr/>
          </p:nvSpPr>
          <p:spPr>
            <a:xfrm>
              <a:off x="7498080" y="1141640"/>
              <a:ext cx="3718560"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From the graph, we can observe that more defaulters are from new clients who had previously canceled the loan.</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FC14526-8A9F-4A8A-B7BF-00303244A4AF}"/>
              </a:ext>
            </a:extLst>
          </p:cNvPr>
          <p:cNvGrpSpPr/>
          <p:nvPr/>
        </p:nvGrpSpPr>
        <p:grpSpPr>
          <a:xfrm>
            <a:off x="543313" y="3673908"/>
            <a:ext cx="11497612" cy="3004367"/>
            <a:chOff x="573793" y="3704388"/>
            <a:chExt cx="11497612" cy="3004367"/>
          </a:xfrm>
        </p:grpSpPr>
        <p:pic>
          <p:nvPicPr>
            <p:cNvPr id="16388" name="Picture 4">
              <a:extLst>
                <a:ext uri="{FF2B5EF4-FFF2-40B4-BE49-F238E27FC236}">
                  <a16:creationId xmlns:a16="http://schemas.microsoft.com/office/drawing/2014/main" id="{B34F8EA8-4A31-445F-9E6D-51F5E0119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704388"/>
              <a:ext cx="6737405" cy="3004367"/>
            </a:xfrm>
            <a:prstGeom prst="rect">
              <a:avLst/>
            </a:prstGeom>
          </p:spPr>
          <p:style>
            <a:lnRef idx="0">
              <a:schemeClr val="accent5"/>
            </a:lnRef>
            <a:fillRef idx="3">
              <a:schemeClr val="accent5"/>
            </a:fillRef>
            <a:effectRef idx="3">
              <a:schemeClr val="accent5"/>
            </a:effectRef>
            <a:fontRef idx="minor">
              <a:schemeClr val="lt1"/>
            </a:fontRef>
          </p:style>
        </p:pic>
        <p:sp>
          <p:nvSpPr>
            <p:cNvPr id="7" name="TextBox 6">
              <a:extLst>
                <a:ext uri="{FF2B5EF4-FFF2-40B4-BE49-F238E27FC236}">
                  <a16:creationId xmlns:a16="http://schemas.microsoft.com/office/drawing/2014/main" id="{F0BAE849-7BF9-4038-9FFA-F8E96D488107}"/>
                </a:ext>
              </a:extLst>
            </p:cNvPr>
            <p:cNvSpPr txBox="1"/>
            <p:nvPr/>
          </p:nvSpPr>
          <p:spPr>
            <a:xfrm>
              <a:off x="573793" y="4744906"/>
              <a:ext cx="3977887"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From the graph, we can observe that clients with 'Cash loan' / 'Revolving loans' who has previously refused loan tend be on the higher defaulter side.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8053280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44EA1BE-D8EC-423B-A235-14348C092FB2}"/>
              </a:ext>
            </a:extLst>
          </p:cNvPr>
          <p:cNvGrpSpPr/>
          <p:nvPr/>
        </p:nvGrpSpPr>
        <p:grpSpPr>
          <a:xfrm>
            <a:off x="1585529" y="994410"/>
            <a:ext cx="9238046" cy="4661416"/>
            <a:chOff x="640649" y="262890"/>
            <a:chExt cx="9238046" cy="4661416"/>
          </a:xfrm>
        </p:grpSpPr>
        <p:pic>
          <p:nvPicPr>
            <p:cNvPr id="17410" name="Picture 2">
              <a:extLst>
                <a:ext uri="{FF2B5EF4-FFF2-40B4-BE49-F238E27FC236}">
                  <a16:creationId xmlns:a16="http://schemas.microsoft.com/office/drawing/2014/main" id="{74DC4152-7A08-49FD-95A4-9E203B12B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649" y="262890"/>
              <a:ext cx="9238046" cy="3567430"/>
            </a:xfrm>
            <a:prstGeom prst="rect">
              <a:avLst/>
            </a:prstGeom>
          </p:spPr>
          <p:style>
            <a:lnRef idx="0">
              <a:schemeClr val="accent2"/>
            </a:lnRef>
            <a:fillRef idx="3">
              <a:schemeClr val="accent2"/>
            </a:fillRef>
            <a:effectRef idx="3">
              <a:schemeClr val="accent2"/>
            </a:effectRef>
            <a:fontRef idx="minor">
              <a:schemeClr val="lt1"/>
            </a:fontRef>
          </p:style>
        </p:pic>
        <p:sp>
          <p:nvSpPr>
            <p:cNvPr id="4" name="TextBox 3">
              <a:extLst>
                <a:ext uri="{FF2B5EF4-FFF2-40B4-BE49-F238E27FC236}">
                  <a16:creationId xmlns:a16="http://schemas.microsoft.com/office/drawing/2014/main" id="{31465D44-6B92-4C63-B7E6-E6C1C3DD1C0F}"/>
                </a:ext>
              </a:extLst>
            </p:cNvPr>
            <p:cNvSpPr txBox="1"/>
            <p:nvPr/>
          </p:nvSpPr>
          <p:spPr>
            <a:xfrm>
              <a:off x="919764" y="4000976"/>
              <a:ext cx="8679815"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From the above graph, we can observe that clients who chose 'Cashless from the account of employer' who has previously unused loan offer appears to be the defaulter on higher side. Less defaulters is seen with clients who chose 'Non-cash payment from account'.</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7963172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C273D6-E9C7-4DF7-913F-66C5F45607E1}"/>
              </a:ext>
            </a:extLst>
          </p:cNvPr>
          <p:cNvSpPr txBox="1"/>
          <p:nvPr/>
        </p:nvSpPr>
        <p:spPr>
          <a:xfrm>
            <a:off x="0" y="16093"/>
            <a:ext cx="12192000" cy="67403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Insights from analysis are: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Prefer Female having normal and above type of income range, as there is less percentage of difficulties observed in loan payment.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Senior citizens and Middle aged adults are having lesser difficulty than young adults and adults in loan payments.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Married applicant with lesser family members are on the lower side of being defaulter, though their loan amounts are higher than others. Applicant who are Single and those who lives with their parents have higher chance of being defaulter.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Prefer applicant with Higher and above education type as applicant with ‘Secondary’ or incomplete higher’ find it difficult with loan payments. Also, majority of loans are given to </a:t>
            </a:r>
            <a:r>
              <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'Secondary' / 'Higher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anose="02020603050405020304" pitchFamily="18" charset="0"/>
              </a:rPr>
              <a:t>There are no defaulter Male applicant with academic degree education. However, less number of loans provided to them. Prefer applicant with academic degree education but at less loan credit.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anose="02020603050405020304" pitchFamily="18" charset="0"/>
              </a:rPr>
              <a:t>Increase loan credits to applicants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'Students', 'Pensioner', Businessman' and females during maternity leave.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anose="02020603050405020304" pitchFamily="18" charset="0"/>
              </a:rPr>
              <a:t>Working applicant get majority of loan, hence forth, more defaulters are seen here. So, lessen the loan credit amount or provide with lesser interest rates.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anose="02020603050405020304" pitchFamily="18" charset="0"/>
              </a:rPr>
              <a:t>Applicants working as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'Laborers', 'Sales staff', 'Drivers’ are on higher side of being defaulter. As mentioned above, prefer them over less loan credit.</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anose="02020603050405020304" pitchFamily="18" charset="0"/>
              </a:rPr>
              <a:t>Majority of defaulters are seen for applicants with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Cash loans. So, prefer digital method of payment. Avoid 'Cashless from the account of employer’, prefer 'Non-cash payment from account’ type of loan.</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Applicant who previously refused/cancelled loan find it difficulty with loan payments.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Majority of loans is taken for 'Repair' purpose and defaulters rate is also for the same. However, loans credited for 'Buying garage' has less defaulters.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50% of applicants have rejected the loan due to HC and 18% due to limit:</a:t>
            </a:r>
          </a:p>
          <a:p>
            <a:pPr marL="12573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Most of loans are rejected for repair purpose than approved.</a:t>
            </a:r>
          </a:p>
          <a:p>
            <a:pPr marL="12573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No unused offer 'Buying house/home', Urgent needs', 'weddings', 'Car repair' purposes.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856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428</TotalTime>
  <Words>3679</Words>
  <Application>Microsoft Office PowerPoint</Application>
  <PresentationFormat>Widescreen</PresentationFormat>
  <Paragraphs>228</Paragraphs>
  <Slides>61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Calibri</vt:lpstr>
      <vt:lpstr>Calibri Light</vt:lpstr>
      <vt:lpstr>Helvetica Neue</vt:lpstr>
      <vt:lpstr>inherit</vt:lpstr>
      <vt:lpstr>Office Theme</vt:lpstr>
      <vt:lpstr>Credit EDA Assignment</vt:lpstr>
      <vt:lpstr>Problem Statement:</vt:lpstr>
      <vt:lpstr>Objective:</vt:lpstr>
      <vt:lpstr>PowerPoint Presentation</vt:lpstr>
      <vt:lpstr>PowerPoint Presentation</vt:lpstr>
      <vt:lpstr>PowerPoint Presentation</vt:lpstr>
      <vt:lpstr>PowerPoint Presentation</vt:lpstr>
      <vt:lpstr>Identify Numerical columns and check for outliers in it.</vt:lpstr>
      <vt:lpstr>PowerPoint Presentation</vt:lpstr>
      <vt:lpstr>PowerPoint Presentation</vt:lpstr>
      <vt:lpstr>Binning of Continuous variables</vt:lpstr>
      <vt:lpstr>Imbalance Percentage between 1(Defaulter) and 0 (Non-Defaulter), in Target variable:</vt:lpstr>
      <vt:lpstr>Univariant analysis for different categorial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EDA Assignment</dc:title>
  <dc:creator>Deeksha shree</dc:creator>
  <cp:lastModifiedBy>Deeksha shree</cp:lastModifiedBy>
  <cp:revision>5</cp:revision>
  <dcterms:created xsi:type="dcterms:W3CDTF">2022-03-07T21:03:11Z</dcterms:created>
  <dcterms:modified xsi:type="dcterms:W3CDTF">2024-07-28T17:04:54Z</dcterms:modified>
</cp:coreProperties>
</file>